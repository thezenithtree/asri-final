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347" r:id="rId6"/>
    <p:sldId id="349" r:id="rId7"/>
    <p:sldId id="348" r:id="rId8"/>
    <p:sldId id="350" r:id="rId9"/>
    <p:sldId id="351" r:id="rId10"/>
    <p:sldId id="352" r:id="rId11"/>
    <p:sldId id="264" r:id="rId12"/>
    <p:sldId id="354" r:id="rId13"/>
    <p:sldId id="355" r:id="rId14"/>
    <p:sldId id="265" r:id="rId15"/>
    <p:sldId id="356" r:id="rId16"/>
    <p:sldId id="357" r:id="rId17"/>
    <p:sldId id="358" r:id="rId18"/>
    <p:sldId id="359" r:id="rId19"/>
    <p:sldId id="360" r:id="rId20"/>
    <p:sldId id="266" r:id="rId21"/>
    <p:sldId id="353" r:id="rId22"/>
    <p:sldId id="361" r:id="rId23"/>
    <p:sldId id="362" r:id="rId24"/>
    <p:sldId id="363" r:id="rId25"/>
    <p:sldId id="365" r:id="rId26"/>
    <p:sldId id="364" r:id="rId27"/>
    <p:sldId id="366" r:id="rId28"/>
    <p:sldId id="317" r:id="rId29"/>
  </p:sldIdLst>
  <p:sldSz cx="9144000" cy="5143500" type="screen16x9"/>
  <p:notesSz cx="6858000" cy="9144000"/>
  <p:embeddedFontLst>
    <p:embeddedFont>
      <p:font typeface="Gothic A1" pitchFamily="2" charset="-127"/>
      <p:regular r:id="rId31"/>
      <p:bold r:id="rId32"/>
    </p:embeddedFont>
    <p:embeddedFont>
      <p:font typeface="Poppins ExtraBold" panose="00000900000000000000" pitchFamily="2" charset="0"/>
      <p:bold r:id="rId33"/>
      <p:boldItalic r:id="rId34"/>
    </p:embeddedFont>
    <p:embeddedFont>
      <p:font typeface="Roboto Condensed Light" panose="02000000000000000000" pitchFamily="2" charset="0"/>
      <p:regular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E0"/>
    <a:srgbClr val="EC1E1E"/>
    <a:srgbClr val="EE841A"/>
    <a:srgbClr val="FFD966"/>
    <a:srgbClr val="A32CBB"/>
    <a:srgbClr val="13A35F"/>
    <a:srgbClr val="000000"/>
    <a:srgbClr val="13B4C6"/>
    <a:srgbClr val="981A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552645-DD32-419F-A8D9-C377EE76D7F8}">
  <a:tblStyle styleId="{4F552645-DD32-419F-A8D9-C377EE76D7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21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ce2c10d70e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ce2c10d70e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ceb6577879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ceb6577879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e3fa819e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e3fa819e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Need to work on animations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e3fa819e0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e3fa819e0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e3fa819e0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e3fa819e0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48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Google Shape;3572;gda5c5876b8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3" name="Google Shape;3573;gda5c5876b8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49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e3fa819e0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e3fa819e0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347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e3fa819e0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1e3fa819e0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9717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da5c5876b8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da5c5876b8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6288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da5c5876b8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da5c5876b8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95434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da5c5876b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da5c5876b8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a5c5876b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a5c5876b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283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ce809dfe63_0_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ce809dfe63_0_8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11272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da5c5876b8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da5c5876b8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a5c5876b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a5c5876b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941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a5c5876b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a5c5876b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218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a5c5876b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a5c5876b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8509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gda5c5876b8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5" name="Google Shape;2775;gda5c5876b8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5763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da5c5876b8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da5c5876b8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9033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da5c5876b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da5c5876b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gce809dfe63_0_1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5" name="Google Shape;2575;gce809dfe63_0_1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75797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a5c5876b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a5c5876b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9246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a5c5876b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a5c5876b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9148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a5c5876b8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a5c5876b8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8513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" name="Google Shape;6502;gdb87052117_0_6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3" name="Google Shape;6503;gdb87052117_0_6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8780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ceb6577879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ceb6577879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33201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ceb6577879_0_31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ceb6577879_0_31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12893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" name="Google Shape;3747;gceb6577879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8" name="Google Shape;3748;gceb6577879_0_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12075" y="768600"/>
            <a:ext cx="4211700" cy="32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12050" y="4139925"/>
            <a:ext cx="4171800" cy="29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Gothic A1"/>
                <a:ea typeface="Gothic A1"/>
                <a:cs typeface="Gothic A1"/>
                <a:sym typeface="Gothic A1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9825" y="-186022"/>
            <a:ext cx="3736225" cy="5559000"/>
            <a:chOff x="89825" y="-186022"/>
            <a:chExt cx="3736225" cy="5559000"/>
          </a:xfrm>
        </p:grpSpPr>
        <p:sp>
          <p:nvSpPr>
            <p:cNvPr id="12" name="Google Shape;12;p2"/>
            <p:cNvSpPr/>
            <p:nvPr/>
          </p:nvSpPr>
          <p:spPr>
            <a:xfrm rot="274079" flipH="1">
              <a:off x="1949503" y="-165485"/>
              <a:ext cx="576331" cy="55179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274079" flipH="1">
              <a:off x="763722" y="-165485"/>
              <a:ext cx="576331" cy="55179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9825" y="219700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274079" flipH="1">
              <a:off x="3135285" y="-165485"/>
              <a:ext cx="576331" cy="55179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322675" y="2685200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274079">
              <a:off x="2575823" y="-165485"/>
              <a:ext cx="576331" cy="55179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274079">
              <a:off x="1390041" y="-165485"/>
              <a:ext cx="576331" cy="55179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274079">
              <a:off x="204260" y="-165485"/>
              <a:ext cx="576331" cy="55179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2883775" y="2781800"/>
            <a:ext cx="3376500" cy="703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2883725" y="1025650"/>
            <a:ext cx="3376500" cy="15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3132950" y="3650750"/>
            <a:ext cx="28815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-685800" y="-186025"/>
            <a:ext cx="3477750" cy="5559000"/>
            <a:chOff x="-595975" y="-186025"/>
            <a:chExt cx="3477750" cy="5559000"/>
          </a:xfrm>
        </p:grpSpPr>
        <p:sp>
          <p:nvSpPr>
            <p:cNvPr id="25" name="Google Shape;25;p3"/>
            <p:cNvSpPr/>
            <p:nvPr/>
          </p:nvSpPr>
          <p:spPr>
            <a:xfrm rot="395212" flipH="1">
              <a:off x="1375587" y="-164230"/>
              <a:ext cx="400141" cy="55154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395212" flipH="1">
              <a:off x="555270" y="-164230"/>
              <a:ext cx="400141" cy="551541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-595975" y="219700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395212" flipH="1">
              <a:off x="2195904" y="-164230"/>
              <a:ext cx="400141" cy="55154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636875" y="2685200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395212">
              <a:off x="1808939" y="-164230"/>
              <a:ext cx="400141" cy="551541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-395212">
              <a:off x="988621" y="-164230"/>
              <a:ext cx="400141" cy="55154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395212">
              <a:off x="168304" y="-164230"/>
              <a:ext cx="400141" cy="551541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33;p3"/>
          <p:cNvGrpSpPr/>
          <p:nvPr/>
        </p:nvGrpSpPr>
        <p:grpSpPr>
          <a:xfrm flipH="1">
            <a:off x="6365350" y="-186025"/>
            <a:ext cx="3477750" cy="5559000"/>
            <a:chOff x="-595975" y="-186025"/>
            <a:chExt cx="3477750" cy="5559000"/>
          </a:xfrm>
        </p:grpSpPr>
        <p:sp>
          <p:nvSpPr>
            <p:cNvPr id="34" name="Google Shape;34;p3"/>
            <p:cNvSpPr/>
            <p:nvPr/>
          </p:nvSpPr>
          <p:spPr>
            <a:xfrm rot="395212" flipH="1">
              <a:off x="1375587" y="-164230"/>
              <a:ext cx="400141" cy="55154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395212" flipH="1">
              <a:off x="555270" y="-164230"/>
              <a:ext cx="400141" cy="551541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-595975" y="219700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395212" flipH="1">
              <a:off x="2195904" y="-164230"/>
              <a:ext cx="400141" cy="55154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636875" y="2685200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395212">
              <a:off x="1808939" y="-164230"/>
              <a:ext cx="400141" cy="551541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rot="-395212">
              <a:off x="988621" y="-164230"/>
              <a:ext cx="400141" cy="55154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rot="-395212">
              <a:off x="168304" y="-164230"/>
              <a:ext cx="400141" cy="551541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-7" y="328925"/>
            <a:ext cx="9144004" cy="804900"/>
            <a:chOff x="-7" y="328925"/>
            <a:chExt cx="9144004" cy="804900"/>
          </a:xfrm>
        </p:grpSpPr>
        <p:sp>
          <p:nvSpPr>
            <p:cNvPr id="44" name="Google Shape;44;p4"/>
            <p:cNvSpPr/>
            <p:nvPr/>
          </p:nvSpPr>
          <p:spPr>
            <a:xfrm>
              <a:off x="-7" y="328925"/>
              <a:ext cx="78768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8130206" y="328925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8383724" y="328925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8637092" y="328925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8890498" y="328925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7876850" y="328925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720000" y="1279175"/>
            <a:ext cx="7704000" cy="328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5"/>
          <p:cNvGrpSpPr/>
          <p:nvPr/>
        </p:nvGrpSpPr>
        <p:grpSpPr>
          <a:xfrm>
            <a:off x="-7" y="328925"/>
            <a:ext cx="9144004" cy="804900"/>
            <a:chOff x="-7" y="328925"/>
            <a:chExt cx="9144004" cy="804900"/>
          </a:xfrm>
        </p:grpSpPr>
        <p:sp>
          <p:nvSpPr>
            <p:cNvPr id="54" name="Google Shape;54;p5"/>
            <p:cNvSpPr/>
            <p:nvPr/>
          </p:nvSpPr>
          <p:spPr>
            <a:xfrm>
              <a:off x="-7" y="328925"/>
              <a:ext cx="78768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8130206" y="328925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8383724" y="328925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8637092" y="328925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8890498" y="328925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7876850" y="328925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1"/>
          </p:nvPr>
        </p:nvSpPr>
        <p:spPr>
          <a:xfrm>
            <a:off x="1599638" y="3744100"/>
            <a:ext cx="23910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2"/>
          </p:nvPr>
        </p:nvSpPr>
        <p:spPr>
          <a:xfrm>
            <a:off x="1599638" y="3166950"/>
            <a:ext cx="2391000" cy="4371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3"/>
          </p:nvPr>
        </p:nvSpPr>
        <p:spPr>
          <a:xfrm>
            <a:off x="5153363" y="3744100"/>
            <a:ext cx="23910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4"/>
          </p:nvPr>
        </p:nvSpPr>
        <p:spPr>
          <a:xfrm>
            <a:off x="5153363" y="3166950"/>
            <a:ext cx="2391000" cy="437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6"/>
          <p:cNvGrpSpPr/>
          <p:nvPr/>
        </p:nvGrpSpPr>
        <p:grpSpPr>
          <a:xfrm>
            <a:off x="-7" y="328925"/>
            <a:ext cx="9144004" cy="804900"/>
            <a:chOff x="-7" y="328925"/>
            <a:chExt cx="9144004" cy="804900"/>
          </a:xfrm>
        </p:grpSpPr>
        <p:sp>
          <p:nvSpPr>
            <p:cNvPr id="67" name="Google Shape;67;p6"/>
            <p:cNvSpPr/>
            <p:nvPr/>
          </p:nvSpPr>
          <p:spPr>
            <a:xfrm>
              <a:off x="-7" y="328925"/>
              <a:ext cx="78768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8130206" y="328925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8383724" y="328925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8637092" y="328925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8890498" y="328925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7876850" y="328925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CUSTOM_5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5"/>
          <p:cNvGrpSpPr/>
          <p:nvPr/>
        </p:nvGrpSpPr>
        <p:grpSpPr>
          <a:xfrm>
            <a:off x="-7" y="328925"/>
            <a:ext cx="9144004" cy="804900"/>
            <a:chOff x="-7" y="328925"/>
            <a:chExt cx="9144004" cy="804900"/>
          </a:xfrm>
        </p:grpSpPr>
        <p:sp>
          <p:nvSpPr>
            <p:cNvPr id="176" name="Google Shape;176;p15"/>
            <p:cNvSpPr/>
            <p:nvPr/>
          </p:nvSpPr>
          <p:spPr>
            <a:xfrm>
              <a:off x="-7" y="328925"/>
              <a:ext cx="78768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8130206" y="328925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8383724" y="328925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8637092" y="328925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8890498" y="328925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7876850" y="328925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5"/>
          <p:cNvSpPr txBox="1">
            <a:spLocks noGrp="1"/>
          </p:cNvSpPr>
          <p:nvPr>
            <p:ph type="title" idx="2" hasCustomPrompt="1"/>
          </p:nvPr>
        </p:nvSpPr>
        <p:spPr>
          <a:xfrm>
            <a:off x="506250" y="1816725"/>
            <a:ext cx="13971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84" name="Google Shape;184;p15"/>
          <p:cNvSpPr txBox="1">
            <a:spLocks noGrp="1"/>
          </p:cNvSpPr>
          <p:nvPr>
            <p:ph type="subTitle" idx="1"/>
          </p:nvPr>
        </p:nvSpPr>
        <p:spPr>
          <a:xfrm>
            <a:off x="720000" y="2830175"/>
            <a:ext cx="2382900" cy="3876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85" name="Google Shape;185;p15"/>
          <p:cNvSpPr txBox="1">
            <a:spLocks noGrp="1"/>
          </p:cNvSpPr>
          <p:nvPr>
            <p:ph type="subTitle" idx="3"/>
          </p:nvPr>
        </p:nvSpPr>
        <p:spPr>
          <a:xfrm>
            <a:off x="720000" y="3199225"/>
            <a:ext cx="23829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5"/>
          <p:cNvSpPr txBox="1">
            <a:spLocks noGrp="1"/>
          </p:cNvSpPr>
          <p:nvPr>
            <p:ph type="title" idx="4" hasCustomPrompt="1"/>
          </p:nvPr>
        </p:nvSpPr>
        <p:spPr>
          <a:xfrm>
            <a:off x="3166800" y="1816725"/>
            <a:ext cx="13971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87" name="Google Shape;187;p15"/>
          <p:cNvSpPr txBox="1">
            <a:spLocks noGrp="1"/>
          </p:cNvSpPr>
          <p:nvPr>
            <p:ph type="subTitle" idx="5"/>
          </p:nvPr>
        </p:nvSpPr>
        <p:spPr>
          <a:xfrm>
            <a:off x="3380550" y="2830175"/>
            <a:ext cx="2382900" cy="38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88" name="Google Shape;188;p15"/>
          <p:cNvSpPr txBox="1">
            <a:spLocks noGrp="1"/>
          </p:cNvSpPr>
          <p:nvPr>
            <p:ph type="subTitle" idx="6"/>
          </p:nvPr>
        </p:nvSpPr>
        <p:spPr>
          <a:xfrm>
            <a:off x="3380550" y="3199225"/>
            <a:ext cx="23829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5"/>
          <p:cNvSpPr txBox="1">
            <a:spLocks noGrp="1"/>
          </p:cNvSpPr>
          <p:nvPr>
            <p:ph type="title" idx="7" hasCustomPrompt="1"/>
          </p:nvPr>
        </p:nvSpPr>
        <p:spPr>
          <a:xfrm>
            <a:off x="5827350" y="1816725"/>
            <a:ext cx="13971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90" name="Google Shape;190;p15"/>
          <p:cNvSpPr txBox="1">
            <a:spLocks noGrp="1"/>
          </p:cNvSpPr>
          <p:nvPr>
            <p:ph type="subTitle" idx="8"/>
          </p:nvPr>
        </p:nvSpPr>
        <p:spPr>
          <a:xfrm>
            <a:off x="6041100" y="2830175"/>
            <a:ext cx="2382900" cy="38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191" name="Google Shape;191;p15"/>
          <p:cNvSpPr txBox="1">
            <a:spLocks noGrp="1"/>
          </p:cNvSpPr>
          <p:nvPr>
            <p:ph type="subTitle" idx="9"/>
          </p:nvPr>
        </p:nvSpPr>
        <p:spPr>
          <a:xfrm>
            <a:off x="6041100" y="3199225"/>
            <a:ext cx="23829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3">
  <p:cSld name="CUSTOM_6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6"/>
          <p:cNvGrpSpPr/>
          <p:nvPr/>
        </p:nvGrpSpPr>
        <p:grpSpPr>
          <a:xfrm>
            <a:off x="-7" y="328925"/>
            <a:ext cx="9144004" cy="804900"/>
            <a:chOff x="-7" y="328925"/>
            <a:chExt cx="9144004" cy="804900"/>
          </a:xfrm>
        </p:grpSpPr>
        <p:sp>
          <p:nvSpPr>
            <p:cNvPr id="194" name="Google Shape;194;p16"/>
            <p:cNvSpPr/>
            <p:nvPr/>
          </p:nvSpPr>
          <p:spPr>
            <a:xfrm>
              <a:off x="-7" y="328925"/>
              <a:ext cx="78768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8130206" y="328925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8383724" y="328925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8637092" y="328925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8890498" y="328925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7876850" y="328925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6"/>
          <p:cNvSpPr txBox="1">
            <a:spLocks noGrp="1"/>
          </p:cNvSpPr>
          <p:nvPr>
            <p:ph type="title" idx="2" hasCustomPrompt="1"/>
          </p:nvPr>
        </p:nvSpPr>
        <p:spPr>
          <a:xfrm>
            <a:off x="506250" y="1303900"/>
            <a:ext cx="13971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2" name="Google Shape;202;p16"/>
          <p:cNvSpPr txBox="1">
            <a:spLocks noGrp="1"/>
          </p:cNvSpPr>
          <p:nvPr>
            <p:ph type="subTitle" idx="1"/>
          </p:nvPr>
        </p:nvSpPr>
        <p:spPr>
          <a:xfrm>
            <a:off x="1734625" y="1633450"/>
            <a:ext cx="1938000" cy="38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03" name="Google Shape;203;p16"/>
          <p:cNvSpPr txBox="1">
            <a:spLocks noGrp="1"/>
          </p:cNvSpPr>
          <p:nvPr>
            <p:ph type="subTitle" idx="3"/>
          </p:nvPr>
        </p:nvSpPr>
        <p:spPr>
          <a:xfrm>
            <a:off x="1734625" y="2115400"/>
            <a:ext cx="2649300" cy="3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6"/>
          <p:cNvSpPr txBox="1">
            <a:spLocks noGrp="1"/>
          </p:cNvSpPr>
          <p:nvPr>
            <p:ph type="title" idx="4" hasCustomPrompt="1"/>
          </p:nvPr>
        </p:nvSpPr>
        <p:spPr>
          <a:xfrm>
            <a:off x="7236575" y="1868650"/>
            <a:ext cx="13971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5" name="Google Shape;205;p16"/>
          <p:cNvSpPr txBox="1">
            <a:spLocks noGrp="1"/>
          </p:cNvSpPr>
          <p:nvPr>
            <p:ph type="subTitle" idx="5"/>
          </p:nvPr>
        </p:nvSpPr>
        <p:spPr>
          <a:xfrm>
            <a:off x="5447650" y="2198200"/>
            <a:ext cx="1938000" cy="38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06" name="Google Shape;206;p16"/>
          <p:cNvSpPr txBox="1">
            <a:spLocks noGrp="1"/>
          </p:cNvSpPr>
          <p:nvPr>
            <p:ph type="subTitle" idx="6"/>
          </p:nvPr>
        </p:nvSpPr>
        <p:spPr>
          <a:xfrm>
            <a:off x="4736350" y="2676225"/>
            <a:ext cx="2649300" cy="3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6"/>
          <p:cNvSpPr txBox="1">
            <a:spLocks noGrp="1"/>
          </p:cNvSpPr>
          <p:nvPr>
            <p:ph type="title" idx="7" hasCustomPrompt="1"/>
          </p:nvPr>
        </p:nvSpPr>
        <p:spPr>
          <a:xfrm>
            <a:off x="506250" y="2672300"/>
            <a:ext cx="13971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8" name="Google Shape;208;p16"/>
          <p:cNvSpPr txBox="1">
            <a:spLocks noGrp="1"/>
          </p:cNvSpPr>
          <p:nvPr>
            <p:ph type="subTitle" idx="8"/>
          </p:nvPr>
        </p:nvSpPr>
        <p:spPr>
          <a:xfrm>
            <a:off x="1734625" y="3001850"/>
            <a:ext cx="1938000" cy="38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subTitle" idx="9"/>
          </p:nvPr>
        </p:nvSpPr>
        <p:spPr>
          <a:xfrm>
            <a:off x="1734625" y="3479875"/>
            <a:ext cx="2649300" cy="3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title" idx="13" hasCustomPrompt="1"/>
          </p:nvPr>
        </p:nvSpPr>
        <p:spPr>
          <a:xfrm>
            <a:off x="7236575" y="3247350"/>
            <a:ext cx="13971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11" name="Google Shape;211;p16"/>
          <p:cNvSpPr txBox="1">
            <a:spLocks noGrp="1"/>
          </p:cNvSpPr>
          <p:nvPr>
            <p:ph type="subTitle" idx="14"/>
          </p:nvPr>
        </p:nvSpPr>
        <p:spPr>
          <a:xfrm>
            <a:off x="5447650" y="3576900"/>
            <a:ext cx="1938000" cy="3876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15"/>
          </p:nvPr>
        </p:nvSpPr>
        <p:spPr>
          <a:xfrm>
            <a:off x="4736350" y="4040700"/>
            <a:ext cx="2649300" cy="3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>
            <a:spLocks noGrp="1"/>
          </p:cNvSpPr>
          <p:nvPr>
            <p:ph type="title"/>
          </p:nvPr>
        </p:nvSpPr>
        <p:spPr>
          <a:xfrm>
            <a:off x="3890625" y="2781800"/>
            <a:ext cx="3699300" cy="703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title" idx="2" hasCustomPrompt="1"/>
          </p:nvPr>
        </p:nvSpPr>
        <p:spPr>
          <a:xfrm>
            <a:off x="3890625" y="1025650"/>
            <a:ext cx="3699300" cy="15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6" name="Google Shape;216;p17"/>
          <p:cNvSpPr txBox="1">
            <a:spLocks noGrp="1"/>
          </p:cNvSpPr>
          <p:nvPr>
            <p:ph type="subTitle" idx="1"/>
          </p:nvPr>
        </p:nvSpPr>
        <p:spPr>
          <a:xfrm>
            <a:off x="3890625" y="3650750"/>
            <a:ext cx="31569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17"/>
          <p:cNvGrpSpPr/>
          <p:nvPr/>
        </p:nvGrpSpPr>
        <p:grpSpPr>
          <a:xfrm>
            <a:off x="-685800" y="-186025"/>
            <a:ext cx="3477750" cy="5559000"/>
            <a:chOff x="-595975" y="-186025"/>
            <a:chExt cx="3477750" cy="5559000"/>
          </a:xfrm>
        </p:grpSpPr>
        <p:sp>
          <p:nvSpPr>
            <p:cNvPr id="218" name="Google Shape;218;p17"/>
            <p:cNvSpPr/>
            <p:nvPr/>
          </p:nvSpPr>
          <p:spPr>
            <a:xfrm rot="395212" flipH="1">
              <a:off x="1375587" y="-164230"/>
              <a:ext cx="400141" cy="55154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 rot="395212" flipH="1">
              <a:off x="555270" y="-164230"/>
              <a:ext cx="400141" cy="551541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-595975" y="219700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 rot="395212" flipH="1">
              <a:off x="2195904" y="-164230"/>
              <a:ext cx="400141" cy="55154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636875" y="2685200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7"/>
            <p:cNvSpPr/>
            <p:nvPr/>
          </p:nvSpPr>
          <p:spPr>
            <a:xfrm rot="-395212">
              <a:off x="1808939" y="-164230"/>
              <a:ext cx="400141" cy="551541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 rot="-395212">
              <a:off x="988621" y="-164230"/>
              <a:ext cx="400141" cy="55154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 rot="-395212">
              <a:off x="168304" y="-164230"/>
              <a:ext cx="400141" cy="551541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_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18"/>
          <p:cNvGrpSpPr/>
          <p:nvPr/>
        </p:nvGrpSpPr>
        <p:grpSpPr>
          <a:xfrm flipH="1">
            <a:off x="6365350" y="-186025"/>
            <a:ext cx="3477750" cy="5559000"/>
            <a:chOff x="-595975" y="-186025"/>
            <a:chExt cx="3477750" cy="5559000"/>
          </a:xfrm>
        </p:grpSpPr>
        <p:sp>
          <p:nvSpPr>
            <p:cNvPr id="228" name="Google Shape;228;p18"/>
            <p:cNvSpPr/>
            <p:nvPr/>
          </p:nvSpPr>
          <p:spPr>
            <a:xfrm rot="395212" flipH="1">
              <a:off x="1375587" y="-164230"/>
              <a:ext cx="400141" cy="55154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 rot="395212" flipH="1">
              <a:off x="555270" y="-164230"/>
              <a:ext cx="400141" cy="551541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-595975" y="219700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 rot="395212" flipH="1">
              <a:off x="2195904" y="-164230"/>
              <a:ext cx="400141" cy="55154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636875" y="2685200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 rot="-395212">
              <a:off x="1808939" y="-164230"/>
              <a:ext cx="400141" cy="551541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 rot="-395212">
              <a:off x="988621" y="-164230"/>
              <a:ext cx="400141" cy="55154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 rot="-395212">
              <a:off x="168304" y="-164230"/>
              <a:ext cx="400141" cy="551541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18"/>
          <p:cNvSpPr txBox="1">
            <a:spLocks noGrp="1"/>
          </p:cNvSpPr>
          <p:nvPr>
            <p:ph type="title"/>
          </p:nvPr>
        </p:nvSpPr>
        <p:spPr>
          <a:xfrm>
            <a:off x="1661325" y="2781800"/>
            <a:ext cx="3699300" cy="703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 idx="2" hasCustomPrompt="1"/>
          </p:nvPr>
        </p:nvSpPr>
        <p:spPr>
          <a:xfrm>
            <a:off x="1661325" y="1025650"/>
            <a:ext cx="3699300" cy="15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8" name="Google Shape;238;p18"/>
          <p:cNvSpPr txBox="1">
            <a:spLocks noGrp="1"/>
          </p:cNvSpPr>
          <p:nvPr>
            <p:ph type="subTitle" idx="1"/>
          </p:nvPr>
        </p:nvSpPr>
        <p:spPr>
          <a:xfrm>
            <a:off x="2203725" y="3650750"/>
            <a:ext cx="31569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2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5047500" y="2781800"/>
            <a:ext cx="3376500" cy="7035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1" name="Google Shape;241;p19"/>
          <p:cNvSpPr txBox="1">
            <a:spLocks noGrp="1"/>
          </p:cNvSpPr>
          <p:nvPr>
            <p:ph type="title" idx="2" hasCustomPrompt="1"/>
          </p:nvPr>
        </p:nvSpPr>
        <p:spPr>
          <a:xfrm>
            <a:off x="5047450" y="1025650"/>
            <a:ext cx="3376500" cy="15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2" name="Google Shape;242;p19"/>
          <p:cNvSpPr txBox="1">
            <a:spLocks noGrp="1"/>
          </p:cNvSpPr>
          <p:nvPr>
            <p:ph type="subTitle" idx="1"/>
          </p:nvPr>
        </p:nvSpPr>
        <p:spPr>
          <a:xfrm>
            <a:off x="5542450" y="3650750"/>
            <a:ext cx="28815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43" name="Google Shape;243;p19"/>
          <p:cNvGrpSpPr/>
          <p:nvPr/>
        </p:nvGrpSpPr>
        <p:grpSpPr>
          <a:xfrm rot="2553372">
            <a:off x="-298717" y="-2635664"/>
            <a:ext cx="3881842" cy="9166991"/>
            <a:chOff x="36225" y="-2386695"/>
            <a:chExt cx="3881917" cy="9167169"/>
          </a:xfrm>
        </p:grpSpPr>
        <p:sp>
          <p:nvSpPr>
            <p:cNvPr id="244" name="Google Shape;244;p19"/>
            <p:cNvSpPr/>
            <p:nvPr/>
          </p:nvSpPr>
          <p:spPr>
            <a:xfrm rot="274079" flipH="1">
              <a:off x="1949480" y="-1305848"/>
              <a:ext cx="576331" cy="7798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 rot="274079" flipH="1">
              <a:off x="763765" y="-277642"/>
              <a:ext cx="576331" cy="57422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36225" y="156571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 rot="274079" flipH="1">
              <a:off x="3169177" y="-2367375"/>
              <a:ext cx="576331" cy="82998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1525085" y="2451199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 rot="-274079">
              <a:off x="2575869" y="-1574122"/>
              <a:ext cx="576331" cy="833529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 rot="-274079">
              <a:off x="1390077" y="-673917"/>
              <a:ext cx="576331" cy="6534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 rot="-274079">
              <a:off x="204260" y="-165485"/>
              <a:ext cx="576331" cy="55179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 txBox="1">
            <a:spLocks noGrp="1"/>
          </p:cNvSpPr>
          <p:nvPr>
            <p:ph type="subTitle" idx="1"/>
          </p:nvPr>
        </p:nvSpPr>
        <p:spPr>
          <a:xfrm>
            <a:off x="2556275" y="1001250"/>
            <a:ext cx="4025700" cy="25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2"/>
          </p:nvPr>
        </p:nvSpPr>
        <p:spPr>
          <a:xfrm>
            <a:off x="2284864" y="3633100"/>
            <a:ext cx="4580100" cy="5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267" name="Google Shape;267;p21"/>
          <p:cNvGrpSpPr/>
          <p:nvPr/>
        </p:nvGrpSpPr>
        <p:grpSpPr>
          <a:xfrm flipH="1">
            <a:off x="6517750" y="-186025"/>
            <a:ext cx="3477750" cy="5559000"/>
            <a:chOff x="-595975" y="-186025"/>
            <a:chExt cx="3477750" cy="5559000"/>
          </a:xfrm>
        </p:grpSpPr>
        <p:sp>
          <p:nvSpPr>
            <p:cNvPr id="268" name="Google Shape;268;p21"/>
            <p:cNvSpPr/>
            <p:nvPr/>
          </p:nvSpPr>
          <p:spPr>
            <a:xfrm rot="395212" flipH="1">
              <a:off x="1375587" y="-164230"/>
              <a:ext cx="400141" cy="55154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 rot="395212" flipH="1">
              <a:off x="555270" y="-164230"/>
              <a:ext cx="400141" cy="551541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-595975" y="219700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1"/>
            <p:cNvSpPr/>
            <p:nvPr/>
          </p:nvSpPr>
          <p:spPr>
            <a:xfrm rot="395212" flipH="1">
              <a:off x="2195904" y="-164230"/>
              <a:ext cx="400141" cy="55154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636875" y="2685200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 rot="-395212">
              <a:off x="1808939" y="-164230"/>
              <a:ext cx="400141" cy="551541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 rot="-395212">
              <a:off x="988621" y="-164230"/>
              <a:ext cx="400141" cy="55154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 rot="-395212">
              <a:off x="168304" y="-164230"/>
              <a:ext cx="400141" cy="551541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-881450" y="-186025"/>
            <a:ext cx="3477750" cy="5559000"/>
            <a:chOff x="-595975" y="-186025"/>
            <a:chExt cx="3477750" cy="5559000"/>
          </a:xfrm>
        </p:grpSpPr>
        <p:sp>
          <p:nvSpPr>
            <p:cNvPr id="277" name="Google Shape;277;p21"/>
            <p:cNvSpPr/>
            <p:nvPr/>
          </p:nvSpPr>
          <p:spPr>
            <a:xfrm rot="395212" flipH="1">
              <a:off x="1375587" y="-164230"/>
              <a:ext cx="400141" cy="55154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 rot="395212" flipH="1">
              <a:off x="555270" y="-164230"/>
              <a:ext cx="400141" cy="551541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-595975" y="219700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1"/>
            <p:cNvSpPr/>
            <p:nvPr/>
          </p:nvSpPr>
          <p:spPr>
            <a:xfrm rot="395212" flipH="1">
              <a:off x="2195904" y="-164230"/>
              <a:ext cx="400141" cy="55154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636875" y="2685200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1"/>
            <p:cNvSpPr/>
            <p:nvPr/>
          </p:nvSpPr>
          <p:spPr>
            <a:xfrm rot="-395212">
              <a:off x="1808939" y="-164230"/>
              <a:ext cx="400141" cy="551541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1"/>
            <p:cNvSpPr/>
            <p:nvPr/>
          </p:nvSpPr>
          <p:spPr>
            <a:xfrm rot="-395212">
              <a:off x="988621" y="-164230"/>
              <a:ext cx="400141" cy="55154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1"/>
            <p:cNvSpPr/>
            <p:nvPr/>
          </p:nvSpPr>
          <p:spPr>
            <a:xfrm rot="-395212">
              <a:off x="168304" y="-164230"/>
              <a:ext cx="400141" cy="551541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CUSTOM_1_2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"/>
          <p:cNvSpPr txBox="1">
            <a:spLocks noGrp="1"/>
          </p:cNvSpPr>
          <p:nvPr>
            <p:ph type="subTitle" idx="1"/>
          </p:nvPr>
        </p:nvSpPr>
        <p:spPr>
          <a:xfrm>
            <a:off x="4398800" y="1384425"/>
            <a:ext cx="3944400" cy="25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subTitle" idx="2"/>
          </p:nvPr>
        </p:nvSpPr>
        <p:spPr>
          <a:xfrm>
            <a:off x="4696095" y="4016275"/>
            <a:ext cx="3651600" cy="5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Font typeface="Poppins ExtraBold"/>
              <a:buNone/>
              <a:defRPr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288" name="Google Shape;288;p22"/>
          <p:cNvGrpSpPr/>
          <p:nvPr/>
        </p:nvGrpSpPr>
        <p:grpSpPr>
          <a:xfrm rot="2553318">
            <a:off x="-202408" y="-2293953"/>
            <a:ext cx="3532921" cy="8343012"/>
            <a:chOff x="36225" y="-2386695"/>
            <a:chExt cx="3881917" cy="9167169"/>
          </a:xfrm>
        </p:grpSpPr>
        <p:sp>
          <p:nvSpPr>
            <p:cNvPr id="289" name="Google Shape;289;p22"/>
            <p:cNvSpPr/>
            <p:nvPr/>
          </p:nvSpPr>
          <p:spPr>
            <a:xfrm rot="274079" flipH="1">
              <a:off x="1949480" y="-1305848"/>
              <a:ext cx="576331" cy="7798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 rot="274079" flipH="1">
              <a:off x="763765" y="-277642"/>
              <a:ext cx="576331" cy="57422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36225" y="156571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 rot="274079" flipH="1">
              <a:off x="3169177" y="-2367375"/>
              <a:ext cx="576331" cy="82998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1525085" y="2451199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 rot="-274079">
              <a:off x="2575869" y="-1574122"/>
              <a:ext cx="576331" cy="833529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 rot="-274079">
              <a:off x="1390077" y="-673917"/>
              <a:ext cx="576331" cy="6534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 rot="-274079">
              <a:off x="204260" y="-165485"/>
              <a:ext cx="576331" cy="55179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23"/>
          <p:cNvGrpSpPr/>
          <p:nvPr/>
        </p:nvGrpSpPr>
        <p:grpSpPr>
          <a:xfrm>
            <a:off x="-7" y="328925"/>
            <a:ext cx="9144004" cy="804900"/>
            <a:chOff x="-7" y="328925"/>
            <a:chExt cx="9144004" cy="804900"/>
          </a:xfrm>
        </p:grpSpPr>
        <p:sp>
          <p:nvSpPr>
            <p:cNvPr id="299" name="Google Shape;299;p23"/>
            <p:cNvSpPr/>
            <p:nvPr/>
          </p:nvSpPr>
          <p:spPr>
            <a:xfrm>
              <a:off x="-7" y="328925"/>
              <a:ext cx="78768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3"/>
            <p:cNvSpPr/>
            <p:nvPr/>
          </p:nvSpPr>
          <p:spPr>
            <a:xfrm>
              <a:off x="8130206" y="328925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3"/>
            <p:cNvSpPr/>
            <p:nvPr/>
          </p:nvSpPr>
          <p:spPr>
            <a:xfrm>
              <a:off x="8383724" y="328925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8637092" y="328925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8890498" y="328925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7876850" y="328925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5" name="Google Shape;30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3"/>
          <p:cNvSpPr txBox="1">
            <a:spLocks noGrp="1"/>
          </p:cNvSpPr>
          <p:nvPr>
            <p:ph type="subTitle" idx="1"/>
          </p:nvPr>
        </p:nvSpPr>
        <p:spPr>
          <a:xfrm>
            <a:off x="720000" y="3667900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3"/>
          <p:cNvSpPr txBox="1">
            <a:spLocks noGrp="1"/>
          </p:cNvSpPr>
          <p:nvPr>
            <p:ph type="subTitle" idx="2"/>
          </p:nvPr>
        </p:nvSpPr>
        <p:spPr>
          <a:xfrm>
            <a:off x="719988" y="3166950"/>
            <a:ext cx="2391000" cy="4371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308" name="Google Shape;308;p23"/>
          <p:cNvSpPr txBox="1">
            <a:spLocks noGrp="1"/>
          </p:cNvSpPr>
          <p:nvPr>
            <p:ph type="subTitle" idx="3"/>
          </p:nvPr>
        </p:nvSpPr>
        <p:spPr>
          <a:xfrm>
            <a:off x="3376500" y="3667900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23"/>
          <p:cNvSpPr txBox="1">
            <a:spLocks noGrp="1"/>
          </p:cNvSpPr>
          <p:nvPr>
            <p:ph type="subTitle" idx="4"/>
          </p:nvPr>
        </p:nvSpPr>
        <p:spPr>
          <a:xfrm>
            <a:off x="3376488" y="3166950"/>
            <a:ext cx="2391000" cy="437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310" name="Google Shape;310;p23"/>
          <p:cNvSpPr txBox="1">
            <a:spLocks noGrp="1"/>
          </p:cNvSpPr>
          <p:nvPr>
            <p:ph type="subTitle" idx="5"/>
          </p:nvPr>
        </p:nvSpPr>
        <p:spPr>
          <a:xfrm>
            <a:off x="6033000" y="3667900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3"/>
          <p:cNvSpPr txBox="1">
            <a:spLocks noGrp="1"/>
          </p:cNvSpPr>
          <p:nvPr>
            <p:ph type="subTitle" idx="6"/>
          </p:nvPr>
        </p:nvSpPr>
        <p:spPr>
          <a:xfrm>
            <a:off x="6032988" y="3166950"/>
            <a:ext cx="2391000" cy="4371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2">
  <p:cSld name="TITLE_AND_TWO_COLUMNS_1_1_2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442;p32"/>
          <p:cNvGrpSpPr/>
          <p:nvPr/>
        </p:nvGrpSpPr>
        <p:grpSpPr>
          <a:xfrm>
            <a:off x="-7" y="328925"/>
            <a:ext cx="9144004" cy="804900"/>
            <a:chOff x="-7" y="328925"/>
            <a:chExt cx="9144004" cy="804900"/>
          </a:xfrm>
        </p:grpSpPr>
        <p:sp>
          <p:nvSpPr>
            <p:cNvPr id="443" name="Google Shape;443;p32"/>
            <p:cNvSpPr/>
            <p:nvPr/>
          </p:nvSpPr>
          <p:spPr>
            <a:xfrm>
              <a:off x="-7" y="328925"/>
              <a:ext cx="78768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2"/>
            <p:cNvSpPr/>
            <p:nvPr/>
          </p:nvSpPr>
          <p:spPr>
            <a:xfrm>
              <a:off x="8130206" y="328925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2"/>
            <p:cNvSpPr/>
            <p:nvPr/>
          </p:nvSpPr>
          <p:spPr>
            <a:xfrm>
              <a:off x="8383724" y="328925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8637092" y="328925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8890498" y="328925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7876850" y="328925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32"/>
          <p:cNvSpPr txBox="1">
            <a:spLocks noGrp="1"/>
          </p:cNvSpPr>
          <p:nvPr>
            <p:ph type="subTitle" idx="1"/>
          </p:nvPr>
        </p:nvSpPr>
        <p:spPr>
          <a:xfrm>
            <a:off x="719994" y="3996175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32"/>
          <p:cNvSpPr txBox="1">
            <a:spLocks noGrp="1"/>
          </p:cNvSpPr>
          <p:nvPr>
            <p:ph type="subTitle" idx="2"/>
          </p:nvPr>
        </p:nvSpPr>
        <p:spPr>
          <a:xfrm>
            <a:off x="719994" y="3571425"/>
            <a:ext cx="2391000" cy="437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52" name="Google Shape;452;p32"/>
          <p:cNvSpPr txBox="1">
            <a:spLocks noGrp="1"/>
          </p:cNvSpPr>
          <p:nvPr>
            <p:ph type="subTitle" idx="3"/>
          </p:nvPr>
        </p:nvSpPr>
        <p:spPr>
          <a:xfrm>
            <a:off x="6032994" y="3996175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32"/>
          <p:cNvSpPr txBox="1">
            <a:spLocks noGrp="1"/>
          </p:cNvSpPr>
          <p:nvPr>
            <p:ph type="subTitle" idx="4"/>
          </p:nvPr>
        </p:nvSpPr>
        <p:spPr>
          <a:xfrm>
            <a:off x="6032994" y="3571425"/>
            <a:ext cx="2391000" cy="4371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54" name="Google Shape;454;p32"/>
          <p:cNvSpPr txBox="1">
            <a:spLocks noGrp="1"/>
          </p:cNvSpPr>
          <p:nvPr>
            <p:ph type="subTitle" idx="5"/>
          </p:nvPr>
        </p:nvSpPr>
        <p:spPr>
          <a:xfrm>
            <a:off x="719994" y="2250175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p32"/>
          <p:cNvSpPr txBox="1">
            <a:spLocks noGrp="1"/>
          </p:cNvSpPr>
          <p:nvPr>
            <p:ph type="subTitle" idx="6"/>
          </p:nvPr>
        </p:nvSpPr>
        <p:spPr>
          <a:xfrm>
            <a:off x="719994" y="1825425"/>
            <a:ext cx="2391000" cy="4371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56" name="Google Shape;456;p32"/>
          <p:cNvSpPr txBox="1">
            <a:spLocks noGrp="1"/>
          </p:cNvSpPr>
          <p:nvPr>
            <p:ph type="subTitle" idx="7"/>
          </p:nvPr>
        </p:nvSpPr>
        <p:spPr>
          <a:xfrm>
            <a:off x="3376494" y="2998725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32"/>
          <p:cNvSpPr txBox="1">
            <a:spLocks noGrp="1"/>
          </p:cNvSpPr>
          <p:nvPr>
            <p:ph type="subTitle" idx="8"/>
          </p:nvPr>
        </p:nvSpPr>
        <p:spPr>
          <a:xfrm>
            <a:off x="3376494" y="2573975"/>
            <a:ext cx="2391000" cy="437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58" name="Google Shape;458;p32"/>
          <p:cNvSpPr txBox="1">
            <a:spLocks noGrp="1"/>
          </p:cNvSpPr>
          <p:nvPr>
            <p:ph type="subTitle" idx="9"/>
          </p:nvPr>
        </p:nvSpPr>
        <p:spPr>
          <a:xfrm>
            <a:off x="6032994" y="2250175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32"/>
          <p:cNvSpPr txBox="1">
            <a:spLocks noGrp="1"/>
          </p:cNvSpPr>
          <p:nvPr>
            <p:ph type="subTitle" idx="13"/>
          </p:nvPr>
        </p:nvSpPr>
        <p:spPr>
          <a:xfrm>
            <a:off x="6032994" y="1825425"/>
            <a:ext cx="2391000" cy="437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2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38"/>
          <p:cNvGrpSpPr/>
          <p:nvPr/>
        </p:nvGrpSpPr>
        <p:grpSpPr>
          <a:xfrm>
            <a:off x="-7" y="328925"/>
            <a:ext cx="9144004" cy="804900"/>
            <a:chOff x="-7" y="328925"/>
            <a:chExt cx="9144004" cy="804900"/>
          </a:xfrm>
        </p:grpSpPr>
        <p:sp>
          <p:nvSpPr>
            <p:cNvPr id="526" name="Google Shape;526;p38"/>
            <p:cNvSpPr/>
            <p:nvPr/>
          </p:nvSpPr>
          <p:spPr>
            <a:xfrm>
              <a:off x="-7" y="328925"/>
              <a:ext cx="78768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8130206" y="328925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8383724" y="328925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8637092" y="328925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8890498" y="328925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7876850" y="328925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38"/>
          <p:cNvSpPr txBox="1">
            <a:spLocks noGrp="1"/>
          </p:cNvSpPr>
          <p:nvPr>
            <p:ph type="subTitle" idx="1"/>
          </p:nvPr>
        </p:nvSpPr>
        <p:spPr>
          <a:xfrm>
            <a:off x="3512438" y="2059525"/>
            <a:ext cx="3661200" cy="7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38"/>
          <p:cNvSpPr txBox="1">
            <a:spLocks noGrp="1"/>
          </p:cNvSpPr>
          <p:nvPr>
            <p:ph type="subTitle" idx="2"/>
          </p:nvPr>
        </p:nvSpPr>
        <p:spPr>
          <a:xfrm>
            <a:off x="3512439" y="1634775"/>
            <a:ext cx="3661200" cy="437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535" name="Google Shape;535;p38"/>
          <p:cNvSpPr txBox="1">
            <a:spLocks noGrp="1"/>
          </p:cNvSpPr>
          <p:nvPr>
            <p:ph type="subTitle" idx="3"/>
          </p:nvPr>
        </p:nvSpPr>
        <p:spPr>
          <a:xfrm>
            <a:off x="3512438" y="3591775"/>
            <a:ext cx="3661200" cy="7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38"/>
          <p:cNvSpPr txBox="1">
            <a:spLocks noGrp="1"/>
          </p:cNvSpPr>
          <p:nvPr>
            <p:ph type="subTitle" idx="4"/>
          </p:nvPr>
        </p:nvSpPr>
        <p:spPr>
          <a:xfrm>
            <a:off x="3512438" y="3167025"/>
            <a:ext cx="3661200" cy="4371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4"/>
          <p:cNvSpPr txBox="1">
            <a:spLocks noGrp="1"/>
          </p:cNvSpPr>
          <p:nvPr>
            <p:ph type="title"/>
          </p:nvPr>
        </p:nvSpPr>
        <p:spPr>
          <a:xfrm>
            <a:off x="757525" y="2987900"/>
            <a:ext cx="7629000" cy="14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9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01" name="Google Shape;601;p44"/>
          <p:cNvGrpSpPr/>
          <p:nvPr/>
        </p:nvGrpSpPr>
        <p:grpSpPr>
          <a:xfrm>
            <a:off x="-93850" y="-54027"/>
            <a:ext cx="9517820" cy="2268410"/>
            <a:chOff x="-130390" y="2074"/>
            <a:chExt cx="9517820" cy="2000185"/>
          </a:xfrm>
        </p:grpSpPr>
        <p:sp>
          <p:nvSpPr>
            <p:cNvPr id="602" name="Google Shape;602;p44"/>
            <p:cNvSpPr/>
            <p:nvPr/>
          </p:nvSpPr>
          <p:spPr>
            <a:xfrm rot="5609516" flipH="1">
              <a:off x="4354737" y="-2944441"/>
              <a:ext cx="482696" cy="9411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4"/>
            <p:cNvSpPr/>
            <p:nvPr/>
          </p:nvSpPr>
          <p:spPr>
            <a:xfrm rot="5190484">
              <a:off x="4390182" y="-3352848"/>
              <a:ext cx="482696" cy="948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4"/>
            <p:cNvSpPr/>
            <p:nvPr/>
          </p:nvSpPr>
          <p:spPr>
            <a:xfrm rot="5746674" flipH="1">
              <a:off x="4367184" y="-3567466"/>
              <a:ext cx="482753" cy="943652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4"/>
            <p:cNvSpPr/>
            <p:nvPr/>
          </p:nvSpPr>
          <p:spPr>
            <a:xfrm rot="5190484">
              <a:off x="4379750" y="-3876699"/>
              <a:ext cx="482696" cy="9461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4"/>
            <p:cNvSpPr/>
            <p:nvPr/>
          </p:nvSpPr>
          <p:spPr>
            <a:xfrm rot="5731584" flipH="1">
              <a:off x="4361872" y="-4173400"/>
              <a:ext cx="482844" cy="942595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4"/>
            <p:cNvSpPr/>
            <p:nvPr/>
          </p:nvSpPr>
          <p:spPr>
            <a:xfrm rot="5190484">
              <a:off x="4378000" y="-4486076"/>
              <a:ext cx="482696" cy="9458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_1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5"/>
          <p:cNvSpPr txBox="1">
            <a:spLocks noGrp="1"/>
          </p:cNvSpPr>
          <p:nvPr>
            <p:ph type="title" hasCustomPrompt="1"/>
          </p:nvPr>
        </p:nvSpPr>
        <p:spPr>
          <a:xfrm>
            <a:off x="2178975" y="2230500"/>
            <a:ext cx="4786200" cy="822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0" name="Google Shape;610;p45"/>
          <p:cNvSpPr txBox="1">
            <a:spLocks noGrp="1"/>
          </p:cNvSpPr>
          <p:nvPr>
            <p:ph type="subTitle" idx="1"/>
          </p:nvPr>
        </p:nvSpPr>
        <p:spPr>
          <a:xfrm>
            <a:off x="2881650" y="3121950"/>
            <a:ext cx="3380700" cy="6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611" name="Google Shape;611;p45"/>
          <p:cNvGrpSpPr/>
          <p:nvPr/>
        </p:nvGrpSpPr>
        <p:grpSpPr>
          <a:xfrm rot="8246786" flipH="1">
            <a:off x="-455811" y="804369"/>
            <a:ext cx="2597974" cy="6135129"/>
            <a:chOff x="36225" y="-2386695"/>
            <a:chExt cx="3881917" cy="9167169"/>
          </a:xfrm>
        </p:grpSpPr>
        <p:sp>
          <p:nvSpPr>
            <p:cNvPr id="612" name="Google Shape;612;p45"/>
            <p:cNvSpPr/>
            <p:nvPr/>
          </p:nvSpPr>
          <p:spPr>
            <a:xfrm rot="274079" flipH="1">
              <a:off x="1949480" y="-1305848"/>
              <a:ext cx="576331" cy="7798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5"/>
            <p:cNvSpPr/>
            <p:nvPr/>
          </p:nvSpPr>
          <p:spPr>
            <a:xfrm rot="274079" flipH="1">
              <a:off x="763765" y="-277642"/>
              <a:ext cx="576331" cy="57422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5"/>
            <p:cNvSpPr/>
            <p:nvPr/>
          </p:nvSpPr>
          <p:spPr>
            <a:xfrm>
              <a:off x="36225" y="156571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5"/>
            <p:cNvSpPr/>
            <p:nvPr/>
          </p:nvSpPr>
          <p:spPr>
            <a:xfrm rot="274079" flipH="1">
              <a:off x="3169177" y="-2367375"/>
              <a:ext cx="576331" cy="82998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5"/>
            <p:cNvSpPr/>
            <p:nvPr/>
          </p:nvSpPr>
          <p:spPr>
            <a:xfrm>
              <a:off x="1525085" y="2451199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5"/>
            <p:cNvSpPr/>
            <p:nvPr/>
          </p:nvSpPr>
          <p:spPr>
            <a:xfrm rot="-274079">
              <a:off x="2575869" y="-1574122"/>
              <a:ext cx="576331" cy="833529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5"/>
            <p:cNvSpPr/>
            <p:nvPr/>
          </p:nvSpPr>
          <p:spPr>
            <a:xfrm rot="-274079">
              <a:off x="1390077" y="-673917"/>
              <a:ext cx="576331" cy="6534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5"/>
            <p:cNvSpPr/>
            <p:nvPr/>
          </p:nvSpPr>
          <p:spPr>
            <a:xfrm rot="-274079">
              <a:off x="204260" y="-165485"/>
              <a:ext cx="576331" cy="55179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0" name="Google Shape;620;p45"/>
          <p:cNvGrpSpPr/>
          <p:nvPr/>
        </p:nvGrpSpPr>
        <p:grpSpPr>
          <a:xfrm rot="-2700000" flipH="1">
            <a:off x="6954718" y="-1900658"/>
            <a:ext cx="2597802" cy="6134723"/>
            <a:chOff x="36225" y="-2386695"/>
            <a:chExt cx="3881917" cy="9167169"/>
          </a:xfrm>
        </p:grpSpPr>
        <p:sp>
          <p:nvSpPr>
            <p:cNvPr id="621" name="Google Shape;621;p45"/>
            <p:cNvSpPr/>
            <p:nvPr/>
          </p:nvSpPr>
          <p:spPr>
            <a:xfrm rot="274079" flipH="1">
              <a:off x="1949480" y="-1305848"/>
              <a:ext cx="576331" cy="7798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5"/>
            <p:cNvSpPr/>
            <p:nvPr/>
          </p:nvSpPr>
          <p:spPr>
            <a:xfrm rot="274079" flipH="1">
              <a:off x="763765" y="-277642"/>
              <a:ext cx="576331" cy="57422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5"/>
            <p:cNvSpPr/>
            <p:nvPr/>
          </p:nvSpPr>
          <p:spPr>
            <a:xfrm>
              <a:off x="36225" y="156571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5"/>
            <p:cNvSpPr/>
            <p:nvPr/>
          </p:nvSpPr>
          <p:spPr>
            <a:xfrm rot="274079" flipH="1">
              <a:off x="3169177" y="-2367375"/>
              <a:ext cx="576331" cy="82998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5"/>
            <p:cNvSpPr/>
            <p:nvPr/>
          </p:nvSpPr>
          <p:spPr>
            <a:xfrm>
              <a:off x="1525085" y="2451199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5"/>
            <p:cNvSpPr/>
            <p:nvPr/>
          </p:nvSpPr>
          <p:spPr>
            <a:xfrm rot="-274079">
              <a:off x="2575869" y="-1574122"/>
              <a:ext cx="576331" cy="833529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5"/>
            <p:cNvSpPr/>
            <p:nvPr/>
          </p:nvSpPr>
          <p:spPr>
            <a:xfrm rot="-274079">
              <a:off x="1390077" y="-673917"/>
              <a:ext cx="576331" cy="6534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5"/>
            <p:cNvSpPr/>
            <p:nvPr/>
          </p:nvSpPr>
          <p:spPr>
            <a:xfrm rot="-274079">
              <a:off x="204260" y="-165485"/>
              <a:ext cx="576331" cy="55179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7"/>
          <p:cNvSpPr txBox="1">
            <a:spLocks noGrp="1"/>
          </p:cNvSpPr>
          <p:nvPr>
            <p:ph type="ctrTitle"/>
          </p:nvPr>
        </p:nvSpPr>
        <p:spPr>
          <a:xfrm>
            <a:off x="872425" y="768600"/>
            <a:ext cx="4211700" cy="9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48" name="Google Shape;648;p47"/>
          <p:cNvSpPr txBox="1">
            <a:spLocks noGrp="1"/>
          </p:cNvSpPr>
          <p:nvPr>
            <p:ph type="subTitle" idx="1"/>
          </p:nvPr>
        </p:nvSpPr>
        <p:spPr>
          <a:xfrm>
            <a:off x="872400" y="2336000"/>
            <a:ext cx="4171800" cy="87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Gothic A1"/>
                <a:ea typeface="Gothic A1"/>
                <a:cs typeface="Gothic A1"/>
                <a:sym typeface="Gothic A1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49" name="Google Shape;649;p47"/>
          <p:cNvSpPr txBox="1">
            <a:spLocks noGrp="1"/>
          </p:cNvSpPr>
          <p:nvPr>
            <p:ph type="subTitle" idx="2"/>
          </p:nvPr>
        </p:nvSpPr>
        <p:spPr>
          <a:xfrm>
            <a:off x="872400" y="1809300"/>
            <a:ext cx="4485600" cy="444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 ExtraBold"/>
              <a:buNone/>
              <a:defRPr sz="20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650" name="Google Shape;650;p47"/>
          <p:cNvSpPr txBox="1"/>
          <p:nvPr/>
        </p:nvSpPr>
        <p:spPr>
          <a:xfrm>
            <a:off x="872425" y="3814650"/>
            <a:ext cx="40377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CREDITS:</a:t>
            </a:r>
            <a:r>
              <a:rPr lang="en" sz="1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 This presentation template was created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, including icons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, and infographics &amp; images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Gothic A1"/>
                <a:ea typeface="Gothic A1"/>
                <a:cs typeface="Gothic A1"/>
                <a:sym typeface="Gothic A1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rPr>
              <a:t> </a:t>
            </a:r>
            <a:endParaRPr sz="1000" b="1">
              <a:solidFill>
                <a:schemeClr val="lt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grpSp>
        <p:nvGrpSpPr>
          <p:cNvPr id="651" name="Google Shape;651;p47"/>
          <p:cNvGrpSpPr/>
          <p:nvPr/>
        </p:nvGrpSpPr>
        <p:grpSpPr>
          <a:xfrm flipH="1">
            <a:off x="5251625" y="-186022"/>
            <a:ext cx="3736225" cy="5559000"/>
            <a:chOff x="89825" y="-186022"/>
            <a:chExt cx="3736225" cy="5559000"/>
          </a:xfrm>
        </p:grpSpPr>
        <p:sp>
          <p:nvSpPr>
            <p:cNvPr id="652" name="Google Shape;652;p47"/>
            <p:cNvSpPr/>
            <p:nvPr/>
          </p:nvSpPr>
          <p:spPr>
            <a:xfrm rot="274079" flipH="1">
              <a:off x="1949503" y="-165485"/>
              <a:ext cx="576331" cy="55179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7"/>
            <p:cNvSpPr/>
            <p:nvPr/>
          </p:nvSpPr>
          <p:spPr>
            <a:xfrm rot="274079" flipH="1">
              <a:off x="763722" y="-165485"/>
              <a:ext cx="576331" cy="55179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7"/>
            <p:cNvSpPr/>
            <p:nvPr/>
          </p:nvSpPr>
          <p:spPr>
            <a:xfrm>
              <a:off x="89825" y="219700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7"/>
            <p:cNvSpPr/>
            <p:nvPr/>
          </p:nvSpPr>
          <p:spPr>
            <a:xfrm rot="274079" flipH="1">
              <a:off x="3135285" y="-165485"/>
              <a:ext cx="576331" cy="55179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7"/>
            <p:cNvSpPr/>
            <p:nvPr/>
          </p:nvSpPr>
          <p:spPr>
            <a:xfrm>
              <a:off x="1322675" y="2685200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7"/>
            <p:cNvSpPr/>
            <p:nvPr/>
          </p:nvSpPr>
          <p:spPr>
            <a:xfrm rot="-274079">
              <a:off x="2575823" y="-165485"/>
              <a:ext cx="576331" cy="55179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7"/>
            <p:cNvSpPr/>
            <p:nvPr/>
          </p:nvSpPr>
          <p:spPr>
            <a:xfrm rot="-274079">
              <a:off x="1390041" y="-165485"/>
              <a:ext cx="576331" cy="55179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7"/>
            <p:cNvSpPr/>
            <p:nvPr/>
          </p:nvSpPr>
          <p:spPr>
            <a:xfrm rot="-274079">
              <a:off x="204260" y="-165485"/>
              <a:ext cx="576331" cy="55179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" name="Google Shape;661;p48"/>
          <p:cNvGrpSpPr/>
          <p:nvPr/>
        </p:nvGrpSpPr>
        <p:grpSpPr>
          <a:xfrm>
            <a:off x="-7" y="328925"/>
            <a:ext cx="9144004" cy="804900"/>
            <a:chOff x="-7" y="328925"/>
            <a:chExt cx="9144004" cy="804900"/>
          </a:xfrm>
        </p:grpSpPr>
        <p:sp>
          <p:nvSpPr>
            <p:cNvPr id="662" name="Google Shape;662;p48"/>
            <p:cNvSpPr/>
            <p:nvPr/>
          </p:nvSpPr>
          <p:spPr>
            <a:xfrm>
              <a:off x="-7" y="328925"/>
              <a:ext cx="78768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8130206" y="328925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8"/>
            <p:cNvSpPr/>
            <p:nvPr/>
          </p:nvSpPr>
          <p:spPr>
            <a:xfrm>
              <a:off x="8383724" y="328925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8"/>
            <p:cNvSpPr/>
            <p:nvPr/>
          </p:nvSpPr>
          <p:spPr>
            <a:xfrm>
              <a:off x="8637092" y="328925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8"/>
            <p:cNvSpPr/>
            <p:nvPr/>
          </p:nvSpPr>
          <p:spPr>
            <a:xfrm>
              <a:off x="8890498" y="328925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8"/>
            <p:cNvSpPr/>
            <p:nvPr/>
          </p:nvSpPr>
          <p:spPr>
            <a:xfrm>
              <a:off x="7876850" y="328925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49"/>
          <p:cNvGrpSpPr/>
          <p:nvPr/>
        </p:nvGrpSpPr>
        <p:grpSpPr>
          <a:xfrm rot="2553372">
            <a:off x="-298717" y="-2635664"/>
            <a:ext cx="3881842" cy="9166991"/>
            <a:chOff x="36225" y="-2386695"/>
            <a:chExt cx="3881917" cy="9167169"/>
          </a:xfrm>
        </p:grpSpPr>
        <p:sp>
          <p:nvSpPr>
            <p:cNvPr id="670" name="Google Shape;670;p49"/>
            <p:cNvSpPr/>
            <p:nvPr/>
          </p:nvSpPr>
          <p:spPr>
            <a:xfrm rot="274079" flipH="1">
              <a:off x="1949480" y="-1305848"/>
              <a:ext cx="576331" cy="779872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9"/>
            <p:cNvSpPr/>
            <p:nvPr/>
          </p:nvSpPr>
          <p:spPr>
            <a:xfrm rot="274079" flipH="1">
              <a:off x="763765" y="-277642"/>
              <a:ext cx="576331" cy="5742218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9"/>
            <p:cNvSpPr/>
            <p:nvPr/>
          </p:nvSpPr>
          <p:spPr>
            <a:xfrm>
              <a:off x="36225" y="156571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9"/>
            <p:cNvSpPr/>
            <p:nvPr/>
          </p:nvSpPr>
          <p:spPr>
            <a:xfrm rot="274079" flipH="1">
              <a:off x="3169177" y="-2367375"/>
              <a:ext cx="576331" cy="82998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9"/>
            <p:cNvSpPr/>
            <p:nvPr/>
          </p:nvSpPr>
          <p:spPr>
            <a:xfrm>
              <a:off x="1525085" y="2451199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9"/>
            <p:cNvSpPr/>
            <p:nvPr/>
          </p:nvSpPr>
          <p:spPr>
            <a:xfrm rot="-274079">
              <a:off x="2575869" y="-1574122"/>
              <a:ext cx="576331" cy="833529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9"/>
            <p:cNvSpPr/>
            <p:nvPr/>
          </p:nvSpPr>
          <p:spPr>
            <a:xfrm rot="-274079">
              <a:off x="1390077" y="-673917"/>
              <a:ext cx="576331" cy="6534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9"/>
            <p:cNvSpPr/>
            <p:nvPr/>
          </p:nvSpPr>
          <p:spPr>
            <a:xfrm rot="-274079">
              <a:off x="204260" y="-165485"/>
              <a:ext cx="576331" cy="55179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1_1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50"/>
          <p:cNvGrpSpPr/>
          <p:nvPr/>
        </p:nvGrpSpPr>
        <p:grpSpPr>
          <a:xfrm flipH="1">
            <a:off x="5251625" y="-186022"/>
            <a:ext cx="3736225" cy="5559000"/>
            <a:chOff x="89825" y="-186022"/>
            <a:chExt cx="3736225" cy="5559000"/>
          </a:xfrm>
        </p:grpSpPr>
        <p:sp>
          <p:nvSpPr>
            <p:cNvPr id="680" name="Google Shape;680;p50"/>
            <p:cNvSpPr/>
            <p:nvPr/>
          </p:nvSpPr>
          <p:spPr>
            <a:xfrm rot="274079" flipH="1">
              <a:off x="1949503" y="-165485"/>
              <a:ext cx="576331" cy="55179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50"/>
            <p:cNvSpPr/>
            <p:nvPr/>
          </p:nvSpPr>
          <p:spPr>
            <a:xfrm rot="274079" flipH="1">
              <a:off x="763722" y="-165485"/>
              <a:ext cx="576331" cy="55179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50"/>
            <p:cNvSpPr/>
            <p:nvPr/>
          </p:nvSpPr>
          <p:spPr>
            <a:xfrm>
              <a:off x="89825" y="219700"/>
              <a:ext cx="2307900" cy="2307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50"/>
            <p:cNvSpPr/>
            <p:nvPr/>
          </p:nvSpPr>
          <p:spPr>
            <a:xfrm rot="274079" flipH="1">
              <a:off x="3135285" y="-165485"/>
              <a:ext cx="576331" cy="55179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50"/>
            <p:cNvSpPr/>
            <p:nvPr/>
          </p:nvSpPr>
          <p:spPr>
            <a:xfrm>
              <a:off x="1322675" y="2685200"/>
              <a:ext cx="2244900" cy="224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0"/>
            <p:cNvSpPr/>
            <p:nvPr/>
          </p:nvSpPr>
          <p:spPr>
            <a:xfrm rot="-274079">
              <a:off x="2575823" y="-165485"/>
              <a:ext cx="576331" cy="55179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0"/>
            <p:cNvSpPr/>
            <p:nvPr/>
          </p:nvSpPr>
          <p:spPr>
            <a:xfrm rot="-274079">
              <a:off x="1390041" y="-165485"/>
              <a:ext cx="576331" cy="55179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50"/>
            <p:cNvSpPr/>
            <p:nvPr/>
          </p:nvSpPr>
          <p:spPr>
            <a:xfrm rot="-274079">
              <a:off x="204260" y="-165485"/>
              <a:ext cx="576331" cy="551792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ExtraBold"/>
              <a:buNone/>
              <a:defRPr sz="32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ExtraBold"/>
              <a:buNone/>
              <a:defRPr sz="32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ExtraBold"/>
              <a:buNone/>
              <a:defRPr sz="32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ExtraBold"/>
              <a:buNone/>
              <a:defRPr sz="32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ExtraBold"/>
              <a:buNone/>
              <a:defRPr sz="32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ExtraBold"/>
              <a:buNone/>
              <a:defRPr sz="32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ExtraBold"/>
              <a:buNone/>
              <a:defRPr sz="32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ExtraBold"/>
              <a:buNone/>
              <a:defRPr sz="32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ExtraBold"/>
              <a:buNone/>
              <a:defRPr sz="32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8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7" r:id="rId12"/>
    <p:sldLayoutId id="2147483668" r:id="rId13"/>
    <p:sldLayoutId id="2147483669" r:id="rId14"/>
    <p:sldLayoutId id="2147483678" r:id="rId15"/>
    <p:sldLayoutId id="2147483684" r:id="rId16"/>
    <p:sldLayoutId id="2147483690" r:id="rId17"/>
    <p:sldLayoutId id="2147483691" r:id="rId18"/>
    <p:sldLayoutId id="2147483693" r:id="rId19"/>
    <p:sldLayoutId id="2147483694" r:id="rId20"/>
    <p:sldLayoutId id="2147483695" r:id="rId21"/>
    <p:sldLayoutId id="2147483696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4.xml"/><Relationship Id="rId4" Type="http://schemas.openxmlformats.org/officeDocument/2006/relationships/slide" Target="slide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equality.org/sites/default/files/docs/usts/USTS-Full-Report-Dec17.pdf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hudexchange.info/resource/3031/pit-and-hic-data-since-2007/" TargetMode="External"/><Relationship Id="rId4" Type="http://schemas.openxmlformats.org/officeDocument/2006/relationships/hyperlink" Target="https://www.erininthemorning.com/p/may-anti-trans-legislative-risk-map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" name="Google Shape;696;p53"/>
          <p:cNvGrpSpPr/>
          <p:nvPr/>
        </p:nvGrpSpPr>
        <p:grpSpPr>
          <a:xfrm>
            <a:off x="4112681" y="1581150"/>
            <a:ext cx="5031316" cy="804900"/>
            <a:chOff x="4112681" y="1581150"/>
            <a:chExt cx="5031316" cy="804900"/>
          </a:xfrm>
        </p:grpSpPr>
        <p:sp>
          <p:nvSpPr>
            <p:cNvPr id="697" name="Google Shape;697;p53"/>
            <p:cNvSpPr/>
            <p:nvPr/>
          </p:nvSpPr>
          <p:spPr>
            <a:xfrm>
              <a:off x="4112681" y="1581150"/>
              <a:ext cx="37641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53"/>
            <p:cNvSpPr/>
            <p:nvPr/>
          </p:nvSpPr>
          <p:spPr>
            <a:xfrm>
              <a:off x="7876850" y="1581150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53"/>
            <p:cNvSpPr/>
            <p:nvPr/>
          </p:nvSpPr>
          <p:spPr>
            <a:xfrm>
              <a:off x="8130206" y="1581150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53"/>
            <p:cNvSpPr/>
            <p:nvPr/>
          </p:nvSpPr>
          <p:spPr>
            <a:xfrm>
              <a:off x="8383724" y="1581150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53"/>
            <p:cNvSpPr/>
            <p:nvPr/>
          </p:nvSpPr>
          <p:spPr>
            <a:xfrm>
              <a:off x="8637092" y="1581150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3"/>
            <p:cNvSpPr/>
            <p:nvPr/>
          </p:nvSpPr>
          <p:spPr>
            <a:xfrm>
              <a:off x="8890498" y="1581150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3" name="Google Shape;703;p53"/>
          <p:cNvSpPr txBox="1">
            <a:spLocks noGrp="1"/>
          </p:cNvSpPr>
          <p:nvPr>
            <p:ph type="ctrTitle"/>
          </p:nvPr>
        </p:nvSpPr>
        <p:spPr>
          <a:xfrm>
            <a:off x="4212050" y="0"/>
            <a:ext cx="5376900" cy="32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dirty="0"/>
              <a:t>HOMELESSNESS IN THE </a:t>
            </a:r>
            <a:endParaRPr sz="4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dirty="0"/>
              <a:t>TRANS</a:t>
            </a:r>
            <a:endParaRPr sz="4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dirty="0"/>
              <a:t>COMMUNITY</a:t>
            </a:r>
            <a:endParaRPr sz="4700" dirty="0"/>
          </a:p>
        </p:txBody>
      </p:sp>
      <p:sp>
        <p:nvSpPr>
          <p:cNvPr id="704" name="Google Shape;704;p53"/>
          <p:cNvSpPr txBox="1">
            <a:spLocks noGrp="1"/>
          </p:cNvSpPr>
          <p:nvPr>
            <p:ph type="subTitle" idx="1"/>
          </p:nvPr>
        </p:nvSpPr>
        <p:spPr>
          <a:xfrm>
            <a:off x="4212050" y="4139925"/>
            <a:ext cx="3169500" cy="2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Zenith Kile (They/Them)</a:t>
            </a:r>
            <a:endParaRPr sz="2000"/>
          </a:p>
        </p:txBody>
      </p:sp>
      <p:sp>
        <p:nvSpPr>
          <p:cNvPr id="705" name="Google Shape;705;p53"/>
          <p:cNvSpPr txBox="1">
            <a:spLocks noGrp="1"/>
          </p:cNvSpPr>
          <p:nvPr>
            <p:ph type="subTitle" idx="1"/>
          </p:nvPr>
        </p:nvSpPr>
        <p:spPr>
          <a:xfrm>
            <a:off x="4502500" y="4430625"/>
            <a:ext cx="2377800" cy="29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Arkansas Tech University</a:t>
            </a: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4"/>
          <p:cNvSpPr txBox="1">
            <a:spLocks noGrp="1"/>
          </p:cNvSpPr>
          <p:nvPr>
            <p:ph type="title"/>
          </p:nvPr>
        </p:nvSpPr>
        <p:spPr>
          <a:xfrm>
            <a:off x="2883775" y="2781800"/>
            <a:ext cx="3376500" cy="703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711" name="Google Shape;711;p54"/>
          <p:cNvSpPr txBox="1">
            <a:spLocks noGrp="1"/>
          </p:cNvSpPr>
          <p:nvPr>
            <p:ph type="title" idx="2"/>
          </p:nvPr>
        </p:nvSpPr>
        <p:spPr>
          <a:xfrm>
            <a:off x="2883725" y="1025650"/>
            <a:ext cx="3376500" cy="15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12" name="Google Shape;712;p54"/>
          <p:cNvSpPr txBox="1">
            <a:spLocks noGrp="1"/>
          </p:cNvSpPr>
          <p:nvPr>
            <p:ph type="subTitle" idx="1"/>
          </p:nvPr>
        </p:nvSpPr>
        <p:spPr>
          <a:xfrm>
            <a:off x="3132950" y="3650750"/>
            <a:ext cx="28815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LGBT Community</a:t>
            </a:r>
            <a:endParaRPr/>
          </a:p>
        </p:txBody>
      </p:sp>
      <p:sp>
        <p:nvSpPr>
          <p:cNvPr id="718" name="Google Shape;718;p55"/>
          <p:cNvSpPr txBox="1">
            <a:spLocks noGrp="1"/>
          </p:cNvSpPr>
          <p:nvPr>
            <p:ph type="subTitle" idx="1"/>
          </p:nvPr>
        </p:nvSpPr>
        <p:spPr>
          <a:xfrm>
            <a:off x="719994" y="3996175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Non-Women Loving Non-Women</a:t>
            </a:r>
            <a:endParaRPr dirty="0"/>
          </a:p>
        </p:txBody>
      </p:sp>
      <p:sp>
        <p:nvSpPr>
          <p:cNvPr id="719" name="Google Shape;719;p55"/>
          <p:cNvSpPr txBox="1">
            <a:spLocks noGrp="1"/>
          </p:cNvSpPr>
          <p:nvPr>
            <p:ph type="subTitle" idx="2"/>
          </p:nvPr>
        </p:nvSpPr>
        <p:spPr>
          <a:xfrm>
            <a:off x="719994" y="3571425"/>
            <a:ext cx="23910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Gay</a:t>
            </a:r>
            <a:endParaRPr dirty="0"/>
          </a:p>
        </p:txBody>
      </p:sp>
      <p:sp>
        <p:nvSpPr>
          <p:cNvPr id="720" name="Google Shape;720;p55"/>
          <p:cNvSpPr txBox="1">
            <a:spLocks noGrp="1"/>
          </p:cNvSpPr>
          <p:nvPr>
            <p:ph type="subTitle" idx="3"/>
          </p:nvPr>
        </p:nvSpPr>
        <p:spPr>
          <a:xfrm>
            <a:off x="5456250" y="4090325"/>
            <a:ext cx="354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Gender Not Aligned With Your AGAB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(assigned gender at birth)</a:t>
            </a:r>
            <a:endParaRPr dirty="0"/>
          </a:p>
        </p:txBody>
      </p:sp>
      <p:sp>
        <p:nvSpPr>
          <p:cNvPr id="721" name="Google Shape;721;p55"/>
          <p:cNvSpPr txBox="1">
            <a:spLocks noGrp="1"/>
          </p:cNvSpPr>
          <p:nvPr>
            <p:ph type="subTitle" idx="4"/>
          </p:nvPr>
        </p:nvSpPr>
        <p:spPr>
          <a:xfrm>
            <a:off x="6032994" y="3571425"/>
            <a:ext cx="23910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Transgender</a:t>
            </a:r>
            <a:endParaRPr dirty="0"/>
          </a:p>
        </p:txBody>
      </p:sp>
      <p:sp>
        <p:nvSpPr>
          <p:cNvPr id="722" name="Google Shape;722;p55"/>
          <p:cNvSpPr txBox="1">
            <a:spLocks noGrp="1"/>
          </p:cNvSpPr>
          <p:nvPr>
            <p:ph type="subTitle" idx="5"/>
          </p:nvPr>
        </p:nvSpPr>
        <p:spPr>
          <a:xfrm>
            <a:off x="719994" y="2250175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Non-Men Loving Non-Men</a:t>
            </a:r>
            <a:endParaRPr dirty="0"/>
          </a:p>
        </p:txBody>
      </p:sp>
      <p:sp>
        <p:nvSpPr>
          <p:cNvPr id="723" name="Google Shape;723;p55"/>
          <p:cNvSpPr txBox="1">
            <a:spLocks noGrp="1"/>
          </p:cNvSpPr>
          <p:nvPr>
            <p:ph type="subTitle" idx="6"/>
          </p:nvPr>
        </p:nvSpPr>
        <p:spPr>
          <a:xfrm>
            <a:off x="719994" y="1825425"/>
            <a:ext cx="23910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Lesbian</a:t>
            </a:r>
            <a:endParaRPr dirty="0"/>
          </a:p>
        </p:txBody>
      </p:sp>
      <p:sp>
        <p:nvSpPr>
          <p:cNvPr id="724" name="Google Shape;724;p55"/>
          <p:cNvSpPr txBox="1">
            <a:spLocks noGrp="1"/>
          </p:cNvSpPr>
          <p:nvPr>
            <p:ph type="subTitle" idx="7"/>
          </p:nvPr>
        </p:nvSpPr>
        <p:spPr>
          <a:xfrm>
            <a:off x="2944951" y="2990463"/>
            <a:ext cx="325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All LGBT+ people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(can be used as unlabeled term)</a:t>
            </a:r>
            <a:endParaRPr dirty="0"/>
          </a:p>
        </p:txBody>
      </p:sp>
      <p:sp>
        <p:nvSpPr>
          <p:cNvPr id="725" name="Google Shape;725;p55"/>
          <p:cNvSpPr txBox="1">
            <a:spLocks noGrp="1"/>
          </p:cNvSpPr>
          <p:nvPr>
            <p:ph type="subTitle" idx="8"/>
          </p:nvPr>
        </p:nvSpPr>
        <p:spPr>
          <a:xfrm>
            <a:off x="3376494" y="2573975"/>
            <a:ext cx="23910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Queer</a:t>
            </a:r>
            <a:endParaRPr dirty="0"/>
          </a:p>
        </p:txBody>
      </p:sp>
      <p:sp>
        <p:nvSpPr>
          <p:cNvPr id="726" name="Google Shape;726;p55"/>
          <p:cNvSpPr txBox="1">
            <a:spLocks noGrp="1"/>
          </p:cNvSpPr>
          <p:nvPr>
            <p:ph type="subTitle" idx="9"/>
          </p:nvPr>
        </p:nvSpPr>
        <p:spPr>
          <a:xfrm>
            <a:off x="6032994" y="2250175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Loving 2+ Genders</a:t>
            </a:r>
            <a:endParaRPr dirty="0"/>
          </a:p>
        </p:txBody>
      </p:sp>
      <p:sp>
        <p:nvSpPr>
          <p:cNvPr id="727" name="Google Shape;727;p55"/>
          <p:cNvSpPr txBox="1">
            <a:spLocks noGrp="1"/>
          </p:cNvSpPr>
          <p:nvPr>
            <p:ph type="subTitle" idx="13"/>
          </p:nvPr>
        </p:nvSpPr>
        <p:spPr>
          <a:xfrm>
            <a:off x="6032994" y="1825425"/>
            <a:ext cx="2391000" cy="437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Bisexual</a:t>
            </a:r>
            <a:endParaRPr dirty="0"/>
          </a:p>
        </p:txBody>
      </p:sp>
      <p:pic>
        <p:nvPicPr>
          <p:cNvPr id="728" name="Google Shape;72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675" y="1337925"/>
            <a:ext cx="655650" cy="4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1250" y="3070225"/>
            <a:ext cx="728500" cy="4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4238" y="1337933"/>
            <a:ext cx="728500" cy="43709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5"/>
          <p:cNvSpPr txBox="1"/>
          <p:nvPr/>
        </p:nvSpPr>
        <p:spPr>
          <a:xfrm>
            <a:off x="0" y="4757075"/>
            <a:ext cx="508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accent6"/>
                </a:solidFill>
                <a:latin typeface="Gothic A1"/>
                <a:ea typeface="Gothic A1"/>
                <a:cs typeface="Gothic A1"/>
                <a:sym typeface="Gothic A1"/>
              </a:rPr>
              <a:t>From Wikimedia Commons, the free media repository</a:t>
            </a:r>
            <a:endParaRPr sz="1200" dirty="0">
              <a:solidFill>
                <a:schemeClr val="accent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732" name="Google Shape;732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4250" y="3070225"/>
            <a:ext cx="728965" cy="4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7750" y="1997000"/>
            <a:ext cx="728500" cy="449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7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7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7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7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7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7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" grpId="0" uiExpand="1" build="p"/>
      <p:bldP spid="719" grpId="0" uiExpand="1" build="p" animBg="1"/>
      <p:bldP spid="720" grpId="0" uiExpand="1" build="p"/>
      <p:bldP spid="721" grpId="0" uiExpand="1" build="p" animBg="1"/>
      <p:bldP spid="722" grpId="0" uiExpand="1" build="p"/>
      <p:bldP spid="723" grpId="0" uiExpand="1" build="p" animBg="1"/>
      <p:bldP spid="724" grpId="0" uiExpand="1" build="p"/>
      <p:bldP spid="725" grpId="0" uiExpand="1" build="p" animBg="1"/>
      <p:bldP spid="726" grpId="0" uiExpand="1" build="p"/>
      <p:bldP spid="727" grpId="0" uiExpand="1" build="p" animBg="1"/>
      <p:bldP spid="7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LGBT Community</a:t>
            </a:r>
            <a:endParaRPr/>
          </a:p>
        </p:txBody>
      </p:sp>
      <p:sp>
        <p:nvSpPr>
          <p:cNvPr id="752" name="Google Shape;752;p56"/>
          <p:cNvSpPr txBox="1"/>
          <p:nvPr/>
        </p:nvSpPr>
        <p:spPr>
          <a:xfrm>
            <a:off x="0" y="4757075"/>
            <a:ext cx="508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Gothic A1"/>
                <a:ea typeface="Gothic A1"/>
                <a:cs typeface="Gothic A1"/>
                <a:sym typeface="Gothic A1"/>
              </a:rPr>
              <a:t>From Wikimedia Commons, the free media repository</a:t>
            </a:r>
            <a:endParaRPr sz="1200">
              <a:solidFill>
                <a:schemeClr val="accent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22" name="Google Shape;732;p55">
            <a:extLst>
              <a:ext uri="{FF2B5EF4-FFF2-40B4-BE49-F238E27FC236}">
                <a16:creationId xmlns:a16="http://schemas.microsoft.com/office/drawing/2014/main" id="{45EF80D7-6274-A597-16B2-838CD2923671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4250" y="3070225"/>
            <a:ext cx="728965" cy="4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0.00618 L -0.29045 -0.07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31" y="-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LGBT Community</a:t>
            </a:r>
            <a:endParaRPr/>
          </a:p>
        </p:txBody>
      </p:sp>
      <p:sp>
        <p:nvSpPr>
          <p:cNvPr id="752" name="Google Shape;752;p56"/>
          <p:cNvSpPr txBox="1"/>
          <p:nvPr/>
        </p:nvSpPr>
        <p:spPr>
          <a:xfrm>
            <a:off x="0" y="4757075"/>
            <a:ext cx="508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Gothic A1"/>
                <a:ea typeface="Gothic A1"/>
                <a:cs typeface="Gothic A1"/>
                <a:sym typeface="Gothic A1"/>
              </a:rPr>
              <a:t>From Wikimedia Commons, the free media repository</a:t>
            </a:r>
            <a:endParaRPr sz="1200">
              <a:solidFill>
                <a:schemeClr val="accent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22" name="Google Shape;732;p55">
            <a:extLst>
              <a:ext uri="{FF2B5EF4-FFF2-40B4-BE49-F238E27FC236}">
                <a16:creationId xmlns:a16="http://schemas.microsoft.com/office/drawing/2014/main" id="{45EF80D7-6274-A597-16B2-838CD2923671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758" y="1492250"/>
            <a:ext cx="4936483" cy="27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32;p55">
            <a:extLst>
              <a:ext uri="{FF2B5EF4-FFF2-40B4-BE49-F238E27FC236}">
                <a16:creationId xmlns:a16="http://schemas.microsoft.com/office/drawing/2014/main" id="{BA28A7DA-9F8D-0005-6C26-0BFF40E3D75A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516" y="2668850"/>
            <a:ext cx="728965" cy="43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758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p104"/>
          <p:cNvSpPr txBox="1">
            <a:spLocks noGrp="1"/>
          </p:cNvSpPr>
          <p:nvPr>
            <p:ph type="title"/>
          </p:nvPr>
        </p:nvSpPr>
        <p:spPr>
          <a:xfrm>
            <a:off x="2178975" y="2230500"/>
            <a:ext cx="4786200" cy="82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530</a:t>
            </a:r>
            <a:endParaRPr dirty="0"/>
          </a:p>
        </p:txBody>
      </p:sp>
      <p:sp>
        <p:nvSpPr>
          <p:cNvPr id="3576" name="Google Shape;3576;p104"/>
          <p:cNvSpPr txBox="1">
            <a:spLocks noGrp="1"/>
          </p:cNvSpPr>
          <p:nvPr>
            <p:ph type="subTitle" idx="1"/>
          </p:nvPr>
        </p:nvSpPr>
        <p:spPr>
          <a:xfrm>
            <a:off x="2881650" y="3121950"/>
            <a:ext cx="3476620" cy="6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Bills that target transgender people</a:t>
            </a:r>
            <a:endParaRPr dirty="0"/>
          </a:p>
        </p:txBody>
      </p:sp>
      <p:grpSp>
        <p:nvGrpSpPr>
          <p:cNvPr id="2" name="Google Shape;4928;p116">
            <a:extLst>
              <a:ext uri="{FF2B5EF4-FFF2-40B4-BE49-F238E27FC236}">
                <a16:creationId xmlns:a16="http://schemas.microsoft.com/office/drawing/2014/main" id="{85007156-2FB3-0C29-1DD2-E6DD4F1F6766}"/>
              </a:ext>
            </a:extLst>
          </p:cNvPr>
          <p:cNvGrpSpPr/>
          <p:nvPr/>
        </p:nvGrpSpPr>
        <p:grpSpPr>
          <a:xfrm>
            <a:off x="4215593" y="850604"/>
            <a:ext cx="712814" cy="1157575"/>
            <a:chOff x="1366165" y="2769662"/>
            <a:chExt cx="242194" cy="392808"/>
          </a:xfrm>
        </p:grpSpPr>
        <p:sp>
          <p:nvSpPr>
            <p:cNvPr id="3" name="Google Shape;4929;p116">
              <a:extLst>
                <a:ext uri="{FF2B5EF4-FFF2-40B4-BE49-F238E27FC236}">
                  <a16:creationId xmlns:a16="http://schemas.microsoft.com/office/drawing/2014/main" id="{21F863D5-4D83-B4E7-6C16-61B0AE46DD9B}"/>
                </a:ext>
              </a:extLst>
            </p:cNvPr>
            <p:cNvSpPr/>
            <p:nvPr/>
          </p:nvSpPr>
          <p:spPr>
            <a:xfrm>
              <a:off x="1403183" y="2914772"/>
              <a:ext cx="128964" cy="242148"/>
            </a:xfrm>
            <a:custGeom>
              <a:avLst/>
              <a:gdLst/>
              <a:ahLst/>
              <a:cxnLst/>
              <a:rect l="l" t="t" r="r" b="b"/>
              <a:pathLst>
                <a:path w="5623" h="10558" extrusionOk="0">
                  <a:moveTo>
                    <a:pt x="1" y="0"/>
                  </a:moveTo>
                  <a:lnTo>
                    <a:pt x="1" y="10558"/>
                  </a:lnTo>
                  <a:lnTo>
                    <a:pt x="5623" y="10558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930;p116">
              <a:extLst>
                <a:ext uri="{FF2B5EF4-FFF2-40B4-BE49-F238E27FC236}">
                  <a16:creationId xmlns:a16="http://schemas.microsoft.com/office/drawing/2014/main" id="{473A8EF3-544A-52EC-22AC-FD6874552448}"/>
                </a:ext>
              </a:extLst>
            </p:cNvPr>
            <p:cNvSpPr/>
            <p:nvPr/>
          </p:nvSpPr>
          <p:spPr>
            <a:xfrm>
              <a:off x="1403183" y="2914772"/>
              <a:ext cx="128964" cy="242148"/>
            </a:xfrm>
            <a:custGeom>
              <a:avLst/>
              <a:gdLst/>
              <a:ahLst/>
              <a:cxnLst/>
              <a:rect l="l" t="t" r="r" b="b"/>
              <a:pathLst>
                <a:path w="5623" h="10558" extrusionOk="0">
                  <a:moveTo>
                    <a:pt x="1" y="0"/>
                  </a:moveTo>
                  <a:lnTo>
                    <a:pt x="1" y="3940"/>
                  </a:lnTo>
                  <a:lnTo>
                    <a:pt x="3767" y="4129"/>
                  </a:lnTo>
                  <a:cubicBezTo>
                    <a:pt x="4238" y="4156"/>
                    <a:pt x="4615" y="4532"/>
                    <a:pt x="4615" y="5004"/>
                  </a:cubicBezTo>
                  <a:lnTo>
                    <a:pt x="4615" y="10558"/>
                  </a:lnTo>
                  <a:lnTo>
                    <a:pt x="5623" y="10558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931;p116">
              <a:extLst>
                <a:ext uri="{FF2B5EF4-FFF2-40B4-BE49-F238E27FC236}">
                  <a16:creationId xmlns:a16="http://schemas.microsoft.com/office/drawing/2014/main" id="{407CCA99-9C6E-2C7D-8E73-DFBBDA7DF7E2}"/>
                </a:ext>
              </a:extLst>
            </p:cNvPr>
            <p:cNvSpPr/>
            <p:nvPr/>
          </p:nvSpPr>
          <p:spPr>
            <a:xfrm>
              <a:off x="1372037" y="2852756"/>
              <a:ext cx="190682" cy="144995"/>
            </a:xfrm>
            <a:custGeom>
              <a:avLst/>
              <a:gdLst/>
              <a:ahLst/>
              <a:cxnLst/>
              <a:rect l="l" t="t" r="r" b="b"/>
              <a:pathLst>
                <a:path w="8314" h="6322" extrusionOk="0">
                  <a:moveTo>
                    <a:pt x="1" y="0"/>
                  </a:moveTo>
                  <a:lnTo>
                    <a:pt x="1" y="3807"/>
                  </a:lnTo>
                  <a:cubicBezTo>
                    <a:pt x="1" y="5192"/>
                    <a:pt x="1117" y="6322"/>
                    <a:pt x="2503" y="6322"/>
                  </a:cubicBezTo>
                  <a:lnTo>
                    <a:pt x="6215" y="6322"/>
                  </a:lnTo>
                  <a:cubicBezTo>
                    <a:pt x="7372" y="6322"/>
                    <a:pt x="8313" y="5380"/>
                    <a:pt x="8313" y="4211"/>
                  </a:cubicBezTo>
                  <a:lnTo>
                    <a:pt x="8313" y="0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932;p116">
              <a:extLst>
                <a:ext uri="{FF2B5EF4-FFF2-40B4-BE49-F238E27FC236}">
                  <a16:creationId xmlns:a16="http://schemas.microsoft.com/office/drawing/2014/main" id="{66B6C816-356F-2166-FE06-5F7D06EF1C98}"/>
                </a:ext>
              </a:extLst>
            </p:cNvPr>
            <p:cNvSpPr/>
            <p:nvPr/>
          </p:nvSpPr>
          <p:spPr>
            <a:xfrm>
              <a:off x="1446048" y="2884498"/>
              <a:ext cx="98162" cy="113437"/>
            </a:xfrm>
            <a:custGeom>
              <a:avLst/>
              <a:gdLst/>
              <a:ahLst/>
              <a:cxnLst/>
              <a:rect l="l" t="t" r="r" b="b"/>
              <a:pathLst>
                <a:path w="4280" h="4946" extrusionOk="0">
                  <a:moveTo>
                    <a:pt x="4180" y="1"/>
                  </a:moveTo>
                  <a:cubicBezTo>
                    <a:pt x="3652" y="1"/>
                    <a:pt x="1182" y="76"/>
                    <a:pt x="607" y="1468"/>
                  </a:cubicBezTo>
                  <a:cubicBezTo>
                    <a:pt x="0" y="2937"/>
                    <a:pt x="160" y="4945"/>
                    <a:pt x="2228" y="4945"/>
                  </a:cubicBezTo>
                  <a:cubicBezTo>
                    <a:pt x="2772" y="4945"/>
                    <a:pt x="3449" y="4806"/>
                    <a:pt x="4279" y="4480"/>
                  </a:cubicBezTo>
                  <a:lnTo>
                    <a:pt x="4279" y="2"/>
                  </a:lnTo>
                  <a:cubicBezTo>
                    <a:pt x="4279" y="2"/>
                    <a:pt x="4244" y="1"/>
                    <a:pt x="4180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933;p116">
              <a:extLst>
                <a:ext uri="{FF2B5EF4-FFF2-40B4-BE49-F238E27FC236}">
                  <a16:creationId xmlns:a16="http://schemas.microsoft.com/office/drawing/2014/main" id="{198E6479-1792-92F1-F8CA-403A425E980A}"/>
                </a:ext>
              </a:extLst>
            </p:cNvPr>
            <p:cNvSpPr/>
            <p:nvPr/>
          </p:nvSpPr>
          <p:spPr>
            <a:xfrm>
              <a:off x="1419856" y="2784593"/>
              <a:ext cx="47521" cy="106143"/>
            </a:xfrm>
            <a:custGeom>
              <a:avLst/>
              <a:gdLst/>
              <a:ahLst/>
              <a:cxnLst/>
              <a:rect l="l" t="t" r="r" b="b"/>
              <a:pathLst>
                <a:path w="2072" h="4628" extrusionOk="0">
                  <a:moveTo>
                    <a:pt x="1036" y="0"/>
                  </a:moveTo>
                  <a:cubicBezTo>
                    <a:pt x="457" y="0"/>
                    <a:pt x="0" y="470"/>
                    <a:pt x="0" y="1035"/>
                  </a:cubicBezTo>
                  <a:lnTo>
                    <a:pt x="0" y="3578"/>
                  </a:lnTo>
                  <a:cubicBezTo>
                    <a:pt x="0" y="4156"/>
                    <a:pt x="457" y="4627"/>
                    <a:pt x="1036" y="4627"/>
                  </a:cubicBezTo>
                  <a:cubicBezTo>
                    <a:pt x="1614" y="4627"/>
                    <a:pt x="2071" y="4156"/>
                    <a:pt x="2071" y="3578"/>
                  </a:cubicBezTo>
                  <a:lnTo>
                    <a:pt x="2071" y="1035"/>
                  </a:lnTo>
                  <a:cubicBezTo>
                    <a:pt x="2071" y="470"/>
                    <a:pt x="1614" y="0"/>
                    <a:pt x="1036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934;p116">
              <a:extLst>
                <a:ext uri="{FF2B5EF4-FFF2-40B4-BE49-F238E27FC236}">
                  <a16:creationId xmlns:a16="http://schemas.microsoft.com/office/drawing/2014/main" id="{F41C06E2-9A91-A04E-6EAA-6D93CC7CD30E}"/>
                </a:ext>
              </a:extLst>
            </p:cNvPr>
            <p:cNvSpPr/>
            <p:nvPr/>
          </p:nvSpPr>
          <p:spPr>
            <a:xfrm>
              <a:off x="1422631" y="2784593"/>
              <a:ext cx="44746" cy="106143"/>
            </a:xfrm>
            <a:custGeom>
              <a:avLst/>
              <a:gdLst/>
              <a:ahLst/>
              <a:cxnLst/>
              <a:rect l="l" t="t" r="r" b="b"/>
              <a:pathLst>
                <a:path w="1951" h="4628" extrusionOk="0">
                  <a:moveTo>
                    <a:pt x="835" y="0"/>
                  </a:moveTo>
                  <a:cubicBezTo>
                    <a:pt x="901" y="148"/>
                    <a:pt x="955" y="309"/>
                    <a:pt x="955" y="484"/>
                  </a:cubicBezTo>
                  <a:lnTo>
                    <a:pt x="955" y="3026"/>
                  </a:lnTo>
                  <a:cubicBezTo>
                    <a:pt x="955" y="3578"/>
                    <a:pt x="525" y="4021"/>
                    <a:pt x="1" y="4062"/>
                  </a:cubicBezTo>
                  <a:cubicBezTo>
                    <a:pt x="175" y="4398"/>
                    <a:pt x="512" y="4627"/>
                    <a:pt x="915" y="4627"/>
                  </a:cubicBezTo>
                  <a:cubicBezTo>
                    <a:pt x="1493" y="4627"/>
                    <a:pt x="1950" y="4156"/>
                    <a:pt x="1950" y="3578"/>
                  </a:cubicBezTo>
                  <a:lnTo>
                    <a:pt x="1950" y="1035"/>
                  </a:lnTo>
                  <a:cubicBezTo>
                    <a:pt x="1950" y="470"/>
                    <a:pt x="1493" y="0"/>
                    <a:pt x="915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935;p116">
              <a:extLst>
                <a:ext uri="{FF2B5EF4-FFF2-40B4-BE49-F238E27FC236}">
                  <a16:creationId xmlns:a16="http://schemas.microsoft.com/office/drawing/2014/main" id="{108CC90E-C75F-C08C-0294-769D725A4921}"/>
                </a:ext>
              </a:extLst>
            </p:cNvPr>
            <p:cNvSpPr/>
            <p:nvPr/>
          </p:nvSpPr>
          <p:spPr>
            <a:xfrm>
              <a:off x="1467355" y="2775327"/>
              <a:ext cx="47842" cy="117542"/>
            </a:xfrm>
            <a:custGeom>
              <a:avLst/>
              <a:gdLst/>
              <a:ahLst/>
              <a:cxnLst/>
              <a:rect l="l" t="t" r="r" b="b"/>
              <a:pathLst>
                <a:path w="2086" h="5125" extrusionOk="0">
                  <a:moveTo>
                    <a:pt x="1037" y="1"/>
                  </a:moveTo>
                  <a:cubicBezTo>
                    <a:pt x="472" y="1"/>
                    <a:pt x="0" y="471"/>
                    <a:pt x="0" y="1036"/>
                  </a:cubicBezTo>
                  <a:lnTo>
                    <a:pt x="0" y="4090"/>
                  </a:lnTo>
                  <a:cubicBezTo>
                    <a:pt x="0" y="4667"/>
                    <a:pt x="472" y="5125"/>
                    <a:pt x="1037" y="5125"/>
                  </a:cubicBezTo>
                  <a:cubicBezTo>
                    <a:pt x="1614" y="5125"/>
                    <a:pt x="2086" y="4667"/>
                    <a:pt x="2086" y="4090"/>
                  </a:cubicBezTo>
                  <a:lnTo>
                    <a:pt x="2086" y="1036"/>
                  </a:lnTo>
                  <a:cubicBezTo>
                    <a:pt x="2086" y="471"/>
                    <a:pt x="1614" y="1"/>
                    <a:pt x="1037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936;p116">
              <a:extLst>
                <a:ext uri="{FF2B5EF4-FFF2-40B4-BE49-F238E27FC236}">
                  <a16:creationId xmlns:a16="http://schemas.microsoft.com/office/drawing/2014/main" id="{115474F8-4549-2DFA-0B5B-4F646802DAF4}"/>
                </a:ext>
              </a:extLst>
            </p:cNvPr>
            <p:cNvSpPr/>
            <p:nvPr/>
          </p:nvSpPr>
          <p:spPr>
            <a:xfrm>
              <a:off x="1469533" y="2775327"/>
              <a:ext cx="45664" cy="117542"/>
            </a:xfrm>
            <a:custGeom>
              <a:avLst/>
              <a:gdLst/>
              <a:ahLst/>
              <a:cxnLst/>
              <a:rect l="l" t="t" r="r" b="b"/>
              <a:pathLst>
                <a:path w="1991" h="5125" extrusionOk="0">
                  <a:moveTo>
                    <a:pt x="888" y="1"/>
                  </a:moveTo>
                  <a:cubicBezTo>
                    <a:pt x="955" y="135"/>
                    <a:pt x="981" y="283"/>
                    <a:pt x="981" y="431"/>
                  </a:cubicBezTo>
                  <a:lnTo>
                    <a:pt x="981" y="3484"/>
                  </a:lnTo>
                  <a:cubicBezTo>
                    <a:pt x="981" y="4036"/>
                    <a:pt x="551" y="4493"/>
                    <a:pt x="0" y="4520"/>
                  </a:cubicBezTo>
                  <a:cubicBezTo>
                    <a:pt x="162" y="4883"/>
                    <a:pt x="524" y="5125"/>
                    <a:pt x="942" y="5125"/>
                  </a:cubicBezTo>
                  <a:cubicBezTo>
                    <a:pt x="1519" y="5125"/>
                    <a:pt x="1991" y="4667"/>
                    <a:pt x="1991" y="4090"/>
                  </a:cubicBezTo>
                  <a:lnTo>
                    <a:pt x="1991" y="1036"/>
                  </a:lnTo>
                  <a:cubicBezTo>
                    <a:pt x="1991" y="471"/>
                    <a:pt x="1519" y="1"/>
                    <a:pt x="942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937;p116">
              <a:extLst>
                <a:ext uri="{FF2B5EF4-FFF2-40B4-BE49-F238E27FC236}">
                  <a16:creationId xmlns:a16="http://schemas.microsoft.com/office/drawing/2014/main" id="{A5C5CDD2-7E08-C764-AE31-65946E3A0853}"/>
                </a:ext>
              </a:extLst>
            </p:cNvPr>
            <p:cNvSpPr/>
            <p:nvPr/>
          </p:nvSpPr>
          <p:spPr>
            <a:xfrm>
              <a:off x="1515174" y="2775327"/>
              <a:ext cx="47544" cy="117542"/>
            </a:xfrm>
            <a:custGeom>
              <a:avLst/>
              <a:gdLst/>
              <a:ahLst/>
              <a:cxnLst/>
              <a:rect l="l" t="t" r="r" b="b"/>
              <a:pathLst>
                <a:path w="2073" h="5125" extrusionOk="0">
                  <a:moveTo>
                    <a:pt x="1036" y="1"/>
                  </a:moveTo>
                  <a:cubicBezTo>
                    <a:pt x="458" y="1"/>
                    <a:pt x="1" y="471"/>
                    <a:pt x="1" y="1036"/>
                  </a:cubicBezTo>
                  <a:lnTo>
                    <a:pt x="1" y="4090"/>
                  </a:lnTo>
                  <a:cubicBezTo>
                    <a:pt x="1" y="4667"/>
                    <a:pt x="458" y="5125"/>
                    <a:pt x="1036" y="5125"/>
                  </a:cubicBezTo>
                  <a:cubicBezTo>
                    <a:pt x="1615" y="5125"/>
                    <a:pt x="2072" y="4667"/>
                    <a:pt x="2072" y="4090"/>
                  </a:cubicBezTo>
                  <a:lnTo>
                    <a:pt x="2072" y="1036"/>
                  </a:lnTo>
                  <a:cubicBezTo>
                    <a:pt x="2072" y="471"/>
                    <a:pt x="1615" y="1"/>
                    <a:pt x="1036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938;p116">
              <a:extLst>
                <a:ext uri="{FF2B5EF4-FFF2-40B4-BE49-F238E27FC236}">
                  <a16:creationId xmlns:a16="http://schemas.microsoft.com/office/drawing/2014/main" id="{E96BECD9-F12F-E0B7-865B-BAA9139DCD2D}"/>
                </a:ext>
              </a:extLst>
            </p:cNvPr>
            <p:cNvSpPr/>
            <p:nvPr/>
          </p:nvSpPr>
          <p:spPr>
            <a:xfrm>
              <a:off x="1518569" y="2775327"/>
              <a:ext cx="44150" cy="117542"/>
            </a:xfrm>
            <a:custGeom>
              <a:avLst/>
              <a:gdLst/>
              <a:ahLst/>
              <a:cxnLst/>
              <a:rect l="l" t="t" r="r" b="b"/>
              <a:pathLst>
                <a:path w="1925" h="5125" extrusionOk="0">
                  <a:moveTo>
                    <a:pt x="888" y="1"/>
                  </a:moveTo>
                  <a:cubicBezTo>
                    <a:pt x="848" y="1"/>
                    <a:pt x="807" y="1"/>
                    <a:pt x="780" y="14"/>
                  </a:cubicBezTo>
                  <a:cubicBezTo>
                    <a:pt x="875" y="162"/>
                    <a:pt x="929" y="350"/>
                    <a:pt x="929" y="539"/>
                  </a:cubicBezTo>
                  <a:lnTo>
                    <a:pt x="929" y="3591"/>
                  </a:lnTo>
                  <a:cubicBezTo>
                    <a:pt x="929" y="4129"/>
                    <a:pt x="525" y="4574"/>
                    <a:pt x="0" y="4628"/>
                  </a:cubicBezTo>
                  <a:cubicBezTo>
                    <a:pt x="176" y="4923"/>
                    <a:pt x="511" y="5125"/>
                    <a:pt x="888" y="5125"/>
                  </a:cubicBezTo>
                  <a:cubicBezTo>
                    <a:pt x="1467" y="5125"/>
                    <a:pt x="1924" y="4667"/>
                    <a:pt x="1924" y="4090"/>
                  </a:cubicBezTo>
                  <a:lnTo>
                    <a:pt x="1924" y="1036"/>
                  </a:lnTo>
                  <a:cubicBezTo>
                    <a:pt x="1924" y="471"/>
                    <a:pt x="1467" y="1"/>
                    <a:pt x="888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939;p116">
              <a:extLst>
                <a:ext uri="{FF2B5EF4-FFF2-40B4-BE49-F238E27FC236}">
                  <a16:creationId xmlns:a16="http://schemas.microsoft.com/office/drawing/2014/main" id="{9D7C3DB5-8A32-00CE-C004-14AAFBD2D5B8}"/>
                </a:ext>
              </a:extLst>
            </p:cNvPr>
            <p:cNvSpPr/>
            <p:nvPr/>
          </p:nvSpPr>
          <p:spPr>
            <a:xfrm>
              <a:off x="1372037" y="2797230"/>
              <a:ext cx="47842" cy="105845"/>
            </a:xfrm>
            <a:custGeom>
              <a:avLst/>
              <a:gdLst/>
              <a:ahLst/>
              <a:cxnLst/>
              <a:rect l="l" t="t" r="r" b="b"/>
              <a:pathLst>
                <a:path w="2086" h="4615" extrusionOk="0">
                  <a:moveTo>
                    <a:pt x="1036" y="0"/>
                  </a:moveTo>
                  <a:cubicBezTo>
                    <a:pt x="471" y="0"/>
                    <a:pt x="1" y="457"/>
                    <a:pt x="1" y="1036"/>
                  </a:cubicBezTo>
                  <a:lnTo>
                    <a:pt x="1" y="3578"/>
                  </a:lnTo>
                  <a:cubicBezTo>
                    <a:pt x="1" y="4157"/>
                    <a:pt x="471" y="4614"/>
                    <a:pt x="1036" y="4614"/>
                  </a:cubicBezTo>
                  <a:cubicBezTo>
                    <a:pt x="1615" y="4614"/>
                    <a:pt x="2085" y="4157"/>
                    <a:pt x="2085" y="3578"/>
                  </a:cubicBezTo>
                  <a:lnTo>
                    <a:pt x="2085" y="1036"/>
                  </a:lnTo>
                  <a:cubicBezTo>
                    <a:pt x="2085" y="457"/>
                    <a:pt x="1615" y="0"/>
                    <a:pt x="1036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940;p116">
              <a:extLst>
                <a:ext uri="{FF2B5EF4-FFF2-40B4-BE49-F238E27FC236}">
                  <a16:creationId xmlns:a16="http://schemas.microsoft.com/office/drawing/2014/main" id="{9CD6F081-6DDC-1F54-379F-CB3035AD503A}"/>
                </a:ext>
              </a:extLst>
            </p:cNvPr>
            <p:cNvSpPr/>
            <p:nvPr/>
          </p:nvSpPr>
          <p:spPr>
            <a:xfrm>
              <a:off x="1373895" y="2797230"/>
              <a:ext cx="45985" cy="105845"/>
            </a:xfrm>
            <a:custGeom>
              <a:avLst/>
              <a:gdLst/>
              <a:ahLst/>
              <a:cxnLst/>
              <a:rect l="l" t="t" r="r" b="b"/>
              <a:pathLst>
                <a:path w="2005" h="4615" extrusionOk="0">
                  <a:moveTo>
                    <a:pt x="915" y="0"/>
                  </a:moveTo>
                  <a:cubicBezTo>
                    <a:pt x="969" y="122"/>
                    <a:pt x="996" y="256"/>
                    <a:pt x="996" y="404"/>
                  </a:cubicBezTo>
                  <a:lnTo>
                    <a:pt x="996" y="2946"/>
                  </a:lnTo>
                  <a:cubicBezTo>
                    <a:pt x="996" y="3511"/>
                    <a:pt x="552" y="3968"/>
                    <a:pt x="1" y="3995"/>
                  </a:cubicBezTo>
                  <a:cubicBezTo>
                    <a:pt x="162" y="4358"/>
                    <a:pt x="539" y="4614"/>
                    <a:pt x="955" y="4614"/>
                  </a:cubicBezTo>
                  <a:cubicBezTo>
                    <a:pt x="1534" y="4614"/>
                    <a:pt x="2004" y="4157"/>
                    <a:pt x="2004" y="3578"/>
                  </a:cubicBezTo>
                  <a:lnTo>
                    <a:pt x="2004" y="1036"/>
                  </a:lnTo>
                  <a:cubicBezTo>
                    <a:pt x="2004" y="457"/>
                    <a:pt x="1534" y="0"/>
                    <a:pt x="955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941;p116">
              <a:extLst>
                <a:ext uri="{FF2B5EF4-FFF2-40B4-BE49-F238E27FC236}">
                  <a16:creationId xmlns:a16="http://schemas.microsoft.com/office/drawing/2014/main" id="{B891A9FD-F6DE-79DE-5332-2488B4AC8EE5}"/>
                </a:ext>
              </a:extLst>
            </p:cNvPr>
            <p:cNvSpPr/>
            <p:nvPr/>
          </p:nvSpPr>
          <p:spPr>
            <a:xfrm>
              <a:off x="1469212" y="2814019"/>
              <a:ext cx="133275" cy="186897"/>
            </a:xfrm>
            <a:custGeom>
              <a:avLst/>
              <a:gdLst/>
              <a:ahLst/>
              <a:cxnLst/>
              <a:rect l="l" t="t" r="r" b="b"/>
              <a:pathLst>
                <a:path w="5811" h="8149" extrusionOk="0">
                  <a:moveTo>
                    <a:pt x="2532" y="1"/>
                  </a:moveTo>
                  <a:cubicBezTo>
                    <a:pt x="2349" y="1"/>
                    <a:pt x="2148" y="231"/>
                    <a:pt x="2045" y="667"/>
                  </a:cubicBezTo>
                  <a:cubicBezTo>
                    <a:pt x="1924" y="1138"/>
                    <a:pt x="2179" y="2214"/>
                    <a:pt x="3054" y="2618"/>
                  </a:cubicBezTo>
                  <a:lnTo>
                    <a:pt x="3551" y="2846"/>
                  </a:lnTo>
                  <a:cubicBezTo>
                    <a:pt x="3619" y="2887"/>
                    <a:pt x="3646" y="2953"/>
                    <a:pt x="3632" y="3021"/>
                  </a:cubicBezTo>
                  <a:cubicBezTo>
                    <a:pt x="3567" y="3320"/>
                    <a:pt x="3073" y="3506"/>
                    <a:pt x="2798" y="3506"/>
                  </a:cubicBezTo>
                  <a:cubicBezTo>
                    <a:pt x="2789" y="3506"/>
                    <a:pt x="2780" y="3506"/>
                    <a:pt x="2771" y="3505"/>
                  </a:cubicBezTo>
                  <a:cubicBezTo>
                    <a:pt x="2745" y="3505"/>
                    <a:pt x="2719" y="3504"/>
                    <a:pt x="2693" y="3504"/>
                  </a:cubicBezTo>
                  <a:cubicBezTo>
                    <a:pt x="1873" y="3504"/>
                    <a:pt x="1288" y="3918"/>
                    <a:pt x="740" y="4635"/>
                  </a:cubicBezTo>
                  <a:cubicBezTo>
                    <a:pt x="740" y="4635"/>
                    <a:pt x="269" y="5428"/>
                    <a:pt x="162" y="6047"/>
                  </a:cubicBezTo>
                  <a:cubicBezTo>
                    <a:pt x="0" y="7002"/>
                    <a:pt x="256" y="8011"/>
                    <a:pt x="256" y="8011"/>
                  </a:cubicBezTo>
                  <a:cubicBezTo>
                    <a:pt x="813" y="8065"/>
                    <a:pt x="1320" y="8148"/>
                    <a:pt x="1802" y="8148"/>
                  </a:cubicBezTo>
                  <a:cubicBezTo>
                    <a:pt x="2634" y="8148"/>
                    <a:pt x="3393" y="7900"/>
                    <a:pt x="4211" y="6827"/>
                  </a:cubicBezTo>
                  <a:lnTo>
                    <a:pt x="5138" y="5590"/>
                  </a:lnTo>
                  <a:cubicBezTo>
                    <a:pt x="5542" y="5052"/>
                    <a:pt x="5771" y="4406"/>
                    <a:pt x="5784" y="3748"/>
                  </a:cubicBezTo>
                  <a:lnTo>
                    <a:pt x="5811" y="1904"/>
                  </a:lnTo>
                  <a:cubicBezTo>
                    <a:pt x="5811" y="1662"/>
                    <a:pt x="5676" y="1434"/>
                    <a:pt x="5448" y="1327"/>
                  </a:cubicBezTo>
                  <a:cubicBezTo>
                    <a:pt x="4815" y="1017"/>
                    <a:pt x="2623" y="21"/>
                    <a:pt x="2623" y="21"/>
                  </a:cubicBezTo>
                  <a:cubicBezTo>
                    <a:pt x="2594" y="8"/>
                    <a:pt x="2563" y="1"/>
                    <a:pt x="2532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942;p116">
              <a:extLst>
                <a:ext uri="{FF2B5EF4-FFF2-40B4-BE49-F238E27FC236}">
                  <a16:creationId xmlns:a16="http://schemas.microsoft.com/office/drawing/2014/main" id="{0FB8F51D-7013-87C6-2692-5D5CE08F4236}"/>
                </a:ext>
              </a:extLst>
            </p:cNvPr>
            <p:cNvSpPr/>
            <p:nvPr/>
          </p:nvSpPr>
          <p:spPr>
            <a:xfrm>
              <a:off x="1507170" y="2813973"/>
              <a:ext cx="95318" cy="186920"/>
            </a:xfrm>
            <a:custGeom>
              <a:avLst/>
              <a:gdLst/>
              <a:ahLst/>
              <a:cxnLst/>
              <a:rect l="l" t="t" r="r" b="b"/>
              <a:pathLst>
                <a:path w="4156" h="8150" extrusionOk="0">
                  <a:moveTo>
                    <a:pt x="878" y="0"/>
                  </a:moveTo>
                  <a:cubicBezTo>
                    <a:pt x="745" y="0"/>
                    <a:pt x="593" y="134"/>
                    <a:pt x="484" y="373"/>
                  </a:cubicBezTo>
                  <a:cubicBezTo>
                    <a:pt x="1184" y="683"/>
                    <a:pt x="2353" y="1221"/>
                    <a:pt x="2798" y="1449"/>
                  </a:cubicBezTo>
                  <a:cubicBezTo>
                    <a:pt x="3013" y="1557"/>
                    <a:pt x="3147" y="1786"/>
                    <a:pt x="3147" y="2028"/>
                  </a:cubicBezTo>
                  <a:lnTo>
                    <a:pt x="3120" y="3857"/>
                  </a:lnTo>
                  <a:cubicBezTo>
                    <a:pt x="3106" y="4530"/>
                    <a:pt x="2891" y="5175"/>
                    <a:pt x="2488" y="5699"/>
                  </a:cubicBezTo>
                  <a:lnTo>
                    <a:pt x="1546" y="6937"/>
                  </a:lnTo>
                  <a:cubicBezTo>
                    <a:pt x="1022" y="7636"/>
                    <a:pt x="511" y="7986"/>
                    <a:pt x="0" y="8147"/>
                  </a:cubicBezTo>
                  <a:cubicBezTo>
                    <a:pt x="48" y="8149"/>
                    <a:pt x="96" y="8149"/>
                    <a:pt x="144" y="8149"/>
                  </a:cubicBezTo>
                  <a:cubicBezTo>
                    <a:pt x="974" y="8149"/>
                    <a:pt x="1728" y="7911"/>
                    <a:pt x="2556" y="6829"/>
                  </a:cubicBezTo>
                  <a:lnTo>
                    <a:pt x="3483" y="5592"/>
                  </a:lnTo>
                  <a:cubicBezTo>
                    <a:pt x="3887" y="5054"/>
                    <a:pt x="4116" y="4408"/>
                    <a:pt x="4129" y="3736"/>
                  </a:cubicBezTo>
                  <a:lnTo>
                    <a:pt x="4156" y="1906"/>
                  </a:lnTo>
                  <a:cubicBezTo>
                    <a:pt x="4156" y="1664"/>
                    <a:pt x="4021" y="1436"/>
                    <a:pt x="3793" y="1329"/>
                  </a:cubicBezTo>
                  <a:cubicBezTo>
                    <a:pt x="3160" y="1019"/>
                    <a:pt x="968" y="23"/>
                    <a:pt x="968" y="23"/>
                  </a:cubicBezTo>
                  <a:cubicBezTo>
                    <a:pt x="940" y="8"/>
                    <a:pt x="909" y="0"/>
                    <a:pt x="878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943;p116">
              <a:extLst>
                <a:ext uri="{FF2B5EF4-FFF2-40B4-BE49-F238E27FC236}">
                  <a16:creationId xmlns:a16="http://schemas.microsoft.com/office/drawing/2014/main" id="{E8901B76-2150-3EFC-7026-5C5667D51F0B}"/>
                </a:ext>
              </a:extLst>
            </p:cNvPr>
            <p:cNvSpPr/>
            <p:nvPr/>
          </p:nvSpPr>
          <p:spPr>
            <a:xfrm>
              <a:off x="1376991" y="3021167"/>
              <a:ext cx="174604" cy="49081"/>
            </a:xfrm>
            <a:custGeom>
              <a:avLst/>
              <a:gdLst/>
              <a:ahLst/>
              <a:cxnLst/>
              <a:rect l="l" t="t" r="r" b="b"/>
              <a:pathLst>
                <a:path w="7613" h="2140" extrusionOk="0">
                  <a:moveTo>
                    <a:pt x="7478" y="1"/>
                  </a:moveTo>
                  <a:lnTo>
                    <a:pt x="0" y="768"/>
                  </a:lnTo>
                  <a:lnTo>
                    <a:pt x="135" y="2140"/>
                  </a:lnTo>
                  <a:lnTo>
                    <a:pt x="7613" y="1373"/>
                  </a:lnTo>
                  <a:lnTo>
                    <a:pt x="74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944;p116">
              <a:extLst>
                <a:ext uri="{FF2B5EF4-FFF2-40B4-BE49-F238E27FC236}">
                  <a16:creationId xmlns:a16="http://schemas.microsoft.com/office/drawing/2014/main" id="{F20CFC1E-0991-BF29-7013-28C57C143F1C}"/>
                </a:ext>
              </a:extLst>
            </p:cNvPr>
            <p:cNvSpPr/>
            <p:nvPr/>
          </p:nvSpPr>
          <p:spPr>
            <a:xfrm>
              <a:off x="1380064" y="3052634"/>
              <a:ext cx="174925" cy="49379"/>
            </a:xfrm>
            <a:custGeom>
              <a:avLst/>
              <a:gdLst/>
              <a:ahLst/>
              <a:cxnLst/>
              <a:rect l="l" t="t" r="r" b="b"/>
              <a:pathLst>
                <a:path w="7627" h="2153" extrusionOk="0">
                  <a:moveTo>
                    <a:pt x="7479" y="1"/>
                  </a:moveTo>
                  <a:lnTo>
                    <a:pt x="1" y="768"/>
                  </a:lnTo>
                  <a:lnTo>
                    <a:pt x="148" y="2153"/>
                  </a:lnTo>
                  <a:lnTo>
                    <a:pt x="7626" y="1387"/>
                  </a:lnTo>
                  <a:lnTo>
                    <a:pt x="74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945;p116">
              <a:extLst>
                <a:ext uri="{FF2B5EF4-FFF2-40B4-BE49-F238E27FC236}">
                  <a16:creationId xmlns:a16="http://schemas.microsoft.com/office/drawing/2014/main" id="{3A02CFB0-BF1B-D3E8-FD64-FA87B428A955}"/>
                </a:ext>
              </a:extLst>
            </p:cNvPr>
            <p:cNvSpPr/>
            <p:nvPr/>
          </p:nvSpPr>
          <p:spPr>
            <a:xfrm>
              <a:off x="1528752" y="3052634"/>
              <a:ext cx="26238" cy="33967"/>
            </a:xfrm>
            <a:custGeom>
              <a:avLst/>
              <a:gdLst/>
              <a:ahLst/>
              <a:cxnLst/>
              <a:rect l="l" t="t" r="r" b="b"/>
              <a:pathLst>
                <a:path w="1144" h="1481" extrusionOk="0">
                  <a:moveTo>
                    <a:pt x="996" y="1"/>
                  </a:moveTo>
                  <a:lnTo>
                    <a:pt x="1" y="108"/>
                  </a:lnTo>
                  <a:lnTo>
                    <a:pt x="135" y="1480"/>
                  </a:lnTo>
                  <a:lnTo>
                    <a:pt x="1143" y="1387"/>
                  </a:lnTo>
                  <a:lnTo>
                    <a:pt x="9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946;p116">
              <a:extLst>
                <a:ext uri="{FF2B5EF4-FFF2-40B4-BE49-F238E27FC236}">
                  <a16:creationId xmlns:a16="http://schemas.microsoft.com/office/drawing/2014/main" id="{BE2ECF63-F1A2-6695-5111-8370AB908409}"/>
                </a:ext>
              </a:extLst>
            </p:cNvPr>
            <p:cNvSpPr/>
            <p:nvPr/>
          </p:nvSpPr>
          <p:spPr>
            <a:xfrm>
              <a:off x="1383458" y="3084422"/>
              <a:ext cx="174604" cy="49058"/>
            </a:xfrm>
            <a:custGeom>
              <a:avLst/>
              <a:gdLst/>
              <a:ahLst/>
              <a:cxnLst/>
              <a:rect l="l" t="t" r="r" b="b"/>
              <a:pathLst>
                <a:path w="7613" h="2139" extrusionOk="0">
                  <a:moveTo>
                    <a:pt x="7478" y="1"/>
                  </a:moveTo>
                  <a:lnTo>
                    <a:pt x="0" y="767"/>
                  </a:lnTo>
                  <a:lnTo>
                    <a:pt x="135" y="2139"/>
                  </a:lnTo>
                  <a:lnTo>
                    <a:pt x="7613" y="1373"/>
                  </a:lnTo>
                  <a:lnTo>
                    <a:pt x="74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47;p116">
              <a:extLst>
                <a:ext uri="{FF2B5EF4-FFF2-40B4-BE49-F238E27FC236}">
                  <a16:creationId xmlns:a16="http://schemas.microsoft.com/office/drawing/2014/main" id="{477A55A2-27AB-EA6B-C365-B51314C95283}"/>
                </a:ext>
              </a:extLst>
            </p:cNvPr>
            <p:cNvSpPr/>
            <p:nvPr/>
          </p:nvSpPr>
          <p:spPr>
            <a:xfrm>
              <a:off x="1531848" y="3084422"/>
              <a:ext cx="26215" cy="33646"/>
            </a:xfrm>
            <a:custGeom>
              <a:avLst/>
              <a:gdLst/>
              <a:ahLst/>
              <a:cxnLst/>
              <a:rect l="l" t="t" r="r" b="b"/>
              <a:pathLst>
                <a:path w="1143" h="1467" extrusionOk="0">
                  <a:moveTo>
                    <a:pt x="1008" y="1"/>
                  </a:moveTo>
                  <a:lnTo>
                    <a:pt x="0" y="94"/>
                  </a:lnTo>
                  <a:lnTo>
                    <a:pt x="147" y="1466"/>
                  </a:lnTo>
                  <a:lnTo>
                    <a:pt x="1143" y="1373"/>
                  </a:lnTo>
                  <a:lnTo>
                    <a:pt x="10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8;p116">
              <a:extLst>
                <a:ext uri="{FF2B5EF4-FFF2-40B4-BE49-F238E27FC236}">
                  <a16:creationId xmlns:a16="http://schemas.microsoft.com/office/drawing/2014/main" id="{C264B1BC-C3BC-4184-7F0D-2E331FAA991B}"/>
                </a:ext>
              </a:extLst>
            </p:cNvPr>
            <p:cNvSpPr/>
            <p:nvPr/>
          </p:nvSpPr>
          <p:spPr>
            <a:xfrm>
              <a:off x="1366165" y="2769662"/>
              <a:ext cx="242194" cy="392808"/>
            </a:xfrm>
            <a:custGeom>
              <a:avLst/>
              <a:gdLst/>
              <a:ahLst/>
              <a:cxnLst/>
              <a:rect l="l" t="t" r="r" b="b"/>
              <a:pathLst>
                <a:path w="10560" h="17127" extrusionOk="0">
                  <a:moveTo>
                    <a:pt x="7533" y="507"/>
                  </a:moveTo>
                  <a:cubicBezTo>
                    <a:pt x="7920" y="507"/>
                    <a:pt x="8307" y="765"/>
                    <a:pt x="8327" y="1283"/>
                  </a:cubicBezTo>
                  <a:lnTo>
                    <a:pt x="8327" y="2224"/>
                  </a:lnTo>
                  <a:cubicBezTo>
                    <a:pt x="7748" y="1969"/>
                    <a:pt x="7264" y="1740"/>
                    <a:pt x="7224" y="1727"/>
                  </a:cubicBezTo>
                  <a:cubicBezTo>
                    <a:pt x="7161" y="1695"/>
                    <a:pt x="7094" y="1682"/>
                    <a:pt x="7027" y="1682"/>
                  </a:cubicBezTo>
                  <a:cubicBezTo>
                    <a:pt x="6953" y="1682"/>
                    <a:pt x="6878" y="1699"/>
                    <a:pt x="6807" y="1727"/>
                  </a:cubicBezTo>
                  <a:cubicBezTo>
                    <a:pt x="6794" y="1740"/>
                    <a:pt x="6767" y="1754"/>
                    <a:pt x="6740" y="1767"/>
                  </a:cubicBezTo>
                  <a:lnTo>
                    <a:pt x="6740" y="1283"/>
                  </a:lnTo>
                  <a:cubicBezTo>
                    <a:pt x="6760" y="765"/>
                    <a:pt x="7146" y="507"/>
                    <a:pt x="7533" y="507"/>
                  </a:cubicBezTo>
                  <a:close/>
                  <a:moveTo>
                    <a:pt x="3377" y="906"/>
                  </a:moveTo>
                  <a:cubicBezTo>
                    <a:pt x="3754" y="906"/>
                    <a:pt x="4131" y="1155"/>
                    <a:pt x="4170" y="1659"/>
                  </a:cubicBezTo>
                  <a:lnTo>
                    <a:pt x="4170" y="4256"/>
                  </a:lnTo>
                  <a:cubicBezTo>
                    <a:pt x="4143" y="4686"/>
                    <a:pt x="3808" y="5022"/>
                    <a:pt x="3377" y="5022"/>
                  </a:cubicBezTo>
                  <a:cubicBezTo>
                    <a:pt x="2947" y="5022"/>
                    <a:pt x="2583" y="4672"/>
                    <a:pt x="2583" y="4229"/>
                  </a:cubicBezTo>
                  <a:lnTo>
                    <a:pt x="2583" y="1686"/>
                  </a:lnTo>
                  <a:cubicBezTo>
                    <a:pt x="2604" y="1169"/>
                    <a:pt x="2990" y="906"/>
                    <a:pt x="3377" y="906"/>
                  </a:cubicBezTo>
                  <a:close/>
                  <a:moveTo>
                    <a:pt x="5449" y="503"/>
                  </a:moveTo>
                  <a:cubicBezTo>
                    <a:pt x="5892" y="503"/>
                    <a:pt x="6242" y="852"/>
                    <a:pt x="6242" y="1283"/>
                  </a:cubicBezTo>
                  <a:lnTo>
                    <a:pt x="6242" y="4337"/>
                  </a:lnTo>
                  <a:cubicBezTo>
                    <a:pt x="6242" y="4767"/>
                    <a:pt x="5892" y="5130"/>
                    <a:pt x="5449" y="5130"/>
                  </a:cubicBezTo>
                  <a:cubicBezTo>
                    <a:pt x="5018" y="5130"/>
                    <a:pt x="4669" y="4767"/>
                    <a:pt x="4669" y="4337"/>
                  </a:cubicBezTo>
                  <a:lnTo>
                    <a:pt x="4669" y="1659"/>
                  </a:lnTo>
                  <a:lnTo>
                    <a:pt x="4669" y="1283"/>
                  </a:lnTo>
                  <a:cubicBezTo>
                    <a:pt x="4669" y="852"/>
                    <a:pt x="5018" y="503"/>
                    <a:pt x="5449" y="503"/>
                  </a:cubicBezTo>
                  <a:close/>
                  <a:moveTo>
                    <a:pt x="6740" y="4215"/>
                  </a:moveTo>
                  <a:cubicBezTo>
                    <a:pt x="6928" y="4444"/>
                    <a:pt x="7156" y="4645"/>
                    <a:pt x="7439" y="4780"/>
                  </a:cubicBezTo>
                  <a:lnTo>
                    <a:pt x="7843" y="4968"/>
                  </a:lnTo>
                  <a:cubicBezTo>
                    <a:pt x="7789" y="5022"/>
                    <a:pt x="7681" y="5090"/>
                    <a:pt x="7560" y="5130"/>
                  </a:cubicBezTo>
                  <a:cubicBezTo>
                    <a:pt x="7063" y="5130"/>
                    <a:pt x="6699" y="4713"/>
                    <a:pt x="6740" y="4215"/>
                  </a:cubicBezTo>
                  <a:close/>
                  <a:moveTo>
                    <a:pt x="6498" y="5103"/>
                  </a:moveTo>
                  <a:cubicBezTo>
                    <a:pt x="6538" y="5156"/>
                    <a:pt x="6578" y="5197"/>
                    <a:pt x="6618" y="5251"/>
                  </a:cubicBezTo>
                  <a:cubicBezTo>
                    <a:pt x="6471" y="5291"/>
                    <a:pt x="6309" y="5345"/>
                    <a:pt x="6175" y="5413"/>
                  </a:cubicBezTo>
                  <a:cubicBezTo>
                    <a:pt x="6295" y="5332"/>
                    <a:pt x="6403" y="5224"/>
                    <a:pt x="6498" y="5103"/>
                  </a:cubicBezTo>
                  <a:close/>
                  <a:moveTo>
                    <a:pt x="1299" y="1452"/>
                  </a:moveTo>
                  <a:cubicBezTo>
                    <a:pt x="1682" y="1452"/>
                    <a:pt x="2066" y="1714"/>
                    <a:pt x="2086" y="2238"/>
                  </a:cubicBezTo>
                  <a:lnTo>
                    <a:pt x="2086" y="4780"/>
                  </a:lnTo>
                  <a:cubicBezTo>
                    <a:pt x="2066" y="5300"/>
                    <a:pt x="1680" y="5562"/>
                    <a:pt x="1295" y="5562"/>
                  </a:cubicBezTo>
                  <a:cubicBezTo>
                    <a:pt x="913" y="5562"/>
                    <a:pt x="532" y="5303"/>
                    <a:pt x="512" y="4780"/>
                  </a:cubicBezTo>
                  <a:lnTo>
                    <a:pt x="512" y="3623"/>
                  </a:lnTo>
                  <a:lnTo>
                    <a:pt x="512" y="2238"/>
                  </a:lnTo>
                  <a:cubicBezTo>
                    <a:pt x="532" y="1714"/>
                    <a:pt x="916" y="1452"/>
                    <a:pt x="1299" y="1452"/>
                  </a:cubicBezTo>
                  <a:close/>
                  <a:moveTo>
                    <a:pt x="1857" y="10039"/>
                  </a:moveTo>
                  <a:cubicBezTo>
                    <a:pt x="2140" y="10133"/>
                    <a:pt x="2449" y="10187"/>
                    <a:pt x="2759" y="10187"/>
                  </a:cubicBezTo>
                  <a:lnTo>
                    <a:pt x="4735" y="10187"/>
                  </a:lnTo>
                  <a:cubicBezTo>
                    <a:pt x="5256" y="10243"/>
                    <a:pt x="5777" y="10331"/>
                    <a:pt x="6294" y="10331"/>
                  </a:cubicBezTo>
                  <a:cubicBezTo>
                    <a:pt x="6524" y="10331"/>
                    <a:pt x="6754" y="10313"/>
                    <a:pt x="6982" y="10267"/>
                  </a:cubicBezTo>
                  <a:lnTo>
                    <a:pt x="6982" y="10819"/>
                  </a:lnTo>
                  <a:lnTo>
                    <a:pt x="1857" y="11343"/>
                  </a:lnTo>
                  <a:lnTo>
                    <a:pt x="1857" y="10039"/>
                  </a:lnTo>
                  <a:close/>
                  <a:moveTo>
                    <a:pt x="7721" y="11236"/>
                  </a:moveTo>
                  <a:lnTo>
                    <a:pt x="7816" y="12111"/>
                  </a:lnTo>
                  <a:cubicBezTo>
                    <a:pt x="6067" y="12299"/>
                    <a:pt x="2570" y="12649"/>
                    <a:pt x="835" y="12837"/>
                  </a:cubicBezTo>
                  <a:lnTo>
                    <a:pt x="741" y="11962"/>
                  </a:lnTo>
                  <a:lnTo>
                    <a:pt x="7721" y="11236"/>
                  </a:lnTo>
                  <a:close/>
                  <a:moveTo>
                    <a:pt x="7856" y="12622"/>
                  </a:moveTo>
                  <a:lnTo>
                    <a:pt x="7950" y="13496"/>
                  </a:lnTo>
                  <a:cubicBezTo>
                    <a:pt x="6215" y="13671"/>
                    <a:pt x="2718" y="14034"/>
                    <a:pt x="983" y="14209"/>
                  </a:cubicBezTo>
                  <a:lnTo>
                    <a:pt x="889" y="13334"/>
                  </a:lnTo>
                  <a:cubicBezTo>
                    <a:pt x="2624" y="13160"/>
                    <a:pt x="6121" y="12796"/>
                    <a:pt x="7856" y="12622"/>
                  </a:cubicBezTo>
                  <a:close/>
                  <a:moveTo>
                    <a:pt x="8004" y="13994"/>
                  </a:moveTo>
                  <a:lnTo>
                    <a:pt x="8098" y="14867"/>
                  </a:lnTo>
                  <a:lnTo>
                    <a:pt x="6591" y="15016"/>
                  </a:lnTo>
                  <a:cubicBezTo>
                    <a:pt x="6265" y="15068"/>
                    <a:pt x="6307" y="15514"/>
                    <a:pt x="6618" y="15514"/>
                  </a:cubicBezTo>
                  <a:cubicBezTo>
                    <a:pt x="6627" y="15514"/>
                    <a:pt x="6636" y="15514"/>
                    <a:pt x="6645" y="15513"/>
                  </a:cubicBezTo>
                  <a:lnTo>
                    <a:pt x="6982" y="15486"/>
                  </a:lnTo>
                  <a:lnTo>
                    <a:pt x="6982" y="16630"/>
                  </a:lnTo>
                  <a:lnTo>
                    <a:pt x="1857" y="16630"/>
                  </a:lnTo>
                  <a:lnTo>
                    <a:pt x="1857" y="16011"/>
                  </a:lnTo>
                  <a:lnTo>
                    <a:pt x="5476" y="15635"/>
                  </a:lnTo>
                  <a:cubicBezTo>
                    <a:pt x="5610" y="15621"/>
                    <a:pt x="5704" y="15500"/>
                    <a:pt x="5691" y="15366"/>
                  </a:cubicBezTo>
                  <a:cubicBezTo>
                    <a:pt x="5678" y="15238"/>
                    <a:pt x="5569" y="15135"/>
                    <a:pt x="5444" y="15135"/>
                  </a:cubicBezTo>
                  <a:cubicBezTo>
                    <a:pt x="5436" y="15135"/>
                    <a:pt x="5429" y="15136"/>
                    <a:pt x="5422" y="15136"/>
                  </a:cubicBezTo>
                  <a:lnTo>
                    <a:pt x="1118" y="15581"/>
                  </a:lnTo>
                  <a:lnTo>
                    <a:pt x="1023" y="14706"/>
                  </a:lnTo>
                  <a:cubicBezTo>
                    <a:pt x="2772" y="14532"/>
                    <a:pt x="6269" y="14168"/>
                    <a:pt x="8004" y="13994"/>
                  </a:cubicBezTo>
                  <a:close/>
                  <a:moveTo>
                    <a:pt x="5462" y="1"/>
                  </a:moveTo>
                  <a:cubicBezTo>
                    <a:pt x="4977" y="1"/>
                    <a:pt x="4495" y="266"/>
                    <a:pt x="4278" y="759"/>
                  </a:cubicBezTo>
                  <a:cubicBezTo>
                    <a:pt x="4033" y="513"/>
                    <a:pt x="3714" y="400"/>
                    <a:pt x="3397" y="400"/>
                  </a:cubicBezTo>
                  <a:cubicBezTo>
                    <a:pt x="2863" y="400"/>
                    <a:pt x="2330" y="721"/>
                    <a:pt x="2153" y="1270"/>
                  </a:cubicBezTo>
                  <a:cubicBezTo>
                    <a:pt x="1908" y="1049"/>
                    <a:pt x="1613" y="950"/>
                    <a:pt x="1321" y="950"/>
                  </a:cubicBezTo>
                  <a:cubicBezTo>
                    <a:pt x="653" y="950"/>
                    <a:pt x="1" y="1470"/>
                    <a:pt x="1" y="2238"/>
                  </a:cubicBezTo>
                  <a:lnTo>
                    <a:pt x="1" y="6017"/>
                  </a:lnTo>
                  <a:cubicBezTo>
                    <a:pt x="8" y="6186"/>
                    <a:pt x="132" y="6270"/>
                    <a:pt x="257" y="6270"/>
                  </a:cubicBezTo>
                  <a:cubicBezTo>
                    <a:pt x="381" y="6270"/>
                    <a:pt x="505" y="6186"/>
                    <a:pt x="512" y="6017"/>
                  </a:cubicBezTo>
                  <a:lnTo>
                    <a:pt x="512" y="5802"/>
                  </a:lnTo>
                  <a:cubicBezTo>
                    <a:pt x="743" y="5988"/>
                    <a:pt x="1016" y="6073"/>
                    <a:pt x="1287" y="6073"/>
                  </a:cubicBezTo>
                  <a:cubicBezTo>
                    <a:pt x="1822" y="6073"/>
                    <a:pt x="2347" y="5742"/>
                    <a:pt x="2517" y="5197"/>
                  </a:cubicBezTo>
                  <a:cubicBezTo>
                    <a:pt x="2752" y="5415"/>
                    <a:pt x="3063" y="5521"/>
                    <a:pt x="3373" y="5521"/>
                  </a:cubicBezTo>
                  <a:cubicBezTo>
                    <a:pt x="3755" y="5521"/>
                    <a:pt x="4135" y="5360"/>
                    <a:pt x="4373" y="5049"/>
                  </a:cubicBezTo>
                  <a:cubicBezTo>
                    <a:pt x="4605" y="5407"/>
                    <a:pt x="5045" y="5625"/>
                    <a:pt x="5479" y="5625"/>
                  </a:cubicBezTo>
                  <a:cubicBezTo>
                    <a:pt x="5649" y="5625"/>
                    <a:pt x="5818" y="5592"/>
                    <a:pt x="5973" y="5520"/>
                  </a:cubicBezTo>
                  <a:lnTo>
                    <a:pt x="5973" y="5520"/>
                  </a:lnTo>
                  <a:cubicBezTo>
                    <a:pt x="5650" y="5721"/>
                    <a:pt x="5341" y="6017"/>
                    <a:pt x="5031" y="6421"/>
                  </a:cubicBezTo>
                  <a:cubicBezTo>
                    <a:pt x="4950" y="6528"/>
                    <a:pt x="4977" y="6690"/>
                    <a:pt x="5085" y="6770"/>
                  </a:cubicBezTo>
                  <a:cubicBezTo>
                    <a:pt x="5130" y="6804"/>
                    <a:pt x="5184" y="6822"/>
                    <a:pt x="5238" y="6822"/>
                  </a:cubicBezTo>
                  <a:cubicBezTo>
                    <a:pt x="5313" y="6822"/>
                    <a:pt x="5388" y="6788"/>
                    <a:pt x="5435" y="6717"/>
                  </a:cubicBezTo>
                  <a:cubicBezTo>
                    <a:pt x="6000" y="5977"/>
                    <a:pt x="6552" y="5694"/>
                    <a:pt x="7251" y="5694"/>
                  </a:cubicBezTo>
                  <a:cubicBezTo>
                    <a:pt x="7479" y="5694"/>
                    <a:pt x="8273" y="5466"/>
                    <a:pt x="8367" y="5009"/>
                  </a:cubicBezTo>
                  <a:cubicBezTo>
                    <a:pt x="8408" y="4821"/>
                    <a:pt x="8313" y="4632"/>
                    <a:pt x="8152" y="4552"/>
                  </a:cubicBezTo>
                  <a:lnTo>
                    <a:pt x="7654" y="4323"/>
                  </a:lnTo>
                  <a:cubicBezTo>
                    <a:pt x="6753" y="3879"/>
                    <a:pt x="6525" y="2628"/>
                    <a:pt x="7022" y="2185"/>
                  </a:cubicBezTo>
                  <a:lnTo>
                    <a:pt x="7022" y="2185"/>
                  </a:lnTo>
                  <a:cubicBezTo>
                    <a:pt x="7224" y="2278"/>
                    <a:pt x="9242" y="3193"/>
                    <a:pt x="9833" y="3489"/>
                  </a:cubicBezTo>
                  <a:cubicBezTo>
                    <a:pt x="9968" y="3556"/>
                    <a:pt x="10049" y="3691"/>
                    <a:pt x="10049" y="3838"/>
                  </a:cubicBezTo>
                  <a:lnTo>
                    <a:pt x="10022" y="5668"/>
                  </a:lnTo>
                  <a:cubicBezTo>
                    <a:pt x="10008" y="6286"/>
                    <a:pt x="9806" y="6878"/>
                    <a:pt x="9443" y="7362"/>
                  </a:cubicBezTo>
                  <a:cubicBezTo>
                    <a:pt x="8068" y="9200"/>
                    <a:pt x="7684" y="9824"/>
                    <a:pt x="6244" y="9824"/>
                  </a:cubicBezTo>
                  <a:cubicBezTo>
                    <a:pt x="5840" y="9824"/>
                    <a:pt x="5352" y="9775"/>
                    <a:pt x="4735" y="9690"/>
                  </a:cubicBezTo>
                  <a:lnTo>
                    <a:pt x="2759" y="9690"/>
                  </a:lnTo>
                  <a:cubicBezTo>
                    <a:pt x="1427" y="9690"/>
                    <a:pt x="404" y="8519"/>
                    <a:pt x="512" y="7188"/>
                  </a:cubicBezTo>
                  <a:cubicBezTo>
                    <a:pt x="512" y="7053"/>
                    <a:pt x="391" y="6946"/>
                    <a:pt x="257" y="6946"/>
                  </a:cubicBezTo>
                  <a:cubicBezTo>
                    <a:pt x="122" y="6946"/>
                    <a:pt x="1" y="7053"/>
                    <a:pt x="1" y="7188"/>
                  </a:cubicBezTo>
                  <a:lnTo>
                    <a:pt x="1" y="7430"/>
                  </a:lnTo>
                  <a:cubicBezTo>
                    <a:pt x="1" y="8438"/>
                    <a:pt x="553" y="9326"/>
                    <a:pt x="1360" y="9810"/>
                  </a:cubicBezTo>
                  <a:lnTo>
                    <a:pt x="1360" y="11397"/>
                  </a:lnTo>
                  <a:lnTo>
                    <a:pt x="445" y="11478"/>
                  </a:lnTo>
                  <a:cubicBezTo>
                    <a:pt x="311" y="11492"/>
                    <a:pt x="203" y="11626"/>
                    <a:pt x="216" y="11761"/>
                  </a:cubicBezTo>
                  <a:cubicBezTo>
                    <a:pt x="297" y="12446"/>
                    <a:pt x="431" y="13818"/>
                    <a:pt x="499" y="14505"/>
                  </a:cubicBezTo>
                  <a:lnTo>
                    <a:pt x="646" y="15877"/>
                  </a:lnTo>
                  <a:cubicBezTo>
                    <a:pt x="660" y="16014"/>
                    <a:pt x="766" y="16106"/>
                    <a:pt x="889" y="16106"/>
                  </a:cubicBezTo>
                  <a:cubicBezTo>
                    <a:pt x="898" y="16106"/>
                    <a:pt x="907" y="16106"/>
                    <a:pt x="915" y="16105"/>
                  </a:cubicBezTo>
                  <a:lnTo>
                    <a:pt x="1360" y="16065"/>
                  </a:lnTo>
                  <a:lnTo>
                    <a:pt x="1360" y="16885"/>
                  </a:lnTo>
                  <a:cubicBezTo>
                    <a:pt x="1360" y="17019"/>
                    <a:pt x="1467" y="17127"/>
                    <a:pt x="1602" y="17127"/>
                  </a:cubicBezTo>
                  <a:lnTo>
                    <a:pt x="7237" y="17127"/>
                  </a:lnTo>
                  <a:cubicBezTo>
                    <a:pt x="7371" y="17127"/>
                    <a:pt x="7479" y="17019"/>
                    <a:pt x="7479" y="16885"/>
                  </a:cubicBezTo>
                  <a:lnTo>
                    <a:pt x="7479" y="15432"/>
                  </a:lnTo>
                  <a:lnTo>
                    <a:pt x="8394" y="15339"/>
                  </a:lnTo>
                  <a:cubicBezTo>
                    <a:pt x="8528" y="15325"/>
                    <a:pt x="8636" y="15204"/>
                    <a:pt x="8623" y="15070"/>
                  </a:cubicBezTo>
                  <a:cubicBezTo>
                    <a:pt x="8542" y="14383"/>
                    <a:pt x="8408" y="12998"/>
                    <a:pt x="8340" y="12312"/>
                  </a:cubicBezTo>
                  <a:lnTo>
                    <a:pt x="8192" y="10940"/>
                  </a:lnTo>
                  <a:cubicBezTo>
                    <a:pt x="8179" y="10813"/>
                    <a:pt x="8072" y="10711"/>
                    <a:pt x="7947" y="10711"/>
                  </a:cubicBezTo>
                  <a:cubicBezTo>
                    <a:pt x="7939" y="10711"/>
                    <a:pt x="7931" y="10711"/>
                    <a:pt x="7923" y="10712"/>
                  </a:cubicBezTo>
                  <a:lnTo>
                    <a:pt x="7479" y="10766"/>
                  </a:lnTo>
                  <a:lnTo>
                    <a:pt x="7479" y="10120"/>
                  </a:lnTo>
                  <a:cubicBezTo>
                    <a:pt x="7950" y="9905"/>
                    <a:pt x="8421" y="9541"/>
                    <a:pt x="8905" y="8910"/>
                  </a:cubicBezTo>
                  <a:cubicBezTo>
                    <a:pt x="9645" y="7887"/>
                    <a:pt x="10533" y="7053"/>
                    <a:pt x="10519" y="5682"/>
                  </a:cubicBezTo>
                  <a:lnTo>
                    <a:pt x="10546" y="3852"/>
                  </a:lnTo>
                  <a:cubicBezTo>
                    <a:pt x="10560" y="3503"/>
                    <a:pt x="10357" y="3193"/>
                    <a:pt x="10061" y="3031"/>
                  </a:cubicBezTo>
                  <a:cubicBezTo>
                    <a:pt x="9806" y="2911"/>
                    <a:pt x="9322" y="2682"/>
                    <a:pt x="8824" y="2454"/>
                  </a:cubicBezTo>
                  <a:lnTo>
                    <a:pt x="8824" y="1283"/>
                  </a:lnTo>
                  <a:cubicBezTo>
                    <a:pt x="8824" y="497"/>
                    <a:pt x="8179" y="4"/>
                    <a:pt x="7521" y="4"/>
                  </a:cubicBezTo>
                  <a:cubicBezTo>
                    <a:pt x="7144" y="4"/>
                    <a:pt x="6763" y="167"/>
                    <a:pt x="6498" y="530"/>
                  </a:cubicBezTo>
                  <a:cubicBezTo>
                    <a:pt x="6240" y="171"/>
                    <a:pt x="5850" y="1"/>
                    <a:pt x="5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2008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Legislative Map</a:t>
            </a:r>
            <a:endParaRPr dirty="0"/>
          </a:p>
        </p:txBody>
      </p:sp>
      <p:sp>
        <p:nvSpPr>
          <p:cNvPr id="752" name="Google Shape;752;p56"/>
          <p:cNvSpPr txBox="1"/>
          <p:nvPr/>
        </p:nvSpPr>
        <p:spPr>
          <a:xfrm>
            <a:off x="-1" y="4757075"/>
            <a:ext cx="5348177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200" dirty="0">
                <a:solidFill>
                  <a:schemeClr val="accent6"/>
                </a:solidFill>
                <a:latin typeface="Gothic A1"/>
                <a:ea typeface="Gothic A1"/>
                <a:cs typeface="Gothic A1"/>
                <a:sym typeface="Gothic A1"/>
              </a:rPr>
              <a:t>May Anti-Trans Legislative Risk Map, Erin Reed, Erin in the Morning 2023</a:t>
            </a:r>
            <a:endParaRPr sz="1200" dirty="0">
              <a:solidFill>
                <a:schemeClr val="accent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334141-638A-0A32-EDF6-2EEFC0B05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245" y="1254303"/>
            <a:ext cx="4911134" cy="344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418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does this relate?</a:t>
            </a:r>
            <a:endParaRPr dirty="0"/>
          </a:p>
        </p:txBody>
      </p:sp>
      <p:sp>
        <p:nvSpPr>
          <p:cNvPr id="3" name="Google Shape;1196;p73">
            <a:extLst>
              <a:ext uri="{FF2B5EF4-FFF2-40B4-BE49-F238E27FC236}">
                <a16:creationId xmlns:a16="http://schemas.microsoft.com/office/drawing/2014/main" id="{62F23897-3807-56D3-DD99-E4B6679C5C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97889" y="1852047"/>
            <a:ext cx="23910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High Rate of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Trans Youth Homelessness</a:t>
            </a:r>
            <a:endParaRPr dirty="0"/>
          </a:p>
        </p:txBody>
      </p:sp>
      <p:sp>
        <p:nvSpPr>
          <p:cNvPr id="4" name="Google Shape;1196;p73">
            <a:extLst>
              <a:ext uri="{FF2B5EF4-FFF2-40B4-BE49-F238E27FC236}">
                <a16:creationId xmlns:a16="http://schemas.microsoft.com/office/drawing/2014/main" id="{ED8F90D1-45E3-0D56-0D2F-5B8FAE8182BB}"/>
              </a:ext>
            </a:extLst>
          </p:cNvPr>
          <p:cNvSpPr txBox="1">
            <a:spLocks/>
          </p:cNvSpPr>
          <p:nvPr/>
        </p:nvSpPr>
        <p:spPr>
          <a:xfrm>
            <a:off x="5618745" y="1904545"/>
            <a:ext cx="2391000" cy="719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pPr marL="0" indent="0"/>
            <a:r>
              <a:rPr lang="en-US" dirty="0"/>
              <a:t>HUD Exchange</a:t>
            </a:r>
          </a:p>
          <a:p>
            <a:pPr marL="0" indent="0"/>
            <a:r>
              <a:rPr lang="en-US" dirty="0"/>
              <a:t>Homelessness Dataset</a:t>
            </a:r>
          </a:p>
        </p:txBody>
      </p:sp>
      <p:sp>
        <p:nvSpPr>
          <p:cNvPr id="6" name="Google Shape;721;p55">
            <a:extLst>
              <a:ext uri="{FF2B5EF4-FFF2-40B4-BE49-F238E27FC236}">
                <a16:creationId xmlns:a16="http://schemas.microsoft.com/office/drawing/2014/main" id="{050EEE10-DCE3-ED2F-915E-2FB210F71FF2}"/>
              </a:ext>
            </a:extLst>
          </p:cNvPr>
          <p:cNvSpPr txBox="1">
            <a:spLocks/>
          </p:cNvSpPr>
          <p:nvPr/>
        </p:nvSpPr>
        <p:spPr>
          <a:xfrm>
            <a:off x="5618745" y="1414947"/>
            <a:ext cx="2391000" cy="43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pPr marL="0" indent="0"/>
            <a:r>
              <a:rPr lang="en-US" dirty="0"/>
              <a:t>Data</a:t>
            </a:r>
          </a:p>
        </p:txBody>
      </p:sp>
      <p:sp>
        <p:nvSpPr>
          <p:cNvPr id="7" name="Google Shape;719;p55">
            <a:extLst>
              <a:ext uri="{FF2B5EF4-FFF2-40B4-BE49-F238E27FC236}">
                <a16:creationId xmlns:a16="http://schemas.microsoft.com/office/drawing/2014/main" id="{FB6EBA17-613D-2680-6ED5-3EC73005CCB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67317" y="1414947"/>
            <a:ext cx="23910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Rumors</a:t>
            </a:r>
            <a:endParaRPr dirty="0"/>
          </a:p>
        </p:txBody>
      </p:sp>
      <p:sp>
        <p:nvSpPr>
          <p:cNvPr id="8" name="Google Shape;723;p55">
            <a:extLst>
              <a:ext uri="{FF2B5EF4-FFF2-40B4-BE49-F238E27FC236}">
                <a16:creationId xmlns:a16="http://schemas.microsoft.com/office/drawing/2014/main" id="{95A9CA7F-9ACC-7DF6-1DFD-09DE9E517E26}"/>
              </a:ext>
            </a:extLst>
          </p:cNvPr>
          <p:cNvSpPr txBox="1">
            <a:spLocks/>
          </p:cNvSpPr>
          <p:nvPr/>
        </p:nvSpPr>
        <p:spPr>
          <a:xfrm>
            <a:off x="3376500" y="3072904"/>
            <a:ext cx="2391000" cy="43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 ExtraBold"/>
              <a:buNone/>
              <a:defRPr sz="2000" b="0" i="0" u="none" strike="noStrike" cap="none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pPr marL="0" indent="0"/>
            <a:r>
              <a:rPr lang="en-US" dirty="0"/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53806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0.27448 0.32222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15" y="16111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0.27188 0.3222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94" y="16111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2.59259E-6 L -0.24514 0.3222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57" y="16111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4" grpId="1"/>
      <p:bldP spid="6" grpId="0" animBg="1"/>
      <p:bldP spid="6" grpId="1" animBg="1"/>
      <p:bldP spid="7" grpId="0" uiExpand="1" build="p" animBg="1"/>
      <p:bldP spid="7" grpId="1" uiExpand="1" build="p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8" name="Google Shape;1418;p77"/>
          <p:cNvGrpSpPr/>
          <p:nvPr/>
        </p:nvGrpSpPr>
        <p:grpSpPr>
          <a:xfrm>
            <a:off x="2660105" y="3701050"/>
            <a:ext cx="3818045" cy="416700"/>
            <a:chOff x="2763930" y="3701050"/>
            <a:chExt cx="3818045" cy="416700"/>
          </a:xfrm>
        </p:grpSpPr>
        <p:grpSp>
          <p:nvGrpSpPr>
            <p:cNvPr id="1419" name="Google Shape;1419;p77"/>
            <p:cNvGrpSpPr/>
            <p:nvPr/>
          </p:nvGrpSpPr>
          <p:grpSpPr>
            <a:xfrm flipH="1">
              <a:off x="3464648" y="3701050"/>
              <a:ext cx="3117327" cy="416700"/>
              <a:chOff x="148" y="3759225"/>
              <a:chExt cx="3117327" cy="416700"/>
            </a:xfrm>
          </p:grpSpPr>
          <p:sp>
            <p:nvSpPr>
              <p:cNvPr id="1420" name="Google Shape;1420;p77"/>
              <p:cNvSpPr/>
              <p:nvPr/>
            </p:nvSpPr>
            <p:spPr>
              <a:xfrm flipH="1">
                <a:off x="700675" y="3759225"/>
                <a:ext cx="2416800" cy="4167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77"/>
              <p:cNvSpPr/>
              <p:nvPr/>
            </p:nvSpPr>
            <p:spPr>
              <a:xfrm flipH="1">
                <a:off x="560768" y="3759225"/>
                <a:ext cx="140100" cy="4167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77"/>
              <p:cNvSpPr/>
              <p:nvPr/>
            </p:nvSpPr>
            <p:spPr>
              <a:xfrm flipH="1">
                <a:off x="420644" y="3759225"/>
                <a:ext cx="140100" cy="4167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77"/>
              <p:cNvSpPr/>
              <p:nvPr/>
            </p:nvSpPr>
            <p:spPr>
              <a:xfrm flipH="1">
                <a:off x="280430" y="3759225"/>
                <a:ext cx="140100" cy="4167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77"/>
              <p:cNvSpPr/>
              <p:nvPr/>
            </p:nvSpPr>
            <p:spPr>
              <a:xfrm flipH="1">
                <a:off x="140300" y="3759225"/>
                <a:ext cx="140100" cy="416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77"/>
              <p:cNvSpPr/>
              <p:nvPr/>
            </p:nvSpPr>
            <p:spPr>
              <a:xfrm flipH="1">
                <a:off x="148" y="3759225"/>
                <a:ext cx="140100" cy="416700"/>
              </a:xfrm>
              <a:prstGeom prst="rect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6" name="Google Shape;1426;p77"/>
            <p:cNvGrpSpPr/>
            <p:nvPr/>
          </p:nvGrpSpPr>
          <p:grpSpPr>
            <a:xfrm>
              <a:off x="2763930" y="3701050"/>
              <a:ext cx="700720" cy="416700"/>
              <a:chOff x="148" y="3759225"/>
              <a:chExt cx="700720" cy="416700"/>
            </a:xfrm>
          </p:grpSpPr>
          <p:sp>
            <p:nvSpPr>
              <p:cNvPr id="1427" name="Google Shape;1427;p77"/>
              <p:cNvSpPr/>
              <p:nvPr/>
            </p:nvSpPr>
            <p:spPr>
              <a:xfrm flipH="1">
                <a:off x="560768" y="3759225"/>
                <a:ext cx="140100" cy="4167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77"/>
              <p:cNvSpPr/>
              <p:nvPr/>
            </p:nvSpPr>
            <p:spPr>
              <a:xfrm flipH="1">
                <a:off x="420644" y="3759225"/>
                <a:ext cx="140100" cy="4167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77"/>
              <p:cNvSpPr/>
              <p:nvPr/>
            </p:nvSpPr>
            <p:spPr>
              <a:xfrm flipH="1">
                <a:off x="280430" y="3759225"/>
                <a:ext cx="140100" cy="4167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77"/>
              <p:cNvSpPr/>
              <p:nvPr/>
            </p:nvSpPr>
            <p:spPr>
              <a:xfrm flipH="1">
                <a:off x="140300" y="3759225"/>
                <a:ext cx="140100" cy="416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77"/>
              <p:cNvSpPr/>
              <p:nvPr/>
            </p:nvSpPr>
            <p:spPr>
              <a:xfrm flipH="1">
                <a:off x="148" y="3759225"/>
                <a:ext cx="140100" cy="416700"/>
              </a:xfrm>
              <a:prstGeom prst="rect">
                <a:avLst/>
              </a:pr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32" name="Google Shape;1432;p77"/>
          <p:cNvSpPr txBox="1">
            <a:spLocks noGrp="1"/>
          </p:cNvSpPr>
          <p:nvPr>
            <p:ph type="subTitle" idx="1"/>
          </p:nvPr>
        </p:nvSpPr>
        <p:spPr>
          <a:xfrm>
            <a:off x="2376805" y="1056474"/>
            <a:ext cx="4384835" cy="25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Is there a </a:t>
            </a:r>
            <a:r>
              <a:rPr lang="en" b="1" dirty="0">
                <a:solidFill>
                  <a:srgbClr val="EE841A"/>
                </a:solidFill>
              </a:rPr>
              <a:t>major disparity</a:t>
            </a:r>
            <a:br>
              <a:rPr lang="en" b="1" dirty="0">
                <a:solidFill>
                  <a:srgbClr val="EE841A"/>
                </a:solidFill>
              </a:rPr>
            </a:br>
            <a:r>
              <a:rPr lang="en" dirty="0"/>
              <a:t>in the amount of</a:t>
            </a:r>
            <a:br>
              <a:rPr lang="en" dirty="0"/>
            </a:br>
            <a:r>
              <a:rPr lang="en" b="1" dirty="0">
                <a:solidFill>
                  <a:srgbClr val="A32CBB"/>
                </a:solidFill>
              </a:rPr>
              <a:t>homeless trans people</a:t>
            </a:r>
            <a:br>
              <a:rPr lang="en" b="1" dirty="0">
                <a:solidFill>
                  <a:srgbClr val="A32CBB"/>
                </a:solidFill>
              </a:rPr>
            </a:br>
            <a:r>
              <a:rPr lang="en" dirty="0"/>
              <a:t>between </a:t>
            </a:r>
            <a:r>
              <a:rPr lang="en" b="1" dirty="0">
                <a:solidFill>
                  <a:srgbClr val="EC1E1E"/>
                </a:solidFill>
              </a:rPr>
              <a:t>anti-trans</a:t>
            </a:r>
            <a:br>
              <a:rPr lang="en" dirty="0"/>
            </a:br>
            <a:r>
              <a:rPr lang="en" dirty="0"/>
              <a:t>states and </a:t>
            </a:r>
            <a:r>
              <a:rPr lang="en" b="1" dirty="0">
                <a:solidFill>
                  <a:srgbClr val="4646E0"/>
                </a:solidFill>
              </a:rPr>
              <a:t>pro-trans</a:t>
            </a:r>
            <a:br>
              <a:rPr lang="en" dirty="0"/>
            </a:br>
            <a:r>
              <a:rPr lang="en" dirty="0"/>
              <a:t>states from </a:t>
            </a:r>
            <a:r>
              <a:rPr lang="en" b="1" dirty="0">
                <a:solidFill>
                  <a:srgbClr val="FFD966"/>
                </a:solidFill>
              </a:rPr>
              <a:t>2016-2020</a:t>
            </a:r>
            <a:r>
              <a:rPr lang="en" dirty="0"/>
              <a:t>?</a:t>
            </a:r>
            <a:endParaRPr dirty="0"/>
          </a:p>
        </p:txBody>
      </p:sp>
      <p:sp>
        <p:nvSpPr>
          <p:cNvPr id="1433" name="Google Shape;1433;p77"/>
          <p:cNvSpPr txBox="1">
            <a:spLocks noGrp="1"/>
          </p:cNvSpPr>
          <p:nvPr>
            <p:ph type="subTitle" idx="2"/>
          </p:nvPr>
        </p:nvSpPr>
        <p:spPr>
          <a:xfrm>
            <a:off x="2284864" y="3633100"/>
            <a:ext cx="4580100" cy="5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My Research Question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114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8" name="Google Shape;1438;p78"/>
          <p:cNvGrpSpPr/>
          <p:nvPr/>
        </p:nvGrpSpPr>
        <p:grpSpPr>
          <a:xfrm flipH="1">
            <a:off x="4325051" y="4084225"/>
            <a:ext cx="4818949" cy="416700"/>
            <a:chOff x="148" y="3759225"/>
            <a:chExt cx="4818949" cy="416700"/>
          </a:xfrm>
        </p:grpSpPr>
        <p:sp>
          <p:nvSpPr>
            <p:cNvPr id="1439" name="Google Shape;1439;p78"/>
            <p:cNvSpPr/>
            <p:nvPr/>
          </p:nvSpPr>
          <p:spPr>
            <a:xfrm flipH="1">
              <a:off x="700697" y="3759225"/>
              <a:ext cx="4118400" cy="416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78"/>
            <p:cNvSpPr/>
            <p:nvPr/>
          </p:nvSpPr>
          <p:spPr>
            <a:xfrm flipH="1">
              <a:off x="560768" y="3759225"/>
              <a:ext cx="140100" cy="416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78"/>
            <p:cNvSpPr/>
            <p:nvPr/>
          </p:nvSpPr>
          <p:spPr>
            <a:xfrm flipH="1">
              <a:off x="420644" y="3759225"/>
              <a:ext cx="140100" cy="4167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78"/>
            <p:cNvSpPr/>
            <p:nvPr/>
          </p:nvSpPr>
          <p:spPr>
            <a:xfrm flipH="1">
              <a:off x="280430" y="3759225"/>
              <a:ext cx="140100" cy="4167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78"/>
            <p:cNvSpPr/>
            <p:nvPr/>
          </p:nvSpPr>
          <p:spPr>
            <a:xfrm flipH="1">
              <a:off x="140300" y="3759225"/>
              <a:ext cx="140100" cy="416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78"/>
            <p:cNvSpPr/>
            <p:nvPr/>
          </p:nvSpPr>
          <p:spPr>
            <a:xfrm flipH="1">
              <a:off x="148" y="3759225"/>
              <a:ext cx="140100" cy="4167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5" name="Google Shape;1445;p78"/>
          <p:cNvSpPr txBox="1">
            <a:spLocks noGrp="1"/>
          </p:cNvSpPr>
          <p:nvPr>
            <p:ph type="subTitle" idx="1"/>
          </p:nvPr>
        </p:nvSpPr>
        <p:spPr>
          <a:xfrm>
            <a:off x="4398800" y="1384425"/>
            <a:ext cx="3944400" cy="251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There will be more </a:t>
            </a:r>
            <a:r>
              <a:rPr lang="en" b="1" dirty="0">
                <a:solidFill>
                  <a:srgbClr val="A32CBB"/>
                </a:solidFill>
              </a:rPr>
              <a:t>homeless trans people </a:t>
            </a:r>
            <a:r>
              <a:rPr lang="en" dirty="0"/>
              <a:t>in </a:t>
            </a:r>
            <a:r>
              <a:rPr lang="en" b="1" dirty="0">
                <a:solidFill>
                  <a:srgbClr val="EC1E1E"/>
                </a:solidFill>
              </a:rPr>
              <a:t>anti-trans </a:t>
            </a:r>
            <a:r>
              <a:rPr lang="en" dirty="0"/>
              <a:t>states from </a:t>
            </a:r>
            <a:r>
              <a:rPr lang="en" b="1" dirty="0">
                <a:solidFill>
                  <a:srgbClr val="FFD966"/>
                </a:solidFill>
              </a:rPr>
              <a:t>2016-2020.</a:t>
            </a:r>
            <a:endParaRPr b="1" dirty="0">
              <a:solidFill>
                <a:srgbClr val="FFD966"/>
              </a:solidFill>
            </a:endParaRPr>
          </a:p>
        </p:txBody>
      </p:sp>
      <p:sp>
        <p:nvSpPr>
          <p:cNvPr id="1446" name="Google Shape;1446;p78"/>
          <p:cNvSpPr txBox="1">
            <a:spLocks noGrp="1"/>
          </p:cNvSpPr>
          <p:nvPr>
            <p:ph type="subTitle" idx="2"/>
          </p:nvPr>
        </p:nvSpPr>
        <p:spPr>
          <a:xfrm>
            <a:off x="4696095" y="4016275"/>
            <a:ext cx="3651600" cy="5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—My Hypothesis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202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1"/>
          <p:cNvSpPr txBox="1">
            <a:spLocks noGrp="1"/>
          </p:cNvSpPr>
          <p:nvPr>
            <p:ph type="title"/>
          </p:nvPr>
        </p:nvSpPr>
        <p:spPr>
          <a:xfrm>
            <a:off x="3890625" y="2781800"/>
            <a:ext cx="3699300" cy="7035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Methods</a:t>
            </a:r>
            <a:endParaRPr dirty="0"/>
          </a:p>
        </p:txBody>
      </p:sp>
      <p:sp>
        <p:nvSpPr>
          <p:cNvPr id="820" name="Google Shape;820;p61"/>
          <p:cNvSpPr txBox="1">
            <a:spLocks noGrp="1"/>
          </p:cNvSpPr>
          <p:nvPr>
            <p:ph type="title" idx="2"/>
          </p:nvPr>
        </p:nvSpPr>
        <p:spPr>
          <a:xfrm>
            <a:off x="3890625" y="1025650"/>
            <a:ext cx="3699300" cy="15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1" name="Google Shape;821;p61"/>
          <p:cNvSpPr txBox="1">
            <a:spLocks noGrp="1"/>
          </p:cNvSpPr>
          <p:nvPr>
            <p:ph type="subTitle" idx="1"/>
          </p:nvPr>
        </p:nvSpPr>
        <p:spPr>
          <a:xfrm>
            <a:off x="3890625" y="3650750"/>
            <a:ext cx="31569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Two Categories</a:t>
            </a:r>
            <a:endParaRPr dirty="0"/>
          </a:p>
        </p:txBody>
      </p:sp>
      <p:sp>
        <p:nvSpPr>
          <p:cNvPr id="890" name="Google Shape;890;p66"/>
          <p:cNvSpPr txBox="1">
            <a:spLocks noGrp="1"/>
          </p:cNvSpPr>
          <p:nvPr>
            <p:ph type="subTitle" idx="1"/>
          </p:nvPr>
        </p:nvSpPr>
        <p:spPr>
          <a:xfrm>
            <a:off x="720000" y="2065801"/>
            <a:ext cx="3766940" cy="7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AL, AR, FL, GA, IA, ID, IN, KS, KY, MO, MS, MT, ND, NE, OK, SD, TN, TX, UT</a:t>
            </a:r>
            <a:endParaRPr dirty="0"/>
          </a:p>
        </p:txBody>
      </p:sp>
      <p:sp>
        <p:nvSpPr>
          <p:cNvPr id="891" name="Google Shape;891;p66"/>
          <p:cNvSpPr txBox="1">
            <a:spLocks noGrp="1"/>
          </p:cNvSpPr>
          <p:nvPr>
            <p:ph type="subTitle" idx="2"/>
          </p:nvPr>
        </p:nvSpPr>
        <p:spPr>
          <a:xfrm>
            <a:off x="720000" y="1634876"/>
            <a:ext cx="3661200" cy="4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Anti-Trans</a:t>
            </a:r>
            <a:endParaRPr dirty="0"/>
          </a:p>
        </p:txBody>
      </p:sp>
      <p:sp>
        <p:nvSpPr>
          <p:cNvPr id="892" name="Google Shape;892;p66"/>
          <p:cNvSpPr txBox="1">
            <a:spLocks noGrp="1"/>
          </p:cNvSpPr>
          <p:nvPr>
            <p:ph type="subTitle" idx="3"/>
          </p:nvPr>
        </p:nvSpPr>
        <p:spPr>
          <a:xfrm>
            <a:off x="4762800" y="3629320"/>
            <a:ext cx="3661200" cy="7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CA, CO, CT, HI, IL, MA, MD, MN, NJ, NM, NY, OR, VT, WA</a:t>
            </a:r>
            <a:endParaRPr dirty="0"/>
          </a:p>
        </p:txBody>
      </p:sp>
      <p:sp>
        <p:nvSpPr>
          <p:cNvPr id="893" name="Google Shape;893;p66"/>
          <p:cNvSpPr txBox="1">
            <a:spLocks noGrp="1"/>
          </p:cNvSpPr>
          <p:nvPr>
            <p:ph type="subTitle" idx="4"/>
          </p:nvPr>
        </p:nvSpPr>
        <p:spPr>
          <a:xfrm>
            <a:off x="4762800" y="3185095"/>
            <a:ext cx="3661200" cy="437100"/>
          </a:xfrm>
          <a:prstGeom prst="rect">
            <a:avLst/>
          </a:prstGeom>
          <a:solidFill>
            <a:srgbClr val="13A35F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Pro-Trans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ED1E00F-EC4C-FA11-D26E-6E2491133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013" y="1283972"/>
            <a:ext cx="2610251" cy="163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532E3D0-E7F0-9CCA-2BD6-0491A463F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474" y="3224526"/>
            <a:ext cx="2610252" cy="1622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52;p56">
            <a:extLst>
              <a:ext uri="{FF2B5EF4-FFF2-40B4-BE49-F238E27FC236}">
                <a16:creationId xmlns:a16="http://schemas.microsoft.com/office/drawing/2014/main" id="{C836A02E-E707-941B-474C-77B725903C4D}"/>
              </a:ext>
            </a:extLst>
          </p:cNvPr>
          <p:cNvSpPr txBox="1"/>
          <p:nvPr/>
        </p:nvSpPr>
        <p:spPr>
          <a:xfrm>
            <a:off x="4762800" y="4867183"/>
            <a:ext cx="5288277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000" dirty="0">
                <a:solidFill>
                  <a:schemeClr val="accent6"/>
                </a:solidFill>
                <a:latin typeface="Gothic A1"/>
                <a:ea typeface="Gothic A1"/>
                <a:cs typeface="Gothic A1"/>
                <a:sym typeface="Gothic A1"/>
              </a:rPr>
              <a:t>May Anti-Trans Legislative Risk Map, Erin Reed, Erin in the Morning 2023</a:t>
            </a:r>
            <a:endParaRPr sz="1000" dirty="0">
              <a:solidFill>
                <a:schemeClr val="accent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  <p:extLst>
      <p:ext uri="{BB962C8B-B14F-4D97-AF65-F5344CB8AC3E}">
        <p14:creationId xmlns:p14="http://schemas.microsoft.com/office/powerpoint/2010/main" val="101519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9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9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" grpId="0" build="p"/>
      <p:bldP spid="891" grpId="0" uiExpand="1" build="p" animBg="1"/>
      <p:bldP spid="892" grpId="0" build="p"/>
      <p:bldP spid="893" grpId="0" uiExpand="1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Statistical Analysis</a:t>
            </a:r>
            <a:endParaRPr dirty="0"/>
          </a:p>
        </p:txBody>
      </p:sp>
      <p:sp>
        <p:nvSpPr>
          <p:cNvPr id="1197" name="Google Shape;1197;p73"/>
          <p:cNvSpPr txBox="1">
            <a:spLocks noGrp="1"/>
          </p:cNvSpPr>
          <p:nvPr>
            <p:ph type="subTitle" idx="2"/>
          </p:nvPr>
        </p:nvSpPr>
        <p:spPr>
          <a:xfrm>
            <a:off x="1599638" y="3166950"/>
            <a:ext cx="2391000" cy="4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Unpaired T-Test</a:t>
            </a:r>
            <a:endParaRPr dirty="0"/>
          </a:p>
        </p:txBody>
      </p:sp>
      <p:sp>
        <p:nvSpPr>
          <p:cNvPr id="1199" name="Google Shape;1199;p73"/>
          <p:cNvSpPr txBox="1">
            <a:spLocks noGrp="1"/>
          </p:cNvSpPr>
          <p:nvPr>
            <p:ph type="subTitle" idx="4"/>
          </p:nvPr>
        </p:nvSpPr>
        <p:spPr>
          <a:xfrm>
            <a:off x="5153363" y="3166950"/>
            <a:ext cx="2391000" cy="4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Grubb’s Outlier</a:t>
            </a:r>
            <a:endParaRPr dirty="0"/>
          </a:p>
        </p:txBody>
      </p:sp>
      <p:grpSp>
        <p:nvGrpSpPr>
          <p:cNvPr id="2" name="Google Shape;2601;p82">
            <a:extLst>
              <a:ext uri="{FF2B5EF4-FFF2-40B4-BE49-F238E27FC236}">
                <a16:creationId xmlns:a16="http://schemas.microsoft.com/office/drawing/2014/main" id="{20E595CC-35A9-5BDD-4256-5F872A049C5D}"/>
              </a:ext>
            </a:extLst>
          </p:cNvPr>
          <p:cNvGrpSpPr/>
          <p:nvPr/>
        </p:nvGrpSpPr>
        <p:grpSpPr>
          <a:xfrm>
            <a:off x="4011903" y="1531089"/>
            <a:ext cx="1162557" cy="1477926"/>
            <a:chOff x="6539732" y="1351926"/>
            <a:chExt cx="357230" cy="399965"/>
          </a:xfrm>
        </p:grpSpPr>
        <p:sp>
          <p:nvSpPr>
            <p:cNvPr id="3" name="Google Shape;2602;p82">
              <a:extLst>
                <a:ext uri="{FF2B5EF4-FFF2-40B4-BE49-F238E27FC236}">
                  <a16:creationId xmlns:a16="http://schemas.microsoft.com/office/drawing/2014/main" id="{86B50C60-B1C2-FD74-A5C0-826C9B0E3D06}"/>
                </a:ext>
              </a:extLst>
            </p:cNvPr>
            <p:cNvSpPr/>
            <p:nvPr/>
          </p:nvSpPr>
          <p:spPr>
            <a:xfrm>
              <a:off x="6575134" y="1355614"/>
              <a:ext cx="286468" cy="79546"/>
            </a:xfrm>
            <a:custGeom>
              <a:avLst/>
              <a:gdLst/>
              <a:ahLst/>
              <a:cxnLst/>
              <a:rect l="l" t="t" r="r" b="b"/>
              <a:pathLst>
                <a:path w="13829" h="3840" extrusionOk="0">
                  <a:moveTo>
                    <a:pt x="0" y="0"/>
                  </a:moveTo>
                  <a:lnTo>
                    <a:pt x="0" y="765"/>
                  </a:lnTo>
                  <a:lnTo>
                    <a:pt x="0" y="2309"/>
                  </a:lnTo>
                  <a:lnTo>
                    <a:pt x="0" y="3839"/>
                  </a:lnTo>
                  <a:lnTo>
                    <a:pt x="13828" y="3839"/>
                  </a:lnTo>
                  <a:lnTo>
                    <a:pt x="13828" y="2309"/>
                  </a:lnTo>
                  <a:lnTo>
                    <a:pt x="13828" y="765"/>
                  </a:lnTo>
                  <a:lnTo>
                    <a:pt x="13828" y="0"/>
                  </a:lnTo>
                  <a:lnTo>
                    <a:pt x="10753" y="0"/>
                  </a:lnTo>
                  <a:lnTo>
                    <a:pt x="10753" y="765"/>
                  </a:lnTo>
                  <a:lnTo>
                    <a:pt x="10753" y="2309"/>
                  </a:lnTo>
                  <a:lnTo>
                    <a:pt x="3074" y="2309"/>
                  </a:lnTo>
                  <a:lnTo>
                    <a:pt x="3074" y="765"/>
                  </a:lnTo>
                  <a:lnTo>
                    <a:pt x="30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603;p82">
              <a:extLst>
                <a:ext uri="{FF2B5EF4-FFF2-40B4-BE49-F238E27FC236}">
                  <a16:creationId xmlns:a16="http://schemas.microsoft.com/office/drawing/2014/main" id="{EBE382EC-0546-E10C-C6EA-B671571489CA}"/>
                </a:ext>
              </a:extLst>
            </p:cNvPr>
            <p:cNvSpPr/>
            <p:nvPr/>
          </p:nvSpPr>
          <p:spPr>
            <a:xfrm>
              <a:off x="6571446" y="1351926"/>
              <a:ext cx="293822" cy="86920"/>
            </a:xfrm>
            <a:custGeom>
              <a:avLst/>
              <a:gdLst/>
              <a:ahLst/>
              <a:cxnLst/>
              <a:rect l="l" t="t" r="r" b="b"/>
              <a:pathLst>
                <a:path w="14184" h="4196" extrusionOk="0">
                  <a:moveTo>
                    <a:pt x="13815" y="355"/>
                  </a:moveTo>
                  <a:lnTo>
                    <a:pt x="13815" y="3840"/>
                  </a:lnTo>
                  <a:lnTo>
                    <a:pt x="369" y="3840"/>
                  </a:lnTo>
                  <a:lnTo>
                    <a:pt x="369" y="355"/>
                  </a:lnTo>
                  <a:lnTo>
                    <a:pt x="3075" y="355"/>
                  </a:lnTo>
                  <a:lnTo>
                    <a:pt x="3075" y="2665"/>
                  </a:lnTo>
                  <a:lnTo>
                    <a:pt x="11109" y="2665"/>
                  </a:lnTo>
                  <a:lnTo>
                    <a:pt x="11109" y="355"/>
                  </a:lnTo>
                  <a:close/>
                  <a:moveTo>
                    <a:pt x="0" y="0"/>
                  </a:moveTo>
                  <a:lnTo>
                    <a:pt x="0" y="4195"/>
                  </a:lnTo>
                  <a:lnTo>
                    <a:pt x="14183" y="4195"/>
                  </a:lnTo>
                  <a:lnTo>
                    <a:pt x="14183" y="0"/>
                  </a:lnTo>
                  <a:lnTo>
                    <a:pt x="10754" y="0"/>
                  </a:lnTo>
                  <a:lnTo>
                    <a:pt x="10754" y="2296"/>
                  </a:lnTo>
                  <a:lnTo>
                    <a:pt x="3430" y="2296"/>
                  </a:lnTo>
                  <a:lnTo>
                    <a:pt x="34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604;p82">
              <a:extLst>
                <a:ext uri="{FF2B5EF4-FFF2-40B4-BE49-F238E27FC236}">
                  <a16:creationId xmlns:a16="http://schemas.microsoft.com/office/drawing/2014/main" id="{18F8DF17-93F3-A578-44D5-B0AA4D064B92}"/>
                </a:ext>
              </a:extLst>
            </p:cNvPr>
            <p:cNvSpPr/>
            <p:nvPr/>
          </p:nvSpPr>
          <p:spPr>
            <a:xfrm>
              <a:off x="6543419" y="1371461"/>
              <a:ext cx="31735" cy="31984"/>
            </a:xfrm>
            <a:custGeom>
              <a:avLst/>
              <a:gdLst/>
              <a:ahLst/>
              <a:cxnLst/>
              <a:rect l="l" t="t" r="r" b="b"/>
              <a:pathLst>
                <a:path w="1532" h="1544" extrusionOk="0">
                  <a:moveTo>
                    <a:pt x="766" y="0"/>
                  </a:moveTo>
                  <a:cubicBezTo>
                    <a:pt x="342" y="0"/>
                    <a:pt x="1" y="356"/>
                    <a:pt x="1" y="766"/>
                  </a:cubicBezTo>
                  <a:cubicBezTo>
                    <a:pt x="1" y="1189"/>
                    <a:pt x="342" y="1544"/>
                    <a:pt x="766" y="1544"/>
                  </a:cubicBezTo>
                  <a:lnTo>
                    <a:pt x="1531" y="1544"/>
                  </a:lnTo>
                  <a:lnTo>
                    <a:pt x="15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605;p82">
              <a:extLst>
                <a:ext uri="{FF2B5EF4-FFF2-40B4-BE49-F238E27FC236}">
                  <a16:creationId xmlns:a16="http://schemas.microsoft.com/office/drawing/2014/main" id="{9B2A2B6B-5E61-4537-FD69-DA92C024BDC2}"/>
                </a:ext>
              </a:extLst>
            </p:cNvPr>
            <p:cNvSpPr/>
            <p:nvPr/>
          </p:nvSpPr>
          <p:spPr>
            <a:xfrm>
              <a:off x="6539732" y="1367773"/>
              <a:ext cx="39379" cy="39379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1531" y="355"/>
                  </a:moveTo>
                  <a:lnTo>
                    <a:pt x="1531" y="1531"/>
                  </a:lnTo>
                  <a:lnTo>
                    <a:pt x="944" y="1531"/>
                  </a:lnTo>
                  <a:cubicBezTo>
                    <a:pt x="629" y="1531"/>
                    <a:pt x="356" y="1271"/>
                    <a:pt x="356" y="944"/>
                  </a:cubicBezTo>
                  <a:cubicBezTo>
                    <a:pt x="356" y="629"/>
                    <a:pt x="629" y="355"/>
                    <a:pt x="944" y="355"/>
                  </a:cubicBezTo>
                  <a:close/>
                  <a:moveTo>
                    <a:pt x="944" y="0"/>
                  </a:moveTo>
                  <a:cubicBezTo>
                    <a:pt x="425" y="0"/>
                    <a:pt x="1" y="424"/>
                    <a:pt x="1" y="944"/>
                  </a:cubicBezTo>
                  <a:cubicBezTo>
                    <a:pt x="1" y="1476"/>
                    <a:pt x="425" y="1900"/>
                    <a:pt x="944" y="1900"/>
                  </a:cubicBezTo>
                  <a:lnTo>
                    <a:pt x="1900" y="1900"/>
                  </a:lnTo>
                  <a:lnTo>
                    <a:pt x="19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06;p82">
              <a:extLst>
                <a:ext uri="{FF2B5EF4-FFF2-40B4-BE49-F238E27FC236}">
                  <a16:creationId xmlns:a16="http://schemas.microsoft.com/office/drawing/2014/main" id="{2F36AC0F-4569-9F5A-A688-15788DFFA2D4}"/>
                </a:ext>
              </a:extLst>
            </p:cNvPr>
            <p:cNvSpPr/>
            <p:nvPr/>
          </p:nvSpPr>
          <p:spPr>
            <a:xfrm>
              <a:off x="6638811" y="1371461"/>
              <a:ext cx="159091" cy="31984"/>
            </a:xfrm>
            <a:custGeom>
              <a:avLst/>
              <a:gdLst/>
              <a:ahLst/>
              <a:cxnLst/>
              <a:rect l="l" t="t" r="r" b="b"/>
              <a:pathLst>
                <a:path w="7680" h="1544" extrusionOk="0">
                  <a:moveTo>
                    <a:pt x="0" y="0"/>
                  </a:moveTo>
                  <a:lnTo>
                    <a:pt x="0" y="1544"/>
                  </a:lnTo>
                  <a:lnTo>
                    <a:pt x="7679" y="1544"/>
                  </a:lnTo>
                  <a:lnTo>
                    <a:pt x="7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07;p82">
              <a:extLst>
                <a:ext uri="{FF2B5EF4-FFF2-40B4-BE49-F238E27FC236}">
                  <a16:creationId xmlns:a16="http://schemas.microsoft.com/office/drawing/2014/main" id="{B4C680CC-8BA2-3015-2575-7CB7A65FA70F}"/>
                </a:ext>
              </a:extLst>
            </p:cNvPr>
            <p:cNvSpPr/>
            <p:nvPr/>
          </p:nvSpPr>
          <p:spPr>
            <a:xfrm>
              <a:off x="6635124" y="1367773"/>
              <a:ext cx="166466" cy="39379"/>
            </a:xfrm>
            <a:custGeom>
              <a:avLst/>
              <a:gdLst/>
              <a:ahLst/>
              <a:cxnLst/>
              <a:rect l="l" t="t" r="r" b="b"/>
              <a:pathLst>
                <a:path w="8036" h="1901" extrusionOk="0">
                  <a:moveTo>
                    <a:pt x="7680" y="355"/>
                  </a:moveTo>
                  <a:lnTo>
                    <a:pt x="7680" y="1531"/>
                  </a:lnTo>
                  <a:lnTo>
                    <a:pt x="356" y="1531"/>
                  </a:lnTo>
                  <a:lnTo>
                    <a:pt x="356" y="355"/>
                  </a:lnTo>
                  <a:close/>
                  <a:moveTo>
                    <a:pt x="1" y="0"/>
                  </a:moveTo>
                  <a:lnTo>
                    <a:pt x="1" y="1900"/>
                  </a:lnTo>
                  <a:lnTo>
                    <a:pt x="8035" y="1900"/>
                  </a:lnTo>
                  <a:lnTo>
                    <a:pt x="80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608;p82">
              <a:extLst>
                <a:ext uri="{FF2B5EF4-FFF2-40B4-BE49-F238E27FC236}">
                  <a16:creationId xmlns:a16="http://schemas.microsoft.com/office/drawing/2014/main" id="{48314540-74FA-2551-24A1-AD7BE98C615A}"/>
                </a:ext>
              </a:extLst>
            </p:cNvPr>
            <p:cNvSpPr/>
            <p:nvPr/>
          </p:nvSpPr>
          <p:spPr>
            <a:xfrm>
              <a:off x="6861581" y="1371461"/>
              <a:ext cx="31715" cy="31984"/>
            </a:xfrm>
            <a:custGeom>
              <a:avLst/>
              <a:gdLst/>
              <a:ahLst/>
              <a:cxnLst/>
              <a:rect l="l" t="t" r="r" b="b"/>
              <a:pathLst>
                <a:path w="1531" h="1544" extrusionOk="0">
                  <a:moveTo>
                    <a:pt x="0" y="0"/>
                  </a:moveTo>
                  <a:lnTo>
                    <a:pt x="0" y="1544"/>
                  </a:lnTo>
                  <a:lnTo>
                    <a:pt x="765" y="1544"/>
                  </a:lnTo>
                  <a:cubicBezTo>
                    <a:pt x="1188" y="1544"/>
                    <a:pt x="1531" y="1189"/>
                    <a:pt x="1531" y="766"/>
                  </a:cubicBezTo>
                  <a:cubicBezTo>
                    <a:pt x="1531" y="356"/>
                    <a:pt x="1188" y="0"/>
                    <a:pt x="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609;p82">
              <a:extLst>
                <a:ext uri="{FF2B5EF4-FFF2-40B4-BE49-F238E27FC236}">
                  <a16:creationId xmlns:a16="http://schemas.microsoft.com/office/drawing/2014/main" id="{25119215-F9F1-802F-1CB4-8668BF85E547}"/>
                </a:ext>
              </a:extLst>
            </p:cNvPr>
            <p:cNvSpPr/>
            <p:nvPr/>
          </p:nvSpPr>
          <p:spPr>
            <a:xfrm>
              <a:off x="6857603" y="1367773"/>
              <a:ext cx="39359" cy="39379"/>
            </a:xfrm>
            <a:custGeom>
              <a:avLst/>
              <a:gdLst/>
              <a:ahLst/>
              <a:cxnLst/>
              <a:rect l="l" t="t" r="r" b="b"/>
              <a:pathLst>
                <a:path w="1900" h="1901" extrusionOk="0">
                  <a:moveTo>
                    <a:pt x="957" y="355"/>
                  </a:moveTo>
                  <a:cubicBezTo>
                    <a:pt x="1271" y="355"/>
                    <a:pt x="1544" y="629"/>
                    <a:pt x="1544" y="944"/>
                  </a:cubicBezTo>
                  <a:cubicBezTo>
                    <a:pt x="1544" y="1271"/>
                    <a:pt x="1271" y="1531"/>
                    <a:pt x="957" y="1531"/>
                  </a:cubicBezTo>
                  <a:lnTo>
                    <a:pt x="369" y="1531"/>
                  </a:lnTo>
                  <a:lnTo>
                    <a:pt x="369" y="355"/>
                  </a:lnTo>
                  <a:close/>
                  <a:moveTo>
                    <a:pt x="1" y="0"/>
                  </a:moveTo>
                  <a:lnTo>
                    <a:pt x="1" y="1900"/>
                  </a:lnTo>
                  <a:lnTo>
                    <a:pt x="957" y="1900"/>
                  </a:lnTo>
                  <a:cubicBezTo>
                    <a:pt x="1477" y="1900"/>
                    <a:pt x="1900" y="1476"/>
                    <a:pt x="1900" y="944"/>
                  </a:cubicBezTo>
                  <a:cubicBezTo>
                    <a:pt x="1900" y="424"/>
                    <a:pt x="1477" y="0"/>
                    <a:pt x="9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610;p82">
              <a:extLst>
                <a:ext uri="{FF2B5EF4-FFF2-40B4-BE49-F238E27FC236}">
                  <a16:creationId xmlns:a16="http://schemas.microsoft.com/office/drawing/2014/main" id="{680444A1-A1CF-77BC-2AB4-2620F542602B}"/>
                </a:ext>
              </a:extLst>
            </p:cNvPr>
            <p:cNvSpPr/>
            <p:nvPr/>
          </p:nvSpPr>
          <p:spPr>
            <a:xfrm>
              <a:off x="6575134" y="1435138"/>
              <a:ext cx="47831" cy="311657"/>
            </a:xfrm>
            <a:custGeom>
              <a:avLst/>
              <a:gdLst/>
              <a:ahLst/>
              <a:cxnLst/>
              <a:rect l="l" t="t" r="r" b="b"/>
              <a:pathLst>
                <a:path w="2309" h="15045" extrusionOk="0">
                  <a:moveTo>
                    <a:pt x="0" y="0"/>
                  </a:moveTo>
                  <a:lnTo>
                    <a:pt x="0" y="15045"/>
                  </a:lnTo>
                  <a:lnTo>
                    <a:pt x="2309" y="14280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611;p82">
              <a:extLst>
                <a:ext uri="{FF2B5EF4-FFF2-40B4-BE49-F238E27FC236}">
                  <a16:creationId xmlns:a16="http://schemas.microsoft.com/office/drawing/2014/main" id="{ED79FB5A-48F5-A97F-48D9-A598FADEAEC3}"/>
                </a:ext>
              </a:extLst>
            </p:cNvPr>
            <p:cNvSpPr/>
            <p:nvPr/>
          </p:nvSpPr>
          <p:spPr>
            <a:xfrm>
              <a:off x="6571446" y="1431472"/>
              <a:ext cx="55226" cy="320420"/>
            </a:xfrm>
            <a:custGeom>
              <a:avLst/>
              <a:gdLst/>
              <a:ahLst/>
              <a:cxnLst/>
              <a:rect l="l" t="t" r="r" b="b"/>
              <a:pathLst>
                <a:path w="2666" h="15468" extrusionOk="0">
                  <a:moveTo>
                    <a:pt x="2310" y="355"/>
                  </a:moveTo>
                  <a:lnTo>
                    <a:pt x="2310" y="14320"/>
                  </a:lnTo>
                  <a:lnTo>
                    <a:pt x="369" y="14976"/>
                  </a:lnTo>
                  <a:lnTo>
                    <a:pt x="369" y="355"/>
                  </a:lnTo>
                  <a:close/>
                  <a:moveTo>
                    <a:pt x="0" y="0"/>
                  </a:moveTo>
                  <a:lnTo>
                    <a:pt x="0" y="15468"/>
                  </a:lnTo>
                  <a:lnTo>
                    <a:pt x="2665" y="14579"/>
                  </a:lnTo>
                  <a:lnTo>
                    <a:pt x="26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612;p82">
              <a:extLst>
                <a:ext uri="{FF2B5EF4-FFF2-40B4-BE49-F238E27FC236}">
                  <a16:creationId xmlns:a16="http://schemas.microsoft.com/office/drawing/2014/main" id="{9D7B594D-342D-C66D-1ADD-E6E72EB8A143}"/>
                </a:ext>
              </a:extLst>
            </p:cNvPr>
            <p:cNvSpPr/>
            <p:nvPr/>
          </p:nvSpPr>
          <p:spPr>
            <a:xfrm>
              <a:off x="6622944" y="1435138"/>
              <a:ext cx="47582" cy="295810"/>
            </a:xfrm>
            <a:custGeom>
              <a:avLst/>
              <a:gdLst/>
              <a:ahLst/>
              <a:cxnLst/>
              <a:rect l="l" t="t" r="r" b="b"/>
              <a:pathLst>
                <a:path w="2297" h="14280" extrusionOk="0">
                  <a:moveTo>
                    <a:pt x="1" y="0"/>
                  </a:moveTo>
                  <a:lnTo>
                    <a:pt x="1" y="14280"/>
                  </a:lnTo>
                  <a:lnTo>
                    <a:pt x="2296" y="13514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613;p82">
              <a:extLst>
                <a:ext uri="{FF2B5EF4-FFF2-40B4-BE49-F238E27FC236}">
                  <a16:creationId xmlns:a16="http://schemas.microsoft.com/office/drawing/2014/main" id="{1EB57816-99F8-72E5-9BA3-471063503139}"/>
                </a:ext>
              </a:extLst>
            </p:cNvPr>
            <p:cNvSpPr/>
            <p:nvPr/>
          </p:nvSpPr>
          <p:spPr>
            <a:xfrm>
              <a:off x="6619277" y="1431472"/>
              <a:ext cx="55205" cy="304573"/>
            </a:xfrm>
            <a:custGeom>
              <a:avLst/>
              <a:gdLst/>
              <a:ahLst/>
              <a:cxnLst/>
              <a:rect l="l" t="t" r="r" b="b"/>
              <a:pathLst>
                <a:path w="2665" h="14703" extrusionOk="0">
                  <a:moveTo>
                    <a:pt x="2296" y="355"/>
                  </a:moveTo>
                  <a:lnTo>
                    <a:pt x="2296" y="13555"/>
                  </a:lnTo>
                  <a:lnTo>
                    <a:pt x="356" y="14211"/>
                  </a:lnTo>
                  <a:lnTo>
                    <a:pt x="356" y="355"/>
                  </a:lnTo>
                  <a:close/>
                  <a:moveTo>
                    <a:pt x="1" y="0"/>
                  </a:moveTo>
                  <a:lnTo>
                    <a:pt x="1" y="14702"/>
                  </a:lnTo>
                  <a:lnTo>
                    <a:pt x="2665" y="13814"/>
                  </a:lnTo>
                  <a:lnTo>
                    <a:pt x="26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614;p82">
              <a:extLst>
                <a:ext uri="{FF2B5EF4-FFF2-40B4-BE49-F238E27FC236}">
                  <a16:creationId xmlns:a16="http://schemas.microsoft.com/office/drawing/2014/main" id="{18E0CB2D-40E8-F091-5020-6BF896EB2808}"/>
                </a:ext>
              </a:extLst>
            </p:cNvPr>
            <p:cNvSpPr/>
            <p:nvPr/>
          </p:nvSpPr>
          <p:spPr>
            <a:xfrm>
              <a:off x="6670505" y="1435138"/>
              <a:ext cx="47872" cy="279963"/>
            </a:xfrm>
            <a:custGeom>
              <a:avLst/>
              <a:gdLst/>
              <a:ahLst/>
              <a:cxnLst/>
              <a:rect l="l" t="t" r="r" b="b"/>
              <a:pathLst>
                <a:path w="2311" h="13515" extrusionOk="0">
                  <a:moveTo>
                    <a:pt x="0" y="0"/>
                  </a:moveTo>
                  <a:lnTo>
                    <a:pt x="0" y="13514"/>
                  </a:lnTo>
                  <a:lnTo>
                    <a:pt x="2310" y="1273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615;p82">
              <a:extLst>
                <a:ext uri="{FF2B5EF4-FFF2-40B4-BE49-F238E27FC236}">
                  <a16:creationId xmlns:a16="http://schemas.microsoft.com/office/drawing/2014/main" id="{C59060AB-AC0C-5DF8-F818-E28AD7776ED9}"/>
                </a:ext>
              </a:extLst>
            </p:cNvPr>
            <p:cNvSpPr/>
            <p:nvPr/>
          </p:nvSpPr>
          <p:spPr>
            <a:xfrm>
              <a:off x="6666839" y="1431472"/>
              <a:ext cx="55205" cy="288726"/>
            </a:xfrm>
            <a:custGeom>
              <a:avLst/>
              <a:gdLst/>
              <a:ahLst/>
              <a:cxnLst/>
              <a:rect l="l" t="t" r="r" b="b"/>
              <a:pathLst>
                <a:path w="2665" h="13938" extrusionOk="0">
                  <a:moveTo>
                    <a:pt x="2309" y="355"/>
                  </a:moveTo>
                  <a:lnTo>
                    <a:pt x="2309" y="12790"/>
                  </a:lnTo>
                  <a:lnTo>
                    <a:pt x="369" y="13431"/>
                  </a:lnTo>
                  <a:lnTo>
                    <a:pt x="369" y="355"/>
                  </a:lnTo>
                  <a:close/>
                  <a:moveTo>
                    <a:pt x="0" y="0"/>
                  </a:moveTo>
                  <a:lnTo>
                    <a:pt x="0" y="13937"/>
                  </a:lnTo>
                  <a:lnTo>
                    <a:pt x="2664" y="13049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616;p82">
              <a:extLst>
                <a:ext uri="{FF2B5EF4-FFF2-40B4-BE49-F238E27FC236}">
                  <a16:creationId xmlns:a16="http://schemas.microsoft.com/office/drawing/2014/main" id="{449E63FD-5705-726C-33DA-8B67E1C5D373}"/>
                </a:ext>
              </a:extLst>
            </p:cNvPr>
            <p:cNvSpPr/>
            <p:nvPr/>
          </p:nvSpPr>
          <p:spPr>
            <a:xfrm>
              <a:off x="6718357" y="1435138"/>
              <a:ext cx="47831" cy="279963"/>
            </a:xfrm>
            <a:custGeom>
              <a:avLst/>
              <a:gdLst/>
              <a:ahLst/>
              <a:cxnLst/>
              <a:rect l="l" t="t" r="r" b="b"/>
              <a:pathLst>
                <a:path w="2309" h="13515" extrusionOk="0">
                  <a:moveTo>
                    <a:pt x="0" y="0"/>
                  </a:moveTo>
                  <a:lnTo>
                    <a:pt x="0" y="12735"/>
                  </a:lnTo>
                  <a:lnTo>
                    <a:pt x="2309" y="13514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617;p82">
              <a:extLst>
                <a:ext uri="{FF2B5EF4-FFF2-40B4-BE49-F238E27FC236}">
                  <a16:creationId xmlns:a16="http://schemas.microsoft.com/office/drawing/2014/main" id="{09B04387-BFC6-090A-5825-B395971735B8}"/>
                </a:ext>
              </a:extLst>
            </p:cNvPr>
            <p:cNvSpPr/>
            <p:nvPr/>
          </p:nvSpPr>
          <p:spPr>
            <a:xfrm>
              <a:off x="6714670" y="1431472"/>
              <a:ext cx="55226" cy="288726"/>
            </a:xfrm>
            <a:custGeom>
              <a:avLst/>
              <a:gdLst/>
              <a:ahLst/>
              <a:cxnLst/>
              <a:rect l="l" t="t" r="r" b="b"/>
              <a:pathLst>
                <a:path w="2666" h="13938" extrusionOk="0">
                  <a:moveTo>
                    <a:pt x="2296" y="355"/>
                  </a:moveTo>
                  <a:lnTo>
                    <a:pt x="2296" y="13431"/>
                  </a:lnTo>
                  <a:lnTo>
                    <a:pt x="355" y="12790"/>
                  </a:lnTo>
                  <a:lnTo>
                    <a:pt x="355" y="355"/>
                  </a:lnTo>
                  <a:close/>
                  <a:moveTo>
                    <a:pt x="0" y="0"/>
                  </a:moveTo>
                  <a:lnTo>
                    <a:pt x="0" y="13049"/>
                  </a:lnTo>
                  <a:lnTo>
                    <a:pt x="2665" y="13937"/>
                  </a:lnTo>
                  <a:lnTo>
                    <a:pt x="26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618;p82">
              <a:extLst>
                <a:ext uri="{FF2B5EF4-FFF2-40B4-BE49-F238E27FC236}">
                  <a16:creationId xmlns:a16="http://schemas.microsoft.com/office/drawing/2014/main" id="{8CC4B510-303F-1BDD-72F7-BD2CB75F0116}"/>
                </a:ext>
              </a:extLst>
            </p:cNvPr>
            <p:cNvSpPr/>
            <p:nvPr/>
          </p:nvSpPr>
          <p:spPr>
            <a:xfrm>
              <a:off x="6766167" y="1435138"/>
              <a:ext cx="47582" cy="295810"/>
            </a:xfrm>
            <a:custGeom>
              <a:avLst/>
              <a:gdLst/>
              <a:ahLst/>
              <a:cxnLst/>
              <a:rect l="l" t="t" r="r" b="b"/>
              <a:pathLst>
                <a:path w="2297" h="14280" extrusionOk="0">
                  <a:moveTo>
                    <a:pt x="1" y="0"/>
                  </a:moveTo>
                  <a:lnTo>
                    <a:pt x="1" y="13514"/>
                  </a:lnTo>
                  <a:lnTo>
                    <a:pt x="2296" y="14280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619;p82">
              <a:extLst>
                <a:ext uri="{FF2B5EF4-FFF2-40B4-BE49-F238E27FC236}">
                  <a16:creationId xmlns:a16="http://schemas.microsoft.com/office/drawing/2014/main" id="{78AE4A89-FA85-FDA9-B4A1-9615690090BD}"/>
                </a:ext>
              </a:extLst>
            </p:cNvPr>
            <p:cNvSpPr/>
            <p:nvPr/>
          </p:nvSpPr>
          <p:spPr>
            <a:xfrm>
              <a:off x="6762211" y="1431472"/>
              <a:ext cx="55226" cy="304573"/>
            </a:xfrm>
            <a:custGeom>
              <a:avLst/>
              <a:gdLst/>
              <a:ahLst/>
              <a:cxnLst/>
              <a:rect l="l" t="t" r="r" b="b"/>
              <a:pathLst>
                <a:path w="2666" h="14703" extrusionOk="0">
                  <a:moveTo>
                    <a:pt x="2310" y="355"/>
                  </a:moveTo>
                  <a:lnTo>
                    <a:pt x="2310" y="14211"/>
                  </a:lnTo>
                  <a:lnTo>
                    <a:pt x="370" y="13555"/>
                  </a:lnTo>
                  <a:lnTo>
                    <a:pt x="370" y="355"/>
                  </a:lnTo>
                  <a:close/>
                  <a:moveTo>
                    <a:pt x="1" y="0"/>
                  </a:moveTo>
                  <a:lnTo>
                    <a:pt x="1" y="13814"/>
                  </a:lnTo>
                  <a:lnTo>
                    <a:pt x="2666" y="14702"/>
                  </a:lnTo>
                  <a:lnTo>
                    <a:pt x="26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620;p82">
              <a:extLst>
                <a:ext uri="{FF2B5EF4-FFF2-40B4-BE49-F238E27FC236}">
                  <a16:creationId xmlns:a16="http://schemas.microsoft.com/office/drawing/2014/main" id="{7513A8D0-85D5-A8D7-FBAD-7F4BC55F361B}"/>
                </a:ext>
              </a:extLst>
            </p:cNvPr>
            <p:cNvSpPr/>
            <p:nvPr/>
          </p:nvSpPr>
          <p:spPr>
            <a:xfrm>
              <a:off x="6813729" y="1435138"/>
              <a:ext cx="47872" cy="311657"/>
            </a:xfrm>
            <a:custGeom>
              <a:avLst/>
              <a:gdLst/>
              <a:ahLst/>
              <a:cxnLst/>
              <a:rect l="l" t="t" r="r" b="b"/>
              <a:pathLst>
                <a:path w="2311" h="15045" extrusionOk="0">
                  <a:moveTo>
                    <a:pt x="0" y="0"/>
                  </a:moveTo>
                  <a:lnTo>
                    <a:pt x="0" y="14280"/>
                  </a:lnTo>
                  <a:lnTo>
                    <a:pt x="2310" y="1504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621;p82">
              <a:extLst>
                <a:ext uri="{FF2B5EF4-FFF2-40B4-BE49-F238E27FC236}">
                  <a16:creationId xmlns:a16="http://schemas.microsoft.com/office/drawing/2014/main" id="{76873296-6293-36E9-8F84-2C0147E37C2D}"/>
                </a:ext>
              </a:extLst>
            </p:cNvPr>
            <p:cNvSpPr/>
            <p:nvPr/>
          </p:nvSpPr>
          <p:spPr>
            <a:xfrm>
              <a:off x="6810062" y="1431472"/>
              <a:ext cx="55205" cy="320420"/>
            </a:xfrm>
            <a:custGeom>
              <a:avLst/>
              <a:gdLst/>
              <a:ahLst/>
              <a:cxnLst/>
              <a:rect l="l" t="t" r="r" b="b"/>
              <a:pathLst>
                <a:path w="2665" h="15468" extrusionOk="0">
                  <a:moveTo>
                    <a:pt x="2296" y="355"/>
                  </a:moveTo>
                  <a:lnTo>
                    <a:pt x="2296" y="14976"/>
                  </a:lnTo>
                  <a:lnTo>
                    <a:pt x="356" y="14320"/>
                  </a:lnTo>
                  <a:lnTo>
                    <a:pt x="356" y="355"/>
                  </a:lnTo>
                  <a:close/>
                  <a:moveTo>
                    <a:pt x="0" y="0"/>
                  </a:moveTo>
                  <a:lnTo>
                    <a:pt x="0" y="14579"/>
                  </a:lnTo>
                  <a:lnTo>
                    <a:pt x="2664" y="15468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21074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9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9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7" grpId="0" uiExpand="1" build="p" animBg="1"/>
      <p:bldP spid="1199" grpId="0" uiExpand="1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2"/>
          <p:cNvSpPr txBox="1">
            <a:spLocks noGrp="1"/>
          </p:cNvSpPr>
          <p:nvPr>
            <p:ph type="title"/>
          </p:nvPr>
        </p:nvSpPr>
        <p:spPr>
          <a:xfrm>
            <a:off x="5047500" y="2781800"/>
            <a:ext cx="3376500" cy="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</a:t>
            </a:r>
            <a:endParaRPr dirty="0"/>
          </a:p>
        </p:txBody>
      </p:sp>
      <p:sp>
        <p:nvSpPr>
          <p:cNvPr id="835" name="Google Shape;835;p62"/>
          <p:cNvSpPr txBox="1">
            <a:spLocks noGrp="1"/>
          </p:cNvSpPr>
          <p:nvPr>
            <p:ph type="title" idx="2"/>
          </p:nvPr>
        </p:nvSpPr>
        <p:spPr>
          <a:xfrm>
            <a:off x="5047450" y="1025650"/>
            <a:ext cx="3376500" cy="15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836" name="Google Shape;836;p62"/>
          <p:cNvSpPr txBox="1">
            <a:spLocks noGrp="1"/>
          </p:cNvSpPr>
          <p:nvPr>
            <p:ph type="subTitle" idx="1"/>
          </p:nvPr>
        </p:nvSpPr>
        <p:spPr>
          <a:xfrm>
            <a:off x="5542450" y="3650750"/>
            <a:ext cx="28815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Anti-Trans Results</a:t>
            </a:r>
            <a:endParaRPr dirty="0"/>
          </a:p>
        </p:txBody>
      </p:sp>
      <p:sp>
        <p:nvSpPr>
          <p:cNvPr id="890" name="Google Shape;890;p66"/>
          <p:cNvSpPr txBox="1">
            <a:spLocks noGrp="1"/>
          </p:cNvSpPr>
          <p:nvPr>
            <p:ph type="subTitle" idx="1"/>
          </p:nvPr>
        </p:nvSpPr>
        <p:spPr>
          <a:xfrm>
            <a:off x="720000" y="2065801"/>
            <a:ext cx="3766940" cy="7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AL, AR, FL, GA, IA, ID, IN, KS, KY, MO, MS, MT, ND, NE, OK, SD, TN, TX, UT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Maxes: FL, TX, GA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No Outliers</a:t>
            </a:r>
            <a:endParaRPr dirty="0"/>
          </a:p>
        </p:txBody>
      </p:sp>
      <p:sp>
        <p:nvSpPr>
          <p:cNvPr id="891" name="Google Shape;891;p66"/>
          <p:cNvSpPr txBox="1">
            <a:spLocks noGrp="1"/>
          </p:cNvSpPr>
          <p:nvPr>
            <p:ph type="subTitle" idx="2"/>
          </p:nvPr>
        </p:nvSpPr>
        <p:spPr>
          <a:xfrm>
            <a:off x="720000" y="1634876"/>
            <a:ext cx="3661200" cy="437100"/>
          </a:xfrm>
          <a:prstGeom prst="rect">
            <a:avLst/>
          </a:prstGeom>
          <a:solidFill>
            <a:srgbClr val="EE841A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Anti-Trans</a:t>
            </a:r>
            <a:endParaRPr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EC00374-3160-0845-BF57-D63BAC0C1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802" y="1413834"/>
            <a:ext cx="4071511" cy="328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68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" grpId="0" build="p"/>
      <p:bldP spid="891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Pro-Trans Results</a:t>
            </a:r>
            <a:endParaRPr dirty="0"/>
          </a:p>
        </p:txBody>
      </p:sp>
      <p:sp>
        <p:nvSpPr>
          <p:cNvPr id="892" name="Google Shape;892;p66"/>
          <p:cNvSpPr txBox="1">
            <a:spLocks noGrp="1"/>
          </p:cNvSpPr>
          <p:nvPr>
            <p:ph type="subTitle" idx="3"/>
          </p:nvPr>
        </p:nvSpPr>
        <p:spPr>
          <a:xfrm>
            <a:off x="4762800" y="2104972"/>
            <a:ext cx="3661200" cy="7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CA, CO, CT, HI, IL, MA, MD, MN, NJ, NM, NY, OR, VT, WA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Maxes: WA, OR, CO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dirty="0"/>
              <a:t>Outliers (Not Included): CA, NY</a:t>
            </a:r>
          </a:p>
        </p:txBody>
      </p:sp>
      <p:sp>
        <p:nvSpPr>
          <p:cNvPr id="893" name="Google Shape;893;p66"/>
          <p:cNvSpPr txBox="1">
            <a:spLocks noGrp="1"/>
          </p:cNvSpPr>
          <p:nvPr>
            <p:ph type="subTitle" idx="4"/>
          </p:nvPr>
        </p:nvSpPr>
        <p:spPr>
          <a:xfrm>
            <a:off x="4762800" y="1667872"/>
            <a:ext cx="3661200" cy="437100"/>
          </a:xfrm>
          <a:prstGeom prst="rect">
            <a:avLst/>
          </a:prstGeom>
          <a:solidFill>
            <a:srgbClr val="13A35F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Pro-Trans</a:t>
            </a:r>
            <a:endParaRPr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F0970C9-BDDE-98FC-73C0-8108A6127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93" y="1425539"/>
            <a:ext cx="4243658" cy="336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97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" grpId="0" build="p"/>
      <p:bldP spid="893" grpId="0" uiExpand="1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T-Test Results</a:t>
            </a:r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343C086-8586-F6B3-A6E3-BD27242D2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14610"/>
              </p:ext>
            </p:extLst>
          </p:nvPr>
        </p:nvGraphicFramePr>
        <p:xfrm>
          <a:off x="1223010" y="1637414"/>
          <a:ext cx="6697980" cy="2805786"/>
        </p:xfrm>
        <a:graphic>
          <a:graphicData uri="http://schemas.openxmlformats.org/drawingml/2006/table">
            <a:tbl>
              <a:tblPr firstRow="1" bandRow="1">
                <a:tableStyleId>{4F552645-DD32-419F-A8D9-C377EE76D7F8}</a:tableStyleId>
              </a:tblPr>
              <a:tblGrid>
                <a:gridCol w="1674495">
                  <a:extLst>
                    <a:ext uri="{9D8B030D-6E8A-4147-A177-3AD203B41FA5}">
                      <a16:colId xmlns:a16="http://schemas.microsoft.com/office/drawing/2014/main" val="2955957537"/>
                    </a:ext>
                  </a:extLst>
                </a:gridCol>
                <a:gridCol w="1674495">
                  <a:extLst>
                    <a:ext uri="{9D8B030D-6E8A-4147-A177-3AD203B41FA5}">
                      <a16:colId xmlns:a16="http://schemas.microsoft.com/office/drawing/2014/main" val="2040121673"/>
                    </a:ext>
                  </a:extLst>
                </a:gridCol>
                <a:gridCol w="1674495">
                  <a:extLst>
                    <a:ext uri="{9D8B030D-6E8A-4147-A177-3AD203B41FA5}">
                      <a16:colId xmlns:a16="http://schemas.microsoft.com/office/drawing/2014/main" val="3332012256"/>
                    </a:ext>
                  </a:extLst>
                </a:gridCol>
                <a:gridCol w="1674495">
                  <a:extLst>
                    <a:ext uri="{9D8B030D-6E8A-4147-A177-3AD203B41FA5}">
                      <a16:colId xmlns:a16="http://schemas.microsoft.com/office/drawing/2014/main" val="585225303"/>
                    </a:ext>
                  </a:extLst>
                </a:gridCol>
              </a:tblGrid>
              <a:tr h="61282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8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Anti-Trans Mean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Pro-Trans Mean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p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2C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1739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10.05263158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25.41666667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0.03586317686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191876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14.94736842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34.66666667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0.1443711941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310220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14.42105263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33.66666667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0.07763979126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421763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14.57894737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47.75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0.1149430736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76001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2020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16.21052632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0.08480630185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46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76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7" name="Google Shape;2777;p86"/>
          <p:cNvGrpSpPr/>
          <p:nvPr/>
        </p:nvGrpSpPr>
        <p:grpSpPr>
          <a:xfrm flipH="1">
            <a:off x="-59" y="3290300"/>
            <a:ext cx="5104309" cy="804900"/>
            <a:chOff x="1077863" y="1581150"/>
            <a:chExt cx="8066228" cy="804900"/>
          </a:xfrm>
        </p:grpSpPr>
        <p:sp>
          <p:nvSpPr>
            <p:cNvPr id="2778" name="Google Shape;2778;p86"/>
            <p:cNvSpPr/>
            <p:nvPr/>
          </p:nvSpPr>
          <p:spPr>
            <a:xfrm>
              <a:off x="1077863" y="1581150"/>
              <a:ext cx="67986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86"/>
            <p:cNvSpPr/>
            <p:nvPr/>
          </p:nvSpPr>
          <p:spPr>
            <a:xfrm>
              <a:off x="7655376" y="1581150"/>
              <a:ext cx="2979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86"/>
            <p:cNvSpPr/>
            <p:nvPr/>
          </p:nvSpPr>
          <p:spPr>
            <a:xfrm>
              <a:off x="7953014" y="1581150"/>
              <a:ext cx="2979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86"/>
            <p:cNvSpPr/>
            <p:nvPr/>
          </p:nvSpPr>
          <p:spPr>
            <a:xfrm>
              <a:off x="8250842" y="1581150"/>
              <a:ext cx="2979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86"/>
            <p:cNvSpPr/>
            <p:nvPr/>
          </p:nvSpPr>
          <p:spPr>
            <a:xfrm>
              <a:off x="8548495" y="1581150"/>
              <a:ext cx="2979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86"/>
            <p:cNvSpPr/>
            <p:nvPr/>
          </p:nvSpPr>
          <p:spPr>
            <a:xfrm>
              <a:off x="8846191" y="1581150"/>
              <a:ext cx="2979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4" name="Google Shape;2784;p86"/>
          <p:cNvSpPr txBox="1">
            <a:spLocks noGrp="1"/>
          </p:cNvSpPr>
          <p:nvPr>
            <p:ph type="title"/>
          </p:nvPr>
        </p:nvSpPr>
        <p:spPr>
          <a:xfrm>
            <a:off x="757525" y="2987900"/>
            <a:ext cx="7629000" cy="14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NOT SUPPORTED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506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 Hypotheses</a:t>
            </a:r>
            <a:endParaRPr dirty="0"/>
          </a:p>
        </p:txBody>
      </p:sp>
      <p:sp>
        <p:nvSpPr>
          <p:cNvPr id="806" name="Google Shape;806;p60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506250" y="1816725"/>
            <a:ext cx="13971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07" name="Google Shape;807;p60">
            <a:hlinkClick r:id="rId3" action="ppaction://hlinksldjump"/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830175"/>
            <a:ext cx="2382900" cy="3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 vs Overall</a:t>
            </a:r>
            <a:endParaRPr dirty="0"/>
          </a:p>
        </p:txBody>
      </p:sp>
      <p:sp>
        <p:nvSpPr>
          <p:cNvPr id="808" name="Google Shape;808;p60"/>
          <p:cNvSpPr txBox="1">
            <a:spLocks noGrp="1"/>
          </p:cNvSpPr>
          <p:nvPr>
            <p:ph type="subTitle" idx="3"/>
          </p:nvPr>
        </p:nvSpPr>
        <p:spPr>
          <a:xfrm>
            <a:off x="720000" y="3199225"/>
            <a:ext cx="2446800" cy="15960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Is there a correllation between the Overall Homeless Trans Population and the Overall Homeless Population? </a:t>
            </a:r>
            <a:r>
              <a:rPr lang="en" b="1" dirty="0"/>
              <a:t>Yes</a:t>
            </a:r>
            <a:r>
              <a:rPr lang="en" dirty="0"/>
              <a:t>.</a:t>
            </a:r>
            <a:endParaRPr dirty="0"/>
          </a:p>
        </p:txBody>
      </p:sp>
      <p:sp>
        <p:nvSpPr>
          <p:cNvPr id="809" name="Google Shape;809;p60">
            <a:hlinkClick r:id="rId4" action="ppaction://hlinksldjump"/>
          </p:cNvPr>
          <p:cNvSpPr txBox="1">
            <a:spLocks noGrp="1"/>
          </p:cNvSpPr>
          <p:nvPr>
            <p:ph type="title" idx="4"/>
          </p:nvPr>
        </p:nvSpPr>
        <p:spPr>
          <a:xfrm>
            <a:off x="3166800" y="1816725"/>
            <a:ext cx="13971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10" name="Google Shape;810;p60">
            <a:hlinkClick r:id="rId4" action="ppaction://hlinksldjump"/>
          </p:cNvPr>
          <p:cNvSpPr txBox="1">
            <a:spLocks noGrp="1"/>
          </p:cNvSpPr>
          <p:nvPr>
            <p:ph type="subTitle" idx="5"/>
          </p:nvPr>
        </p:nvSpPr>
        <p:spPr>
          <a:xfrm>
            <a:off x="3380550" y="2830175"/>
            <a:ext cx="2382900" cy="3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 vs CoC</a:t>
            </a:r>
            <a:endParaRPr dirty="0"/>
          </a:p>
        </p:txBody>
      </p:sp>
      <p:sp>
        <p:nvSpPr>
          <p:cNvPr id="811" name="Google Shape;811;p60"/>
          <p:cNvSpPr txBox="1">
            <a:spLocks noGrp="1"/>
          </p:cNvSpPr>
          <p:nvPr>
            <p:ph type="subTitle" idx="6"/>
          </p:nvPr>
        </p:nvSpPr>
        <p:spPr>
          <a:xfrm>
            <a:off x="3380550" y="3199224"/>
            <a:ext cx="2446800" cy="15960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Is there a correllation between the Overall Trans Population and the amount of CoC centers in the state? </a:t>
            </a:r>
            <a:r>
              <a:rPr lang="en" b="1" dirty="0"/>
              <a:t>Yes</a:t>
            </a:r>
            <a:r>
              <a:rPr lang="en" dirty="0"/>
              <a:t>.  </a:t>
            </a:r>
            <a:endParaRPr dirty="0"/>
          </a:p>
        </p:txBody>
      </p:sp>
      <p:sp>
        <p:nvSpPr>
          <p:cNvPr id="812" name="Google Shape;812;p60">
            <a:hlinkClick r:id="rId5" action="ppaction://hlinksldjump"/>
          </p:cNvPr>
          <p:cNvSpPr txBox="1">
            <a:spLocks noGrp="1"/>
          </p:cNvSpPr>
          <p:nvPr>
            <p:ph type="title" idx="7"/>
          </p:nvPr>
        </p:nvSpPr>
        <p:spPr>
          <a:xfrm>
            <a:off x="5827350" y="1816725"/>
            <a:ext cx="13971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13" name="Google Shape;813;p60">
            <a:hlinkClick r:id="rId5" action="ppaction://hlinksldjump"/>
          </p:cNvPr>
          <p:cNvSpPr txBox="1">
            <a:spLocks noGrp="1"/>
          </p:cNvSpPr>
          <p:nvPr>
            <p:ph type="subTitle" idx="8"/>
          </p:nvPr>
        </p:nvSpPr>
        <p:spPr>
          <a:xfrm>
            <a:off x="6041100" y="2830175"/>
            <a:ext cx="2382900" cy="3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Overall vs CoC</a:t>
            </a:r>
            <a:endParaRPr dirty="0"/>
          </a:p>
        </p:txBody>
      </p:sp>
      <p:sp>
        <p:nvSpPr>
          <p:cNvPr id="814" name="Google Shape;814;p60"/>
          <p:cNvSpPr txBox="1">
            <a:spLocks noGrp="1"/>
          </p:cNvSpPr>
          <p:nvPr>
            <p:ph type="subTitle" idx="9"/>
          </p:nvPr>
        </p:nvSpPr>
        <p:spPr>
          <a:xfrm>
            <a:off x="6041100" y="3221825"/>
            <a:ext cx="2446800" cy="14766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Is there a correllation between the Overall Homeless Population and the amount of CoC centers in the state?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Yes</a:t>
            </a:r>
            <a:r>
              <a:rPr lang="en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27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7" grpId="0" uiExpand="1" build="p" animBg="1"/>
      <p:bldP spid="808" grpId="0" build="p"/>
      <p:bldP spid="810" grpId="0" uiExpand="1" build="p" animBg="1"/>
      <p:bldP spid="811" grpId="0" build="p"/>
      <p:bldP spid="813" grpId="0" uiExpand="1" build="p" animBg="1"/>
      <p:bldP spid="81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3"/>
          <p:cNvSpPr txBox="1">
            <a:spLocks noGrp="1"/>
          </p:cNvSpPr>
          <p:nvPr>
            <p:ph type="title"/>
          </p:nvPr>
        </p:nvSpPr>
        <p:spPr>
          <a:xfrm>
            <a:off x="1020726" y="2781800"/>
            <a:ext cx="4339899" cy="7035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 Experiement </a:t>
            </a:r>
            <a:endParaRPr dirty="0"/>
          </a:p>
        </p:txBody>
      </p:sp>
      <p:sp>
        <p:nvSpPr>
          <p:cNvPr id="850" name="Google Shape;850;p63"/>
          <p:cNvSpPr txBox="1">
            <a:spLocks noGrp="1"/>
          </p:cNvSpPr>
          <p:nvPr>
            <p:ph type="title" idx="2"/>
          </p:nvPr>
        </p:nvSpPr>
        <p:spPr>
          <a:xfrm>
            <a:off x="1661325" y="1025650"/>
            <a:ext cx="3699300" cy="15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51" name="Google Shape;851;p63"/>
          <p:cNvSpPr txBox="1">
            <a:spLocks noGrp="1"/>
          </p:cNvSpPr>
          <p:nvPr>
            <p:ph type="subTitle" idx="1"/>
          </p:nvPr>
        </p:nvSpPr>
        <p:spPr>
          <a:xfrm>
            <a:off x="2203725" y="3650750"/>
            <a:ext cx="31569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p8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Statistical Analysis</a:t>
            </a:r>
            <a:endParaRPr dirty="0"/>
          </a:p>
        </p:txBody>
      </p:sp>
      <p:sp>
        <p:nvSpPr>
          <p:cNvPr id="2578" name="Google Shape;2578;p82"/>
          <p:cNvSpPr txBox="1">
            <a:spLocks noGrp="1"/>
          </p:cNvSpPr>
          <p:nvPr>
            <p:ph type="subTitle" idx="1"/>
          </p:nvPr>
        </p:nvSpPr>
        <p:spPr>
          <a:xfrm>
            <a:off x="720000" y="3667900"/>
            <a:ext cx="2391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Same Two Categories</a:t>
            </a:r>
            <a:endParaRPr dirty="0"/>
          </a:p>
        </p:txBody>
      </p:sp>
      <p:sp>
        <p:nvSpPr>
          <p:cNvPr id="2579" name="Google Shape;2579;p82"/>
          <p:cNvSpPr txBox="1">
            <a:spLocks noGrp="1"/>
          </p:cNvSpPr>
          <p:nvPr>
            <p:ph type="subTitle" idx="2"/>
          </p:nvPr>
        </p:nvSpPr>
        <p:spPr>
          <a:xfrm>
            <a:off x="719988" y="3166950"/>
            <a:ext cx="23910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Two Categories</a:t>
            </a:r>
            <a:endParaRPr dirty="0"/>
          </a:p>
        </p:txBody>
      </p:sp>
      <p:sp>
        <p:nvSpPr>
          <p:cNvPr id="2581" name="Google Shape;2581;p82"/>
          <p:cNvSpPr txBox="1">
            <a:spLocks noGrp="1"/>
          </p:cNvSpPr>
          <p:nvPr>
            <p:ph type="subTitle" idx="4"/>
          </p:nvPr>
        </p:nvSpPr>
        <p:spPr>
          <a:xfrm>
            <a:off x="3376488" y="3166950"/>
            <a:ext cx="2391000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Grubb’s Outlier</a:t>
            </a:r>
            <a:endParaRPr dirty="0"/>
          </a:p>
        </p:txBody>
      </p:sp>
      <p:sp>
        <p:nvSpPr>
          <p:cNvPr id="2583" name="Google Shape;2583;p82"/>
          <p:cNvSpPr txBox="1">
            <a:spLocks noGrp="1"/>
          </p:cNvSpPr>
          <p:nvPr>
            <p:ph type="subTitle" idx="6"/>
          </p:nvPr>
        </p:nvSpPr>
        <p:spPr>
          <a:xfrm>
            <a:off x="6032988" y="3166950"/>
            <a:ext cx="2568752" cy="43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Linear Regression</a:t>
            </a:r>
            <a:endParaRPr dirty="0"/>
          </a:p>
        </p:txBody>
      </p:sp>
      <p:grpSp>
        <p:nvGrpSpPr>
          <p:cNvPr id="2" name="Google Shape;1323;p75">
            <a:extLst>
              <a:ext uri="{FF2B5EF4-FFF2-40B4-BE49-F238E27FC236}">
                <a16:creationId xmlns:a16="http://schemas.microsoft.com/office/drawing/2014/main" id="{C2438B01-F983-8D37-701F-EDA9F29E9816}"/>
              </a:ext>
            </a:extLst>
          </p:cNvPr>
          <p:cNvGrpSpPr/>
          <p:nvPr/>
        </p:nvGrpSpPr>
        <p:grpSpPr>
          <a:xfrm>
            <a:off x="3831288" y="1587147"/>
            <a:ext cx="1481424" cy="984603"/>
            <a:chOff x="3344126" y="4117093"/>
            <a:chExt cx="393037" cy="245680"/>
          </a:xfrm>
        </p:grpSpPr>
        <p:sp>
          <p:nvSpPr>
            <p:cNvPr id="3" name="Google Shape;1324;p75">
              <a:extLst>
                <a:ext uri="{FF2B5EF4-FFF2-40B4-BE49-F238E27FC236}">
                  <a16:creationId xmlns:a16="http://schemas.microsoft.com/office/drawing/2014/main" id="{683AB2EB-9DF6-BB7D-14C5-26EF312BE865}"/>
                </a:ext>
              </a:extLst>
            </p:cNvPr>
            <p:cNvSpPr/>
            <p:nvPr/>
          </p:nvSpPr>
          <p:spPr>
            <a:xfrm>
              <a:off x="3506391" y="4144180"/>
              <a:ext cx="224924" cy="207952"/>
            </a:xfrm>
            <a:custGeom>
              <a:avLst/>
              <a:gdLst/>
              <a:ahLst/>
              <a:cxnLst/>
              <a:rect l="l" t="t" r="r" b="b"/>
              <a:pathLst>
                <a:path w="9807" h="9067" extrusionOk="0">
                  <a:moveTo>
                    <a:pt x="1903" y="1"/>
                  </a:moveTo>
                  <a:cubicBezTo>
                    <a:pt x="1246" y="1"/>
                    <a:pt x="612" y="242"/>
                    <a:pt x="1" y="923"/>
                  </a:cubicBezTo>
                  <a:lnTo>
                    <a:pt x="1" y="7217"/>
                  </a:lnTo>
                  <a:cubicBezTo>
                    <a:pt x="480" y="6768"/>
                    <a:pt x="974" y="6590"/>
                    <a:pt x="1481" y="6590"/>
                  </a:cubicBezTo>
                  <a:cubicBezTo>
                    <a:pt x="3376" y="6590"/>
                    <a:pt x="5470" y="9066"/>
                    <a:pt x="7804" y="9066"/>
                  </a:cubicBezTo>
                  <a:cubicBezTo>
                    <a:pt x="8452" y="9066"/>
                    <a:pt x="9120" y="8875"/>
                    <a:pt x="9806" y="8387"/>
                  </a:cubicBezTo>
                  <a:lnTo>
                    <a:pt x="9806" y="358"/>
                  </a:lnTo>
                  <a:cubicBezTo>
                    <a:pt x="8896" y="1169"/>
                    <a:pt x="8020" y="1450"/>
                    <a:pt x="7176" y="1450"/>
                  </a:cubicBezTo>
                  <a:cubicBezTo>
                    <a:pt x="5261" y="1450"/>
                    <a:pt x="3511" y="1"/>
                    <a:pt x="19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25;p75">
              <a:extLst>
                <a:ext uri="{FF2B5EF4-FFF2-40B4-BE49-F238E27FC236}">
                  <a16:creationId xmlns:a16="http://schemas.microsoft.com/office/drawing/2014/main" id="{B0ED8B80-2526-A6C3-9241-69EC5FCE84BA}"/>
                </a:ext>
              </a:extLst>
            </p:cNvPr>
            <p:cNvSpPr/>
            <p:nvPr/>
          </p:nvSpPr>
          <p:spPr>
            <a:xfrm>
              <a:off x="3506391" y="4144180"/>
              <a:ext cx="224924" cy="62269"/>
            </a:xfrm>
            <a:custGeom>
              <a:avLst/>
              <a:gdLst/>
              <a:ahLst/>
              <a:cxnLst/>
              <a:rect l="l" t="t" r="r" b="b"/>
              <a:pathLst>
                <a:path w="9807" h="2715" extrusionOk="0">
                  <a:moveTo>
                    <a:pt x="1903" y="1"/>
                  </a:moveTo>
                  <a:cubicBezTo>
                    <a:pt x="1246" y="1"/>
                    <a:pt x="612" y="242"/>
                    <a:pt x="1" y="923"/>
                  </a:cubicBezTo>
                  <a:lnTo>
                    <a:pt x="1" y="1972"/>
                  </a:lnTo>
                  <a:cubicBezTo>
                    <a:pt x="588" y="1335"/>
                    <a:pt x="1196" y="1104"/>
                    <a:pt x="1825" y="1104"/>
                  </a:cubicBezTo>
                  <a:cubicBezTo>
                    <a:pt x="3488" y="1104"/>
                    <a:pt x="5300" y="2715"/>
                    <a:pt x="7291" y="2715"/>
                  </a:cubicBezTo>
                  <a:cubicBezTo>
                    <a:pt x="8099" y="2715"/>
                    <a:pt x="8937" y="2449"/>
                    <a:pt x="9806" y="1703"/>
                  </a:cubicBezTo>
                  <a:lnTo>
                    <a:pt x="9806" y="358"/>
                  </a:lnTo>
                  <a:cubicBezTo>
                    <a:pt x="8896" y="1169"/>
                    <a:pt x="8020" y="1450"/>
                    <a:pt x="7176" y="1450"/>
                  </a:cubicBezTo>
                  <a:cubicBezTo>
                    <a:pt x="5261" y="1450"/>
                    <a:pt x="3511" y="1"/>
                    <a:pt x="19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26;p75">
              <a:extLst>
                <a:ext uri="{FF2B5EF4-FFF2-40B4-BE49-F238E27FC236}">
                  <a16:creationId xmlns:a16="http://schemas.microsoft.com/office/drawing/2014/main" id="{47DDA4CE-4B11-4527-FCC0-F5D7ACF35173}"/>
                </a:ext>
              </a:extLst>
            </p:cNvPr>
            <p:cNvSpPr/>
            <p:nvPr/>
          </p:nvSpPr>
          <p:spPr>
            <a:xfrm>
              <a:off x="3506391" y="4169500"/>
              <a:ext cx="224924" cy="65892"/>
            </a:xfrm>
            <a:custGeom>
              <a:avLst/>
              <a:gdLst/>
              <a:ahLst/>
              <a:cxnLst/>
              <a:rect l="l" t="t" r="r" b="b"/>
              <a:pathLst>
                <a:path w="9807" h="2873" extrusionOk="0">
                  <a:moveTo>
                    <a:pt x="1825" y="0"/>
                  </a:moveTo>
                  <a:cubicBezTo>
                    <a:pt x="1196" y="0"/>
                    <a:pt x="588" y="231"/>
                    <a:pt x="1" y="868"/>
                  </a:cubicBezTo>
                  <a:lnTo>
                    <a:pt x="1" y="1917"/>
                  </a:lnTo>
                  <a:cubicBezTo>
                    <a:pt x="565" y="1322"/>
                    <a:pt x="1149" y="1102"/>
                    <a:pt x="1752" y="1102"/>
                  </a:cubicBezTo>
                  <a:cubicBezTo>
                    <a:pt x="3463" y="1102"/>
                    <a:pt x="5334" y="2872"/>
                    <a:pt x="7395" y="2872"/>
                  </a:cubicBezTo>
                  <a:cubicBezTo>
                    <a:pt x="8171" y="2872"/>
                    <a:pt x="8974" y="2621"/>
                    <a:pt x="9806" y="1930"/>
                  </a:cubicBezTo>
                  <a:lnTo>
                    <a:pt x="9806" y="599"/>
                  </a:lnTo>
                  <a:cubicBezTo>
                    <a:pt x="8937" y="1345"/>
                    <a:pt x="8099" y="1611"/>
                    <a:pt x="7291" y="1611"/>
                  </a:cubicBezTo>
                  <a:cubicBezTo>
                    <a:pt x="5300" y="1611"/>
                    <a:pt x="3488" y="0"/>
                    <a:pt x="18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27;p75">
              <a:extLst>
                <a:ext uri="{FF2B5EF4-FFF2-40B4-BE49-F238E27FC236}">
                  <a16:creationId xmlns:a16="http://schemas.microsoft.com/office/drawing/2014/main" id="{9383FFE7-3AF0-CA7A-966A-4E601BF59DD8}"/>
                </a:ext>
              </a:extLst>
            </p:cNvPr>
            <p:cNvSpPr/>
            <p:nvPr/>
          </p:nvSpPr>
          <p:spPr>
            <a:xfrm>
              <a:off x="3506391" y="4194751"/>
              <a:ext cx="224924" cy="69791"/>
            </a:xfrm>
            <a:custGeom>
              <a:avLst/>
              <a:gdLst/>
              <a:ahLst/>
              <a:cxnLst/>
              <a:rect l="l" t="t" r="r" b="b"/>
              <a:pathLst>
                <a:path w="9807" h="3043" extrusionOk="0">
                  <a:moveTo>
                    <a:pt x="1752" y="1"/>
                  </a:moveTo>
                  <a:cubicBezTo>
                    <a:pt x="1149" y="1"/>
                    <a:pt x="565" y="221"/>
                    <a:pt x="1" y="816"/>
                  </a:cubicBezTo>
                  <a:lnTo>
                    <a:pt x="1" y="1865"/>
                  </a:lnTo>
                  <a:cubicBezTo>
                    <a:pt x="543" y="1309"/>
                    <a:pt x="1103" y="1100"/>
                    <a:pt x="1680" y="1100"/>
                  </a:cubicBezTo>
                  <a:cubicBezTo>
                    <a:pt x="3441" y="1100"/>
                    <a:pt x="5371" y="3043"/>
                    <a:pt x="7504" y="3043"/>
                  </a:cubicBezTo>
                  <a:cubicBezTo>
                    <a:pt x="8247" y="3043"/>
                    <a:pt x="9013" y="2808"/>
                    <a:pt x="9806" y="2174"/>
                  </a:cubicBezTo>
                  <a:lnTo>
                    <a:pt x="9806" y="829"/>
                  </a:lnTo>
                  <a:cubicBezTo>
                    <a:pt x="8974" y="1520"/>
                    <a:pt x="8171" y="1771"/>
                    <a:pt x="7395" y="1771"/>
                  </a:cubicBezTo>
                  <a:cubicBezTo>
                    <a:pt x="5334" y="1771"/>
                    <a:pt x="3463" y="1"/>
                    <a:pt x="1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28;p75">
              <a:extLst>
                <a:ext uri="{FF2B5EF4-FFF2-40B4-BE49-F238E27FC236}">
                  <a16:creationId xmlns:a16="http://schemas.microsoft.com/office/drawing/2014/main" id="{4C78CE7E-29D3-3CB6-2823-671BEA458783}"/>
                </a:ext>
              </a:extLst>
            </p:cNvPr>
            <p:cNvSpPr/>
            <p:nvPr/>
          </p:nvSpPr>
          <p:spPr>
            <a:xfrm>
              <a:off x="3506391" y="4219957"/>
              <a:ext cx="224924" cy="73667"/>
            </a:xfrm>
            <a:custGeom>
              <a:avLst/>
              <a:gdLst/>
              <a:ahLst/>
              <a:cxnLst/>
              <a:rect l="l" t="t" r="r" b="b"/>
              <a:pathLst>
                <a:path w="9807" h="3212" extrusionOk="0">
                  <a:moveTo>
                    <a:pt x="1680" y="1"/>
                  </a:moveTo>
                  <a:cubicBezTo>
                    <a:pt x="1103" y="1"/>
                    <a:pt x="543" y="210"/>
                    <a:pt x="1" y="766"/>
                  </a:cubicBezTo>
                  <a:lnTo>
                    <a:pt x="1" y="1815"/>
                  </a:lnTo>
                  <a:cubicBezTo>
                    <a:pt x="522" y="1296"/>
                    <a:pt x="1058" y="1098"/>
                    <a:pt x="1612" y="1098"/>
                  </a:cubicBezTo>
                  <a:cubicBezTo>
                    <a:pt x="3418" y="1098"/>
                    <a:pt x="5403" y="3211"/>
                    <a:pt x="7604" y="3211"/>
                  </a:cubicBezTo>
                  <a:cubicBezTo>
                    <a:pt x="8315" y="3211"/>
                    <a:pt x="9049" y="2991"/>
                    <a:pt x="9806" y="2407"/>
                  </a:cubicBezTo>
                  <a:lnTo>
                    <a:pt x="9806" y="1075"/>
                  </a:lnTo>
                  <a:cubicBezTo>
                    <a:pt x="9013" y="1709"/>
                    <a:pt x="8247" y="1944"/>
                    <a:pt x="7504" y="1944"/>
                  </a:cubicBezTo>
                  <a:cubicBezTo>
                    <a:pt x="5371" y="1944"/>
                    <a:pt x="3441" y="1"/>
                    <a:pt x="16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29;p75">
              <a:extLst>
                <a:ext uri="{FF2B5EF4-FFF2-40B4-BE49-F238E27FC236}">
                  <a16:creationId xmlns:a16="http://schemas.microsoft.com/office/drawing/2014/main" id="{1C05C2E0-49F7-6E28-CC7A-4A94FFE84BC9}"/>
                </a:ext>
              </a:extLst>
            </p:cNvPr>
            <p:cNvSpPr/>
            <p:nvPr/>
          </p:nvSpPr>
          <p:spPr>
            <a:xfrm>
              <a:off x="3506391" y="4245117"/>
              <a:ext cx="224924" cy="77818"/>
            </a:xfrm>
            <a:custGeom>
              <a:avLst/>
              <a:gdLst/>
              <a:ahLst/>
              <a:cxnLst/>
              <a:rect l="l" t="t" r="r" b="b"/>
              <a:pathLst>
                <a:path w="9807" h="3393" extrusionOk="0">
                  <a:moveTo>
                    <a:pt x="1612" y="1"/>
                  </a:moveTo>
                  <a:cubicBezTo>
                    <a:pt x="1058" y="1"/>
                    <a:pt x="522" y="199"/>
                    <a:pt x="1" y="718"/>
                  </a:cubicBezTo>
                  <a:lnTo>
                    <a:pt x="1" y="1767"/>
                  </a:lnTo>
                  <a:cubicBezTo>
                    <a:pt x="501" y="1284"/>
                    <a:pt x="1015" y="1096"/>
                    <a:pt x="1545" y="1096"/>
                  </a:cubicBezTo>
                  <a:cubicBezTo>
                    <a:pt x="3398" y="1096"/>
                    <a:pt x="5439" y="3392"/>
                    <a:pt x="7709" y="3392"/>
                  </a:cubicBezTo>
                  <a:cubicBezTo>
                    <a:pt x="8387" y="3392"/>
                    <a:pt x="9086" y="3187"/>
                    <a:pt x="9806" y="2655"/>
                  </a:cubicBezTo>
                  <a:lnTo>
                    <a:pt x="9806" y="1310"/>
                  </a:lnTo>
                  <a:cubicBezTo>
                    <a:pt x="9049" y="1894"/>
                    <a:pt x="8315" y="2114"/>
                    <a:pt x="7604" y="2114"/>
                  </a:cubicBezTo>
                  <a:cubicBezTo>
                    <a:pt x="5403" y="2114"/>
                    <a:pt x="3418" y="1"/>
                    <a:pt x="16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30;p75">
              <a:extLst>
                <a:ext uri="{FF2B5EF4-FFF2-40B4-BE49-F238E27FC236}">
                  <a16:creationId xmlns:a16="http://schemas.microsoft.com/office/drawing/2014/main" id="{451654CE-2FAE-33CD-9F75-B6D00B96188A}"/>
                </a:ext>
              </a:extLst>
            </p:cNvPr>
            <p:cNvSpPr/>
            <p:nvPr/>
          </p:nvSpPr>
          <p:spPr>
            <a:xfrm>
              <a:off x="3496231" y="4122758"/>
              <a:ext cx="24701" cy="210406"/>
            </a:xfrm>
            <a:custGeom>
              <a:avLst/>
              <a:gdLst/>
              <a:ahLst/>
              <a:cxnLst/>
              <a:rect l="l" t="t" r="r" b="b"/>
              <a:pathLst>
                <a:path w="1077" h="9174" extrusionOk="0">
                  <a:moveTo>
                    <a:pt x="538" y="0"/>
                  </a:moveTo>
                  <a:cubicBezTo>
                    <a:pt x="242" y="0"/>
                    <a:pt x="0" y="243"/>
                    <a:pt x="0" y="538"/>
                  </a:cubicBezTo>
                  <a:lnTo>
                    <a:pt x="0" y="8635"/>
                  </a:lnTo>
                  <a:cubicBezTo>
                    <a:pt x="0" y="8931"/>
                    <a:pt x="242" y="9173"/>
                    <a:pt x="538" y="9173"/>
                  </a:cubicBezTo>
                  <a:cubicBezTo>
                    <a:pt x="834" y="9173"/>
                    <a:pt x="1076" y="8931"/>
                    <a:pt x="1076" y="8635"/>
                  </a:cubicBezTo>
                  <a:lnTo>
                    <a:pt x="1076" y="538"/>
                  </a:lnTo>
                  <a:cubicBezTo>
                    <a:pt x="1076" y="243"/>
                    <a:pt x="834" y="0"/>
                    <a:pt x="5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31;p75">
              <a:extLst>
                <a:ext uri="{FF2B5EF4-FFF2-40B4-BE49-F238E27FC236}">
                  <a16:creationId xmlns:a16="http://schemas.microsoft.com/office/drawing/2014/main" id="{8EBDF242-27F8-79C8-D24D-C8923BEF698A}"/>
                </a:ext>
              </a:extLst>
            </p:cNvPr>
            <p:cNvSpPr/>
            <p:nvPr/>
          </p:nvSpPr>
          <p:spPr>
            <a:xfrm>
              <a:off x="3349997" y="4192160"/>
              <a:ext cx="74676" cy="71901"/>
            </a:xfrm>
            <a:custGeom>
              <a:avLst/>
              <a:gdLst/>
              <a:ahLst/>
              <a:cxnLst/>
              <a:rect l="l" t="t" r="r" b="b"/>
              <a:pathLst>
                <a:path w="3256" h="3135" extrusionOk="0">
                  <a:moveTo>
                    <a:pt x="1050" y="0"/>
                  </a:moveTo>
                  <a:cubicBezTo>
                    <a:pt x="471" y="0"/>
                    <a:pt x="1" y="471"/>
                    <a:pt x="1" y="1049"/>
                  </a:cubicBezTo>
                  <a:lnTo>
                    <a:pt x="1" y="2085"/>
                  </a:lnTo>
                  <a:cubicBezTo>
                    <a:pt x="1" y="2663"/>
                    <a:pt x="471" y="3135"/>
                    <a:pt x="1050" y="3135"/>
                  </a:cubicBezTo>
                  <a:lnTo>
                    <a:pt x="3256" y="3135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32;p75">
              <a:extLst>
                <a:ext uri="{FF2B5EF4-FFF2-40B4-BE49-F238E27FC236}">
                  <a16:creationId xmlns:a16="http://schemas.microsoft.com/office/drawing/2014/main" id="{209176CE-D41A-5B37-B8B7-BC0618B87A6A}"/>
                </a:ext>
              </a:extLst>
            </p:cNvPr>
            <p:cNvSpPr/>
            <p:nvPr/>
          </p:nvSpPr>
          <p:spPr>
            <a:xfrm>
              <a:off x="3401509" y="4192160"/>
              <a:ext cx="23164" cy="71901"/>
            </a:xfrm>
            <a:custGeom>
              <a:avLst/>
              <a:gdLst/>
              <a:ahLst/>
              <a:cxnLst/>
              <a:rect l="l" t="t" r="r" b="b"/>
              <a:pathLst>
                <a:path w="1010" h="3135" extrusionOk="0">
                  <a:moveTo>
                    <a:pt x="1" y="0"/>
                  </a:moveTo>
                  <a:lnTo>
                    <a:pt x="1" y="3135"/>
                  </a:lnTo>
                  <a:lnTo>
                    <a:pt x="1010" y="3135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33;p75">
              <a:extLst>
                <a:ext uri="{FF2B5EF4-FFF2-40B4-BE49-F238E27FC236}">
                  <a16:creationId xmlns:a16="http://schemas.microsoft.com/office/drawing/2014/main" id="{B1C7EB55-3ED6-FC59-1274-A686CC277A88}"/>
                </a:ext>
              </a:extLst>
            </p:cNvPr>
            <p:cNvSpPr/>
            <p:nvPr/>
          </p:nvSpPr>
          <p:spPr>
            <a:xfrm>
              <a:off x="3424651" y="4135396"/>
              <a:ext cx="71603" cy="185429"/>
            </a:xfrm>
            <a:custGeom>
              <a:avLst/>
              <a:gdLst/>
              <a:ahLst/>
              <a:cxnLst/>
              <a:rect l="l" t="t" r="r" b="b"/>
              <a:pathLst>
                <a:path w="3122" h="8085" extrusionOk="0">
                  <a:moveTo>
                    <a:pt x="3121" y="0"/>
                  </a:moveTo>
                  <a:cubicBezTo>
                    <a:pt x="901" y="2314"/>
                    <a:pt x="1" y="2475"/>
                    <a:pt x="1" y="2475"/>
                  </a:cubicBezTo>
                  <a:lnTo>
                    <a:pt x="1" y="5610"/>
                  </a:lnTo>
                  <a:cubicBezTo>
                    <a:pt x="1" y="5610"/>
                    <a:pt x="901" y="5784"/>
                    <a:pt x="3121" y="8084"/>
                  </a:cubicBezTo>
                  <a:lnTo>
                    <a:pt x="3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34;p75">
              <a:extLst>
                <a:ext uri="{FF2B5EF4-FFF2-40B4-BE49-F238E27FC236}">
                  <a16:creationId xmlns:a16="http://schemas.microsoft.com/office/drawing/2014/main" id="{0CE777D2-C0FB-1DC6-ED81-61A727C7A4CB}"/>
                </a:ext>
              </a:extLst>
            </p:cNvPr>
            <p:cNvSpPr/>
            <p:nvPr/>
          </p:nvSpPr>
          <p:spPr>
            <a:xfrm>
              <a:off x="3378391" y="4264038"/>
              <a:ext cx="46283" cy="68186"/>
            </a:xfrm>
            <a:custGeom>
              <a:avLst/>
              <a:gdLst/>
              <a:ahLst/>
              <a:cxnLst/>
              <a:rect l="l" t="t" r="r" b="b"/>
              <a:pathLst>
                <a:path w="2018" h="2973" extrusionOk="0">
                  <a:moveTo>
                    <a:pt x="0" y="1"/>
                  </a:moveTo>
                  <a:lnTo>
                    <a:pt x="13" y="2972"/>
                  </a:lnTo>
                  <a:lnTo>
                    <a:pt x="2018" y="2972"/>
                  </a:lnTo>
                  <a:lnTo>
                    <a:pt x="20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35;p75">
              <a:extLst>
                <a:ext uri="{FF2B5EF4-FFF2-40B4-BE49-F238E27FC236}">
                  <a16:creationId xmlns:a16="http://schemas.microsoft.com/office/drawing/2014/main" id="{F1398582-5E8E-63AE-8BBE-DDC8DE833787}"/>
                </a:ext>
              </a:extLst>
            </p:cNvPr>
            <p:cNvSpPr/>
            <p:nvPr/>
          </p:nvSpPr>
          <p:spPr>
            <a:xfrm>
              <a:off x="3401509" y="4264038"/>
              <a:ext cx="23164" cy="68186"/>
            </a:xfrm>
            <a:custGeom>
              <a:avLst/>
              <a:gdLst/>
              <a:ahLst/>
              <a:cxnLst/>
              <a:rect l="l" t="t" r="r" b="b"/>
              <a:pathLst>
                <a:path w="1010" h="2973" extrusionOk="0">
                  <a:moveTo>
                    <a:pt x="1" y="1"/>
                  </a:moveTo>
                  <a:lnTo>
                    <a:pt x="15" y="2972"/>
                  </a:lnTo>
                  <a:lnTo>
                    <a:pt x="1010" y="2972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36;p75">
              <a:extLst>
                <a:ext uri="{FF2B5EF4-FFF2-40B4-BE49-F238E27FC236}">
                  <a16:creationId xmlns:a16="http://schemas.microsoft.com/office/drawing/2014/main" id="{116DEC9A-447D-5C9F-47D3-EFC08CB77E4C}"/>
                </a:ext>
              </a:extLst>
            </p:cNvPr>
            <p:cNvSpPr/>
            <p:nvPr/>
          </p:nvSpPr>
          <p:spPr>
            <a:xfrm>
              <a:off x="3365730" y="4332201"/>
              <a:ext cx="72199" cy="24701"/>
            </a:xfrm>
            <a:custGeom>
              <a:avLst/>
              <a:gdLst/>
              <a:ahLst/>
              <a:cxnLst/>
              <a:rect l="l" t="t" r="r" b="b"/>
              <a:pathLst>
                <a:path w="3148" h="1077" extrusionOk="0">
                  <a:moveTo>
                    <a:pt x="538" y="0"/>
                  </a:moveTo>
                  <a:cubicBezTo>
                    <a:pt x="242" y="0"/>
                    <a:pt x="0" y="243"/>
                    <a:pt x="0" y="538"/>
                  </a:cubicBezTo>
                  <a:cubicBezTo>
                    <a:pt x="0" y="834"/>
                    <a:pt x="242" y="1076"/>
                    <a:pt x="538" y="1076"/>
                  </a:cubicBezTo>
                  <a:lnTo>
                    <a:pt x="2610" y="1076"/>
                  </a:lnTo>
                  <a:cubicBezTo>
                    <a:pt x="2906" y="1076"/>
                    <a:pt x="3148" y="834"/>
                    <a:pt x="3148" y="538"/>
                  </a:cubicBezTo>
                  <a:cubicBezTo>
                    <a:pt x="3148" y="243"/>
                    <a:pt x="2906" y="0"/>
                    <a:pt x="2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37;p75">
              <a:extLst>
                <a:ext uri="{FF2B5EF4-FFF2-40B4-BE49-F238E27FC236}">
                  <a16:creationId xmlns:a16="http://schemas.microsoft.com/office/drawing/2014/main" id="{C3113940-0096-7FA3-4449-D064368563F0}"/>
                </a:ext>
              </a:extLst>
            </p:cNvPr>
            <p:cNvSpPr/>
            <p:nvPr/>
          </p:nvSpPr>
          <p:spPr>
            <a:xfrm>
              <a:off x="3402449" y="4332201"/>
              <a:ext cx="35480" cy="24701"/>
            </a:xfrm>
            <a:custGeom>
              <a:avLst/>
              <a:gdLst/>
              <a:ahLst/>
              <a:cxnLst/>
              <a:rect l="l" t="t" r="r" b="b"/>
              <a:pathLst>
                <a:path w="1547" h="1077" extrusionOk="0">
                  <a:moveTo>
                    <a:pt x="0" y="0"/>
                  </a:moveTo>
                  <a:cubicBezTo>
                    <a:pt x="296" y="0"/>
                    <a:pt x="538" y="243"/>
                    <a:pt x="538" y="538"/>
                  </a:cubicBezTo>
                  <a:cubicBezTo>
                    <a:pt x="538" y="834"/>
                    <a:pt x="296" y="1076"/>
                    <a:pt x="0" y="1076"/>
                  </a:cubicBezTo>
                  <a:lnTo>
                    <a:pt x="1009" y="1076"/>
                  </a:lnTo>
                  <a:cubicBezTo>
                    <a:pt x="1305" y="1076"/>
                    <a:pt x="1547" y="834"/>
                    <a:pt x="1547" y="538"/>
                  </a:cubicBezTo>
                  <a:cubicBezTo>
                    <a:pt x="1547" y="243"/>
                    <a:pt x="1305" y="0"/>
                    <a:pt x="1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38;p75">
              <a:extLst>
                <a:ext uri="{FF2B5EF4-FFF2-40B4-BE49-F238E27FC236}">
                  <a16:creationId xmlns:a16="http://schemas.microsoft.com/office/drawing/2014/main" id="{ABB33420-A256-80EE-ABA3-230EEF0D714D}"/>
                </a:ext>
              </a:extLst>
            </p:cNvPr>
            <p:cNvSpPr/>
            <p:nvPr/>
          </p:nvSpPr>
          <p:spPr>
            <a:xfrm>
              <a:off x="3344126" y="4117093"/>
              <a:ext cx="393037" cy="245680"/>
            </a:xfrm>
            <a:custGeom>
              <a:avLst/>
              <a:gdLst/>
              <a:ahLst/>
              <a:cxnLst/>
              <a:rect l="l" t="t" r="r" b="b"/>
              <a:pathLst>
                <a:path w="17137" h="10712" extrusionOk="0">
                  <a:moveTo>
                    <a:pt x="8900" y="2534"/>
                  </a:moveTo>
                  <a:cubicBezTo>
                    <a:pt x="9635" y="2534"/>
                    <a:pt x="10418" y="2878"/>
                    <a:pt x="11286" y="3260"/>
                  </a:cubicBezTo>
                  <a:cubicBezTo>
                    <a:pt x="12283" y="3732"/>
                    <a:pt x="13340" y="4139"/>
                    <a:pt x="14398" y="4139"/>
                  </a:cubicBezTo>
                  <a:cubicBezTo>
                    <a:pt x="15152" y="4139"/>
                    <a:pt x="15906" y="3932"/>
                    <a:pt x="16639" y="3395"/>
                  </a:cubicBezTo>
                  <a:lnTo>
                    <a:pt x="16639" y="4094"/>
                  </a:lnTo>
                  <a:cubicBezTo>
                    <a:pt x="15891" y="4690"/>
                    <a:pt x="15177" y="4911"/>
                    <a:pt x="14483" y="4911"/>
                  </a:cubicBezTo>
                  <a:cubicBezTo>
                    <a:pt x="12522" y="4911"/>
                    <a:pt x="10731" y="3150"/>
                    <a:pt x="8834" y="3150"/>
                  </a:cubicBezTo>
                  <a:cubicBezTo>
                    <a:pt x="8542" y="3150"/>
                    <a:pt x="8248" y="3191"/>
                    <a:pt x="7950" y="3287"/>
                  </a:cubicBezTo>
                  <a:lnTo>
                    <a:pt x="7950" y="2762"/>
                  </a:lnTo>
                  <a:cubicBezTo>
                    <a:pt x="8260" y="2601"/>
                    <a:pt x="8575" y="2534"/>
                    <a:pt x="8900" y="2534"/>
                  </a:cubicBezTo>
                  <a:close/>
                  <a:moveTo>
                    <a:pt x="3256" y="3529"/>
                  </a:moveTo>
                  <a:lnTo>
                    <a:pt x="3256" y="6151"/>
                  </a:lnTo>
                  <a:lnTo>
                    <a:pt x="1306" y="6151"/>
                  </a:lnTo>
                  <a:cubicBezTo>
                    <a:pt x="862" y="6151"/>
                    <a:pt x="499" y="5802"/>
                    <a:pt x="499" y="5358"/>
                  </a:cubicBezTo>
                  <a:lnTo>
                    <a:pt x="499" y="4322"/>
                  </a:lnTo>
                  <a:cubicBezTo>
                    <a:pt x="499" y="3892"/>
                    <a:pt x="862" y="3529"/>
                    <a:pt x="1306" y="3529"/>
                  </a:cubicBezTo>
                  <a:close/>
                  <a:moveTo>
                    <a:pt x="8843" y="3647"/>
                  </a:moveTo>
                  <a:cubicBezTo>
                    <a:pt x="10532" y="3647"/>
                    <a:pt x="12385" y="5422"/>
                    <a:pt x="14488" y="5422"/>
                  </a:cubicBezTo>
                  <a:cubicBezTo>
                    <a:pt x="15177" y="5422"/>
                    <a:pt x="15893" y="5232"/>
                    <a:pt x="16639" y="4726"/>
                  </a:cubicBezTo>
                  <a:lnTo>
                    <a:pt x="16639" y="5439"/>
                  </a:lnTo>
                  <a:cubicBezTo>
                    <a:pt x="15931" y="5980"/>
                    <a:pt x="15252" y="6184"/>
                    <a:pt x="14592" y="6184"/>
                  </a:cubicBezTo>
                  <a:cubicBezTo>
                    <a:pt x="12559" y="6184"/>
                    <a:pt x="10710" y="4246"/>
                    <a:pt x="8755" y="4246"/>
                  </a:cubicBezTo>
                  <a:cubicBezTo>
                    <a:pt x="8489" y="4246"/>
                    <a:pt x="8221" y="4282"/>
                    <a:pt x="7950" y="4363"/>
                  </a:cubicBezTo>
                  <a:lnTo>
                    <a:pt x="7950" y="3838"/>
                  </a:lnTo>
                  <a:cubicBezTo>
                    <a:pt x="8243" y="3704"/>
                    <a:pt x="8540" y="3647"/>
                    <a:pt x="8843" y="3647"/>
                  </a:cubicBezTo>
                  <a:close/>
                  <a:moveTo>
                    <a:pt x="8770" y="4757"/>
                  </a:moveTo>
                  <a:cubicBezTo>
                    <a:pt x="10534" y="4757"/>
                    <a:pt x="12417" y="6692"/>
                    <a:pt x="14580" y="6692"/>
                  </a:cubicBezTo>
                  <a:cubicBezTo>
                    <a:pt x="15239" y="6692"/>
                    <a:pt x="15924" y="6512"/>
                    <a:pt x="16639" y="6044"/>
                  </a:cubicBezTo>
                  <a:lnTo>
                    <a:pt x="16639" y="6770"/>
                  </a:lnTo>
                  <a:cubicBezTo>
                    <a:pt x="15967" y="7265"/>
                    <a:pt x="15321" y="7456"/>
                    <a:pt x="14692" y="7456"/>
                  </a:cubicBezTo>
                  <a:cubicBezTo>
                    <a:pt x="12595" y="7456"/>
                    <a:pt x="10690" y="5343"/>
                    <a:pt x="8672" y="5343"/>
                  </a:cubicBezTo>
                  <a:cubicBezTo>
                    <a:pt x="8433" y="5343"/>
                    <a:pt x="8193" y="5373"/>
                    <a:pt x="7950" y="5439"/>
                  </a:cubicBezTo>
                  <a:lnTo>
                    <a:pt x="7950" y="4914"/>
                  </a:lnTo>
                  <a:cubicBezTo>
                    <a:pt x="8221" y="4805"/>
                    <a:pt x="8494" y="4757"/>
                    <a:pt x="8770" y="4757"/>
                  </a:cubicBezTo>
                  <a:close/>
                  <a:moveTo>
                    <a:pt x="6376" y="1417"/>
                  </a:moveTo>
                  <a:lnTo>
                    <a:pt x="6376" y="8277"/>
                  </a:lnTo>
                  <a:cubicBezTo>
                    <a:pt x="4938" y="6838"/>
                    <a:pt x="4117" y="6381"/>
                    <a:pt x="3754" y="6232"/>
                  </a:cubicBezTo>
                  <a:lnTo>
                    <a:pt x="3754" y="3461"/>
                  </a:lnTo>
                  <a:cubicBezTo>
                    <a:pt x="4117" y="3314"/>
                    <a:pt x="4938" y="2843"/>
                    <a:pt x="6376" y="1417"/>
                  </a:cubicBezTo>
                  <a:close/>
                  <a:moveTo>
                    <a:pt x="8691" y="5842"/>
                  </a:moveTo>
                  <a:cubicBezTo>
                    <a:pt x="10481" y="5842"/>
                    <a:pt x="12442" y="7960"/>
                    <a:pt x="14691" y="7960"/>
                  </a:cubicBezTo>
                  <a:cubicBezTo>
                    <a:pt x="15317" y="7960"/>
                    <a:pt x="15966" y="7796"/>
                    <a:pt x="16639" y="7376"/>
                  </a:cubicBezTo>
                  <a:lnTo>
                    <a:pt x="16639" y="8102"/>
                  </a:lnTo>
                  <a:cubicBezTo>
                    <a:pt x="16003" y="8554"/>
                    <a:pt x="15388" y="8731"/>
                    <a:pt x="14789" y="8731"/>
                  </a:cubicBezTo>
                  <a:cubicBezTo>
                    <a:pt x="12635" y="8731"/>
                    <a:pt x="10677" y="6449"/>
                    <a:pt x="8603" y="6449"/>
                  </a:cubicBezTo>
                  <a:cubicBezTo>
                    <a:pt x="8387" y="6449"/>
                    <a:pt x="8169" y="6473"/>
                    <a:pt x="7950" y="6528"/>
                  </a:cubicBezTo>
                  <a:lnTo>
                    <a:pt x="7950" y="5977"/>
                  </a:lnTo>
                  <a:cubicBezTo>
                    <a:pt x="8194" y="5883"/>
                    <a:pt x="8441" y="5842"/>
                    <a:pt x="8691" y="5842"/>
                  </a:cubicBezTo>
                  <a:close/>
                  <a:moveTo>
                    <a:pt x="7170" y="502"/>
                  </a:moveTo>
                  <a:cubicBezTo>
                    <a:pt x="7332" y="502"/>
                    <a:pt x="7452" y="624"/>
                    <a:pt x="7452" y="785"/>
                  </a:cubicBezTo>
                  <a:lnTo>
                    <a:pt x="7452" y="8882"/>
                  </a:lnTo>
                  <a:cubicBezTo>
                    <a:pt x="7446" y="9071"/>
                    <a:pt x="7308" y="9165"/>
                    <a:pt x="7170" y="9165"/>
                  </a:cubicBezTo>
                  <a:cubicBezTo>
                    <a:pt x="7032" y="9165"/>
                    <a:pt x="6894" y="9071"/>
                    <a:pt x="6887" y="8882"/>
                  </a:cubicBezTo>
                  <a:lnTo>
                    <a:pt x="6887" y="785"/>
                  </a:lnTo>
                  <a:cubicBezTo>
                    <a:pt x="6887" y="624"/>
                    <a:pt x="7009" y="502"/>
                    <a:pt x="7170" y="502"/>
                  </a:cubicBezTo>
                  <a:close/>
                  <a:moveTo>
                    <a:pt x="8622" y="6941"/>
                  </a:moveTo>
                  <a:cubicBezTo>
                    <a:pt x="10464" y="6941"/>
                    <a:pt x="12473" y="9239"/>
                    <a:pt x="14791" y="9239"/>
                  </a:cubicBezTo>
                  <a:cubicBezTo>
                    <a:pt x="15386" y="9239"/>
                    <a:pt x="16001" y="9087"/>
                    <a:pt x="16639" y="8707"/>
                  </a:cubicBezTo>
                  <a:lnTo>
                    <a:pt x="16639" y="9447"/>
                  </a:lnTo>
                  <a:cubicBezTo>
                    <a:pt x="16037" y="9841"/>
                    <a:pt x="15452" y="9999"/>
                    <a:pt x="14881" y="9999"/>
                  </a:cubicBezTo>
                  <a:cubicBezTo>
                    <a:pt x="13716" y="9999"/>
                    <a:pt x="12606" y="9344"/>
                    <a:pt x="11514" y="8694"/>
                  </a:cubicBezTo>
                  <a:cubicBezTo>
                    <a:pt x="10493" y="8095"/>
                    <a:pt x="9517" y="7522"/>
                    <a:pt x="8558" y="7522"/>
                  </a:cubicBezTo>
                  <a:cubicBezTo>
                    <a:pt x="8355" y="7522"/>
                    <a:pt x="8152" y="7548"/>
                    <a:pt x="7950" y="7604"/>
                  </a:cubicBezTo>
                  <a:lnTo>
                    <a:pt x="7950" y="7053"/>
                  </a:lnTo>
                  <a:cubicBezTo>
                    <a:pt x="8172" y="6975"/>
                    <a:pt x="8396" y="6941"/>
                    <a:pt x="8622" y="6941"/>
                  </a:cubicBezTo>
                  <a:close/>
                  <a:moveTo>
                    <a:pt x="3552" y="9636"/>
                  </a:moveTo>
                  <a:cubicBezTo>
                    <a:pt x="3700" y="9636"/>
                    <a:pt x="3835" y="9756"/>
                    <a:pt x="3835" y="9917"/>
                  </a:cubicBezTo>
                  <a:cubicBezTo>
                    <a:pt x="3835" y="10079"/>
                    <a:pt x="3700" y="10200"/>
                    <a:pt x="3552" y="10200"/>
                  </a:cubicBezTo>
                  <a:lnTo>
                    <a:pt x="1480" y="10200"/>
                  </a:lnTo>
                  <a:cubicBezTo>
                    <a:pt x="1104" y="10186"/>
                    <a:pt x="1104" y="9648"/>
                    <a:pt x="1480" y="9636"/>
                  </a:cubicBezTo>
                  <a:close/>
                  <a:moveTo>
                    <a:pt x="7165" y="0"/>
                  </a:moveTo>
                  <a:cubicBezTo>
                    <a:pt x="6810" y="0"/>
                    <a:pt x="6455" y="227"/>
                    <a:pt x="6390" y="691"/>
                  </a:cubicBezTo>
                  <a:cubicBezTo>
                    <a:pt x="4493" y="2642"/>
                    <a:pt x="3605" y="2991"/>
                    <a:pt x="3471" y="3031"/>
                  </a:cubicBezTo>
                  <a:lnTo>
                    <a:pt x="1306" y="3031"/>
                  </a:lnTo>
                  <a:cubicBezTo>
                    <a:pt x="580" y="3031"/>
                    <a:pt x="1" y="3610"/>
                    <a:pt x="1" y="4322"/>
                  </a:cubicBezTo>
                  <a:lnTo>
                    <a:pt x="1" y="5358"/>
                  </a:lnTo>
                  <a:cubicBezTo>
                    <a:pt x="1" y="6058"/>
                    <a:pt x="553" y="6636"/>
                    <a:pt x="1252" y="6663"/>
                  </a:cubicBezTo>
                  <a:lnTo>
                    <a:pt x="1252" y="7672"/>
                  </a:lnTo>
                  <a:cubicBezTo>
                    <a:pt x="1252" y="7819"/>
                    <a:pt x="1360" y="7927"/>
                    <a:pt x="1507" y="7927"/>
                  </a:cubicBezTo>
                  <a:cubicBezTo>
                    <a:pt x="1642" y="7927"/>
                    <a:pt x="1749" y="7819"/>
                    <a:pt x="1749" y="7672"/>
                  </a:cubicBezTo>
                  <a:lnTo>
                    <a:pt x="1749" y="6663"/>
                  </a:lnTo>
                  <a:lnTo>
                    <a:pt x="3256" y="6663"/>
                  </a:lnTo>
                  <a:lnTo>
                    <a:pt x="3270" y="9137"/>
                  </a:lnTo>
                  <a:lnTo>
                    <a:pt x="1763" y="9137"/>
                  </a:lnTo>
                  <a:lnTo>
                    <a:pt x="1763" y="8882"/>
                  </a:lnTo>
                  <a:cubicBezTo>
                    <a:pt x="1763" y="8755"/>
                    <a:pt x="1654" y="8639"/>
                    <a:pt x="1528" y="8639"/>
                  </a:cubicBezTo>
                  <a:cubicBezTo>
                    <a:pt x="1521" y="8639"/>
                    <a:pt x="1514" y="8640"/>
                    <a:pt x="1507" y="8640"/>
                  </a:cubicBezTo>
                  <a:cubicBezTo>
                    <a:pt x="1373" y="8640"/>
                    <a:pt x="1252" y="8748"/>
                    <a:pt x="1252" y="8882"/>
                  </a:cubicBezTo>
                  <a:lnTo>
                    <a:pt x="1252" y="9164"/>
                  </a:lnTo>
                  <a:cubicBezTo>
                    <a:pt x="391" y="9433"/>
                    <a:pt x="566" y="10685"/>
                    <a:pt x="1480" y="10712"/>
                  </a:cubicBezTo>
                  <a:lnTo>
                    <a:pt x="3552" y="10712"/>
                  </a:lnTo>
                  <a:cubicBezTo>
                    <a:pt x="4466" y="10685"/>
                    <a:pt x="4628" y="9433"/>
                    <a:pt x="3767" y="9164"/>
                  </a:cubicBezTo>
                  <a:lnTo>
                    <a:pt x="3754" y="6784"/>
                  </a:lnTo>
                  <a:lnTo>
                    <a:pt x="3754" y="6784"/>
                  </a:lnTo>
                  <a:cubicBezTo>
                    <a:pt x="4170" y="7012"/>
                    <a:pt x="5018" y="7577"/>
                    <a:pt x="6390" y="8990"/>
                  </a:cubicBezTo>
                  <a:cubicBezTo>
                    <a:pt x="6467" y="9442"/>
                    <a:pt x="6815" y="9659"/>
                    <a:pt x="7163" y="9659"/>
                  </a:cubicBezTo>
                  <a:cubicBezTo>
                    <a:pt x="7550" y="9659"/>
                    <a:pt x="7936" y="9392"/>
                    <a:pt x="7950" y="8882"/>
                  </a:cubicBezTo>
                  <a:lnTo>
                    <a:pt x="7950" y="8129"/>
                  </a:lnTo>
                  <a:cubicBezTo>
                    <a:pt x="8138" y="8064"/>
                    <a:pt x="8332" y="8035"/>
                    <a:pt x="8530" y="8035"/>
                  </a:cubicBezTo>
                  <a:cubicBezTo>
                    <a:pt x="10359" y="8035"/>
                    <a:pt x="12617" y="10512"/>
                    <a:pt x="14769" y="10512"/>
                  </a:cubicBezTo>
                  <a:cubicBezTo>
                    <a:pt x="14809" y="10512"/>
                    <a:pt x="14850" y="10511"/>
                    <a:pt x="14891" y="10509"/>
                  </a:cubicBezTo>
                  <a:cubicBezTo>
                    <a:pt x="15576" y="10509"/>
                    <a:pt x="16289" y="10308"/>
                    <a:pt x="17029" y="9783"/>
                  </a:cubicBezTo>
                  <a:cubicBezTo>
                    <a:pt x="17096" y="9729"/>
                    <a:pt x="17136" y="9648"/>
                    <a:pt x="17136" y="9568"/>
                  </a:cubicBezTo>
                  <a:lnTo>
                    <a:pt x="17136" y="1539"/>
                  </a:lnTo>
                  <a:cubicBezTo>
                    <a:pt x="17136" y="1444"/>
                    <a:pt x="17082" y="1350"/>
                    <a:pt x="16989" y="1309"/>
                  </a:cubicBezTo>
                  <a:cubicBezTo>
                    <a:pt x="16953" y="1295"/>
                    <a:pt x="16916" y="1287"/>
                    <a:pt x="16880" y="1287"/>
                  </a:cubicBezTo>
                  <a:cubicBezTo>
                    <a:pt x="16819" y="1287"/>
                    <a:pt x="16762" y="1308"/>
                    <a:pt x="16720" y="1350"/>
                  </a:cubicBezTo>
                  <a:cubicBezTo>
                    <a:pt x="16383" y="1659"/>
                    <a:pt x="16033" y="1888"/>
                    <a:pt x="15684" y="2063"/>
                  </a:cubicBezTo>
                  <a:cubicBezTo>
                    <a:pt x="15427" y="2192"/>
                    <a:pt x="15545" y="2533"/>
                    <a:pt x="15783" y="2533"/>
                  </a:cubicBezTo>
                  <a:cubicBezTo>
                    <a:pt x="15819" y="2533"/>
                    <a:pt x="15858" y="2525"/>
                    <a:pt x="15899" y="2507"/>
                  </a:cubicBezTo>
                  <a:cubicBezTo>
                    <a:pt x="16141" y="2385"/>
                    <a:pt x="16397" y="2238"/>
                    <a:pt x="16639" y="2063"/>
                  </a:cubicBezTo>
                  <a:lnTo>
                    <a:pt x="16639" y="2762"/>
                  </a:lnTo>
                  <a:cubicBezTo>
                    <a:pt x="15851" y="3415"/>
                    <a:pt x="15101" y="3650"/>
                    <a:pt x="14375" y="3650"/>
                  </a:cubicBezTo>
                  <a:cubicBezTo>
                    <a:pt x="12482" y="3650"/>
                    <a:pt x="10749" y="2048"/>
                    <a:pt x="8918" y="2048"/>
                  </a:cubicBezTo>
                  <a:cubicBezTo>
                    <a:pt x="8599" y="2048"/>
                    <a:pt x="8277" y="2097"/>
                    <a:pt x="7950" y="2211"/>
                  </a:cubicBezTo>
                  <a:lnTo>
                    <a:pt x="7950" y="1700"/>
                  </a:lnTo>
                  <a:cubicBezTo>
                    <a:pt x="8273" y="1513"/>
                    <a:pt x="8616" y="1437"/>
                    <a:pt x="8974" y="1437"/>
                  </a:cubicBezTo>
                  <a:cubicBezTo>
                    <a:pt x="10540" y="1437"/>
                    <a:pt x="12407" y="2892"/>
                    <a:pt x="14228" y="2892"/>
                  </a:cubicBezTo>
                  <a:cubicBezTo>
                    <a:pt x="14386" y="2892"/>
                    <a:pt x="14545" y="2881"/>
                    <a:pt x="14702" y="2857"/>
                  </a:cubicBezTo>
                  <a:cubicBezTo>
                    <a:pt x="14837" y="2843"/>
                    <a:pt x="14944" y="2708"/>
                    <a:pt x="14918" y="2574"/>
                  </a:cubicBezTo>
                  <a:cubicBezTo>
                    <a:pt x="14904" y="2448"/>
                    <a:pt x="14798" y="2357"/>
                    <a:pt x="14673" y="2357"/>
                  </a:cubicBezTo>
                  <a:cubicBezTo>
                    <a:pt x="14665" y="2357"/>
                    <a:pt x="14657" y="2358"/>
                    <a:pt x="14649" y="2359"/>
                  </a:cubicBezTo>
                  <a:cubicBezTo>
                    <a:pt x="14510" y="2377"/>
                    <a:pt x="14372" y="2386"/>
                    <a:pt x="14235" y="2386"/>
                  </a:cubicBezTo>
                  <a:cubicBezTo>
                    <a:pt x="12462" y="2386"/>
                    <a:pt x="10736" y="938"/>
                    <a:pt x="8996" y="938"/>
                  </a:cubicBezTo>
                  <a:cubicBezTo>
                    <a:pt x="8648" y="938"/>
                    <a:pt x="8300" y="996"/>
                    <a:pt x="7950" y="1135"/>
                  </a:cubicBezTo>
                  <a:lnTo>
                    <a:pt x="7950" y="785"/>
                  </a:lnTo>
                  <a:cubicBezTo>
                    <a:pt x="7936" y="267"/>
                    <a:pt x="7550" y="0"/>
                    <a:pt x="7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6621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7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8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8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8" grpId="0" build="p"/>
      <p:bldP spid="2579" grpId="0" uiExpand="1" build="p" animBg="1"/>
      <p:bldP spid="2581" grpId="0" uiExpand="1" build="p" animBg="1"/>
      <p:bldP spid="2583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 Hypothesis 1 Results</a:t>
            </a:r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343C086-8586-F6B3-A6E3-BD27242D2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489534"/>
              </p:ext>
            </p:extLst>
          </p:nvPr>
        </p:nvGraphicFramePr>
        <p:xfrm>
          <a:off x="315962" y="1552415"/>
          <a:ext cx="5023485" cy="3114674"/>
        </p:xfrm>
        <a:graphic>
          <a:graphicData uri="http://schemas.openxmlformats.org/drawingml/2006/table">
            <a:tbl>
              <a:tblPr firstRow="1" bandRow="1">
                <a:tableStyleId>{4F552645-DD32-419F-A8D9-C377EE76D7F8}</a:tableStyleId>
              </a:tblPr>
              <a:tblGrid>
                <a:gridCol w="1674495">
                  <a:extLst>
                    <a:ext uri="{9D8B030D-6E8A-4147-A177-3AD203B41FA5}">
                      <a16:colId xmlns:a16="http://schemas.microsoft.com/office/drawing/2014/main" val="2955957537"/>
                    </a:ext>
                  </a:extLst>
                </a:gridCol>
                <a:gridCol w="1674495">
                  <a:extLst>
                    <a:ext uri="{9D8B030D-6E8A-4147-A177-3AD203B41FA5}">
                      <a16:colId xmlns:a16="http://schemas.microsoft.com/office/drawing/2014/main" val="2040121673"/>
                    </a:ext>
                  </a:extLst>
                </a:gridCol>
                <a:gridCol w="1674495">
                  <a:extLst>
                    <a:ext uri="{9D8B030D-6E8A-4147-A177-3AD203B41FA5}">
                      <a16:colId xmlns:a16="http://schemas.microsoft.com/office/drawing/2014/main" val="3332012256"/>
                    </a:ext>
                  </a:extLst>
                </a:gridCol>
              </a:tblGrid>
              <a:tr h="58832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8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Anti-Trans R^2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Anti-Trans R^2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1739"/>
                  </a:ext>
                </a:extLst>
              </a:tr>
              <a:tr h="42105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.912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.924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191876"/>
                  </a:ext>
                </a:extLst>
              </a:tr>
              <a:tr h="42105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.838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.908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310220"/>
                  </a:ext>
                </a:extLst>
              </a:tr>
              <a:tr h="42105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.888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.964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421763"/>
                  </a:ext>
                </a:extLst>
              </a:tr>
              <a:tr h="42105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.862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.838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76001"/>
                  </a:ext>
                </a:extLst>
              </a:tr>
              <a:tr h="42105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2020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.855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.95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46730"/>
                  </a:ext>
                </a:extLst>
              </a:tr>
              <a:tr h="42105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Average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.871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.917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083355"/>
                  </a:ext>
                </a:extLst>
              </a:tr>
            </a:tbl>
          </a:graphicData>
        </a:graphic>
      </p:graphicFrame>
      <p:sp>
        <p:nvSpPr>
          <p:cNvPr id="2" name="Google Shape;808;p60">
            <a:extLst>
              <a:ext uri="{FF2B5EF4-FFF2-40B4-BE49-F238E27FC236}">
                <a16:creationId xmlns:a16="http://schemas.microsoft.com/office/drawing/2014/main" id="{A05BC504-4DF1-B236-FE87-CFD8A3D162EA}"/>
              </a:ext>
            </a:extLst>
          </p:cNvPr>
          <p:cNvSpPr txBox="1">
            <a:spLocks/>
          </p:cNvSpPr>
          <p:nvPr/>
        </p:nvSpPr>
        <p:spPr>
          <a:xfrm>
            <a:off x="5518298" y="1669981"/>
            <a:ext cx="3625701" cy="2879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b="1" u="sng" dirty="0"/>
              <a:t>Trans vs Overall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Outliers (Anti): FL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Outliers (Pro): CA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Results include nonsignificant outliers.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Hypothesis: </a:t>
            </a:r>
            <a:r>
              <a:rPr lang="en-US" b="1" dirty="0"/>
              <a:t>Somewhat</a:t>
            </a:r>
            <a:r>
              <a:rPr lang="en-US" dirty="0"/>
              <a:t> </a:t>
            </a:r>
            <a:r>
              <a:rPr lang="en-US" b="1" dirty="0"/>
              <a:t>Supported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34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 Hypothesis 2 Results</a:t>
            </a:r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343C086-8586-F6B3-A6E3-BD27242D2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419644"/>
              </p:ext>
            </p:extLst>
          </p:nvPr>
        </p:nvGraphicFramePr>
        <p:xfrm>
          <a:off x="315963" y="1487563"/>
          <a:ext cx="5023485" cy="3244378"/>
        </p:xfrm>
        <a:graphic>
          <a:graphicData uri="http://schemas.openxmlformats.org/drawingml/2006/table">
            <a:tbl>
              <a:tblPr firstRow="1" bandRow="1">
                <a:tableStyleId>{4F552645-DD32-419F-A8D9-C377EE76D7F8}</a:tableStyleId>
              </a:tblPr>
              <a:tblGrid>
                <a:gridCol w="1674495">
                  <a:extLst>
                    <a:ext uri="{9D8B030D-6E8A-4147-A177-3AD203B41FA5}">
                      <a16:colId xmlns:a16="http://schemas.microsoft.com/office/drawing/2014/main" val="2955957537"/>
                    </a:ext>
                  </a:extLst>
                </a:gridCol>
                <a:gridCol w="1674495">
                  <a:extLst>
                    <a:ext uri="{9D8B030D-6E8A-4147-A177-3AD203B41FA5}">
                      <a16:colId xmlns:a16="http://schemas.microsoft.com/office/drawing/2014/main" val="2040121673"/>
                    </a:ext>
                  </a:extLst>
                </a:gridCol>
                <a:gridCol w="1674495">
                  <a:extLst>
                    <a:ext uri="{9D8B030D-6E8A-4147-A177-3AD203B41FA5}">
                      <a16:colId xmlns:a16="http://schemas.microsoft.com/office/drawing/2014/main" val="3332012256"/>
                    </a:ext>
                  </a:extLst>
                </a:gridCol>
              </a:tblGrid>
              <a:tr h="61282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8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Anti-Trans R^2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Anti-Trans R^2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1739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.428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.017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191876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.748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.002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310220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.714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.001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421763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.585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.013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76001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2020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.575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.005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46730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Average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0.609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.0076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34130"/>
                  </a:ext>
                </a:extLst>
              </a:tr>
            </a:tbl>
          </a:graphicData>
        </a:graphic>
      </p:graphicFrame>
      <p:sp>
        <p:nvSpPr>
          <p:cNvPr id="2" name="Google Shape;808;p60">
            <a:extLst>
              <a:ext uri="{FF2B5EF4-FFF2-40B4-BE49-F238E27FC236}">
                <a16:creationId xmlns:a16="http://schemas.microsoft.com/office/drawing/2014/main" id="{A05BC504-4DF1-B236-FE87-CFD8A3D162EA}"/>
              </a:ext>
            </a:extLst>
          </p:cNvPr>
          <p:cNvSpPr txBox="1">
            <a:spLocks/>
          </p:cNvSpPr>
          <p:nvPr/>
        </p:nvSpPr>
        <p:spPr>
          <a:xfrm>
            <a:off x="5975498" y="1669981"/>
            <a:ext cx="2762763" cy="2879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b="1" u="sng" dirty="0"/>
              <a:t>Trans vs CoC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Outliers (Anti): N/A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Outliers (Pro): CA, NY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CoC Total (Anti): ~116 /19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CoC Total (Pro): ~102/11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Results include nonsignificant outliers.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Hypothesis: </a:t>
            </a:r>
            <a:r>
              <a:rPr lang="en-US" b="1" dirty="0"/>
              <a:t>Not</a:t>
            </a:r>
            <a:r>
              <a:rPr lang="en-US" dirty="0"/>
              <a:t> </a:t>
            </a:r>
            <a:r>
              <a:rPr lang="en-US" b="1" dirty="0"/>
              <a:t>Supported</a:t>
            </a: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6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 Hypothesis 3 Results</a:t>
            </a:r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343C086-8586-F6B3-A6E3-BD27242D2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631349"/>
              </p:ext>
            </p:extLst>
          </p:nvPr>
        </p:nvGraphicFramePr>
        <p:xfrm>
          <a:off x="315963" y="1487563"/>
          <a:ext cx="5023485" cy="3244378"/>
        </p:xfrm>
        <a:graphic>
          <a:graphicData uri="http://schemas.openxmlformats.org/drawingml/2006/table">
            <a:tbl>
              <a:tblPr firstRow="1" bandRow="1">
                <a:tableStyleId>{4F552645-DD32-419F-A8D9-C377EE76D7F8}</a:tableStyleId>
              </a:tblPr>
              <a:tblGrid>
                <a:gridCol w="1674495">
                  <a:extLst>
                    <a:ext uri="{9D8B030D-6E8A-4147-A177-3AD203B41FA5}">
                      <a16:colId xmlns:a16="http://schemas.microsoft.com/office/drawing/2014/main" val="2955957537"/>
                    </a:ext>
                  </a:extLst>
                </a:gridCol>
                <a:gridCol w="1674495">
                  <a:extLst>
                    <a:ext uri="{9D8B030D-6E8A-4147-A177-3AD203B41FA5}">
                      <a16:colId xmlns:a16="http://schemas.microsoft.com/office/drawing/2014/main" val="2040121673"/>
                    </a:ext>
                  </a:extLst>
                </a:gridCol>
                <a:gridCol w="1674495">
                  <a:extLst>
                    <a:ext uri="{9D8B030D-6E8A-4147-A177-3AD203B41FA5}">
                      <a16:colId xmlns:a16="http://schemas.microsoft.com/office/drawing/2014/main" val="3332012256"/>
                    </a:ext>
                  </a:extLst>
                </a:gridCol>
              </a:tblGrid>
              <a:tr h="61282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84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Anti-Trans R^2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Anti-Trans R^2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21739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.428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.456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191876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.748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.433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310220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.714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421763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2019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.585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.463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76001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2020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.575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.397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346730"/>
                  </a:ext>
                </a:extLst>
              </a:tr>
              <a:tr h="4385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Average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0.61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.436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34130"/>
                  </a:ext>
                </a:extLst>
              </a:tr>
            </a:tbl>
          </a:graphicData>
        </a:graphic>
      </p:graphicFrame>
      <p:sp>
        <p:nvSpPr>
          <p:cNvPr id="2" name="Google Shape;808;p60">
            <a:extLst>
              <a:ext uri="{FF2B5EF4-FFF2-40B4-BE49-F238E27FC236}">
                <a16:creationId xmlns:a16="http://schemas.microsoft.com/office/drawing/2014/main" id="{A05BC504-4DF1-B236-FE87-CFD8A3D162EA}"/>
              </a:ext>
            </a:extLst>
          </p:cNvPr>
          <p:cNvSpPr txBox="1">
            <a:spLocks/>
          </p:cNvSpPr>
          <p:nvPr/>
        </p:nvSpPr>
        <p:spPr>
          <a:xfrm>
            <a:off x="5975498" y="1487563"/>
            <a:ext cx="2762763" cy="3061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None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b="1" u="sng" dirty="0"/>
              <a:t>Overall vs CoC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Outliers (Anti): FL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Outliers (Pro): CA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CoC Total (Anti): ~89 /18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CoC Total (Pro): ~128/11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Results include nonsignificant outliers.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Hypothesis: </a:t>
            </a:r>
            <a:r>
              <a:rPr lang="en-US" b="1" dirty="0"/>
              <a:t>Not</a:t>
            </a:r>
            <a:r>
              <a:rPr lang="en-US" dirty="0"/>
              <a:t> </a:t>
            </a:r>
            <a:r>
              <a:rPr lang="en-US" b="1" dirty="0"/>
              <a:t>Supported</a:t>
            </a:r>
            <a:endParaRPr lang="en-US" dirty="0"/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45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5" name="Google Shape;6505;p1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Possible Errors</a:t>
            </a:r>
            <a:endParaRPr dirty="0"/>
          </a:p>
        </p:txBody>
      </p:sp>
      <p:grpSp>
        <p:nvGrpSpPr>
          <p:cNvPr id="6506" name="Google Shape;6506;p120"/>
          <p:cNvGrpSpPr/>
          <p:nvPr/>
        </p:nvGrpSpPr>
        <p:grpSpPr>
          <a:xfrm>
            <a:off x="1492152" y="1700422"/>
            <a:ext cx="496063" cy="486392"/>
            <a:chOff x="7447220" y="3406636"/>
            <a:chExt cx="400697" cy="392854"/>
          </a:xfrm>
        </p:grpSpPr>
        <p:sp>
          <p:nvSpPr>
            <p:cNvPr id="6507" name="Google Shape;6507;p120"/>
            <p:cNvSpPr/>
            <p:nvPr/>
          </p:nvSpPr>
          <p:spPr>
            <a:xfrm>
              <a:off x="7704161" y="3524315"/>
              <a:ext cx="85479" cy="52452"/>
            </a:xfrm>
            <a:custGeom>
              <a:avLst/>
              <a:gdLst/>
              <a:ahLst/>
              <a:cxnLst/>
              <a:rect l="l" t="t" r="r" b="b"/>
              <a:pathLst>
                <a:path w="3727" h="2287" extrusionOk="0">
                  <a:moveTo>
                    <a:pt x="418" y="0"/>
                  </a:moveTo>
                  <a:lnTo>
                    <a:pt x="1" y="2287"/>
                  </a:lnTo>
                  <a:lnTo>
                    <a:pt x="3727" y="228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8" name="Google Shape;6508;p120"/>
            <p:cNvSpPr/>
            <p:nvPr/>
          </p:nvSpPr>
          <p:spPr>
            <a:xfrm>
              <a:off x="7513525" y="3711259"/>
              <a:ext cx="23164" cy="82360"/>
            </a:xfrm>
            <a:custGeom>
              <a:avLst/>
              <a:gdLst/>
              <a:ahLst/>
              <a:cxnLst/>
              <a:rect l="l" t="t" r="r" b="b"/>
              <a:pathLst>
                <a:path w="1010" h="3591" extrusionOk="0">
                  <a:moveTo>
                    <a:pt x="0" y="0"/>
                  </a:moveTo>
                  <a:lnTo>
                    <a:pt x="0" y="3456"/>
                  </a:lnTo>
                  <a:cubicBezTo>
                    <a:pt x="0" y="3537"/>
                    <a:pt x="54" y="3591"/>
                    <a:pt x="135" y="3591"/>
                  </a:cubicBezTo>
                  <a:lnTo>
                    <a:pt x="875" y="3591"/>
                  </a:lnTo>
                  <a:cubicBezTo>
                    <a:pt x="942" y="3591"/>
                    <a:pt x="1010" y="3537"/>
                    <a:pt x="1010" y="3456"/>
                  </a:cubicBezTo>
                  <a:lnTo>
                    <a:pt x="1010" y="0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9" name="Google Shape;6509;p120"/>
            <p:cNvSpPr/>
            <p:nvPr/>
          </p:nvSpPr>
          <p:spPr>
            <a:xfrm>
              <a:off x="7506438" y="3524315"/>
              <a:ext cx="85158" cy="52452"/>
            </a:xfrm>
            <a:custGeom>
              <a:avLst/>
              <a:gdLst/>
              <a:ahLst/>
              <a:cxnLst/>
              <a:rect l="l" t="t" r="r" b="b"/>
              <a:pathLst>
                <a:path w="3713" h="2287" extrusionOk="0">
                  <a:moveTo>
                    <a:pt x="404" y="0"/>
                  </a:moveTo>
                  <a:lnTo>
                    <a:pt x="1" y="2287"/>
                  </a:lnTo>
                  <a:lnTo>
                    <a:pt x="3713" y="2287"/>
                  </a:lnTo>
                  <a:lnTo>
                    <a:pt x="32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0" name="Google Shape;6510;p120"/>
            <p:cNvSpPr/>
            <p:nvPr/>
          </p:nvSpPr>
          <p:spPr>
            <a:xfrm>
              <a:off x="7585702" y="3412324"/>
              <a:ext cx="123413" cy="112015"/>
            </a:xfrm>
            <a:custGeom>
              <a:avLst/>
              <a:gdLst/>
              <a:ahLst/>
              <a:cxnLst/>
              <a:rect l="l" t="t" r="r" b="b"/>
              <a:pathLst>
                <a:path w="5381" h="4884" extrusionOk="0">
                  <a:moveTo>
                    <a:pt x="1615" y="1"/>
                  </a:moveTo>
                  <a:cubicBezTo>
                    <a:pt x="714" y="1"/>
                    <a:pt x="1" y="795"/>
                    <a:pt x="1" y="1817"/>
                  </a:cubicBezTo>
                  <a:cubicBezTo>
                    <a:pt x="1" y="2462"/>
                    <a:pt x="323" y="3713"/>
                    <a:pt x="2449" y="4830"/>
                  </a:cubicBezTo>
                  <a:cubicBezTo>
                    <a:pt x="2529" y="4869"/>
                    <a:pt x="2610" y="4883"/>
                    <a:pt x="2691" y="4883"/>
                  </a:cubicBezTo>
                  <a:cubicBezTo>
                    <a:pt x="2785" y="4883"/>
                    <a:pt x="2866" y="4869"/>
                    <a:pt x="2947" y="4830"/>
                  </a:cubicBezTo>
                  <a:cubicBezTo>
                    <a:pt x="5072" y="3713"/>
                    <a:pt x="5381" y="2462"/>
                    <a:pt x="5381" y="1817"/>
                  </a:cubicBezTo>
                  <a:cubicBezTo>
                    <a:pt x="5381" y="795"/>
                    <a:pt x="4668" y="1"/>
                    <a:pt x="3767" y="1"/>
                  </a:cubicBezTo>
                  <a:cubicBezTo>
                    <a:pt x="3323" y="1"/>
                    <a:pt x="2960" y="162"/>
                    <a:pt x="2691" y="350"/>
                  </a:cubicBezTo>
                  <a:cubicBezTo>
                    <a:pt x="2422" y="162"/>
                    <a:pt x="2059" y="1"/>
                    <a:pt x="16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1" name="Google Shape;6511;p120"/>
            <p:cNvSpPr/>
            <p:nvPr/>
          </p:nvSpPr>
          <p:spPr>
            <a:xfrm>
              <a:off x="7635998" y="3412324"/>
              <a:ext cx="73117" cy="112015"/>
            </a:xfrm>
            <a:custGeom>
              <a:avLst/>
              <a:gdLst/>
              <a:ahLst/>
              <a:cxnLst/>
              <a:rect l="l" t="t" r="r" b="b"/>
              <a:pathLst>
                <a:path w="3188" h="4884" extrusionOk="0">
                  <a:moveTo>
                    <a:pt x="1574" y="1"/>
                  </a:moveTo>
                  <a:cubicBezTo>
                    <a:pt x="1385" y="1"/>
                    <a:pt x="1211" y="27"/>
                    <a:pt x="1050" y="81"/>
                  </a:cubicBezTo>
                  <a:cubicBezTo>
                    <a:pt x="1722" y="310"/>
                    <a:pt x="2192" y="983"/>
                    <a:pt x="2192" y="1817"/>
                  </a:cubicBezTo>
                  <a:cubicBezTo>
                    <a:pt x="2192" y="2436"/>
                    <a:pt x="1897" y="3619"/>
                    <a:pt x="1" y="4681"/>
                  </a:cubicBezTo>
                  <a:cubicBezTo>
                    <a:pt x="81" y="4735"/>
                    <a:pt x="162" y="4776"/>
                    <a:pt x="256" y="4830"/>
                  </a:cubicBezTo>
                  <a:cubicBezTo>
                    <a:pt x="336" y="4869"/>
                    <a:pt x="417" y="4883"/>
                    <a:pt x="498" y="4883"/>
                  </a:cubicBezTo>
                  <a:cubicBezTo>
                    <a:pt x="592" y="4883"/>
                    <a:pt x="673" y="4869"/>
                    <a:pt x="754" y="4830"/>
                  </a:cubicBezTo>
                  <a:cubicBezTo>
                    <a:pt x="2879" y="3713"/>
                    <a:pt x="3188" y="2462"/>
                    <a:pt x="3188" y="1817"/>
                  </a:cubicBezTo>
                  <a:cubicBezTo>
                    <a:pt x="3188" y="795"/>
                    <a:pt x="2475" y="1"/>
                    <a:pt x="15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2" name="Google Shape;6512;p120"/>
            <p:cNvSpPr/>
            <p:nvPr/>
          </p:nvSpPr>
          <p:spPr>
            <a:xfrm>
              <a:off x="7570909" y="3571309"/>
              <a:ext cx="70043" cy="111304"/>
            </a:xfrm>
            <a:custGeom>
              <a:avLst/>
              <a:gdLst/>
              <a:ahLst/>
              <a:cxnLst/>
              <a:rect l="l" t="t" r="r" b="b"/>
              <a:pathLst>
                <a:path w="3054" h="4853" extrusionOk="0">
                  <a:moveTo>
                    <a:pt x="517" y="1"/>
                  </a:moveTo>
                  <a:cubicBezTo>
                    <a:pt x="402" y="1"/>
                    <a:pt x="286" y="25"/>
                    <a:pt x="175" y="77"/>
                  </a:cubicBezTo>
                  <a:lnTo>
                    <a:pt x="0" y="157"/>
                  </a:lnTo>
                  <a:lnTo>
                    <a:pt x="2032" y="4555"/>
                  </a:lnTo>
                  <a:cubicBezTo>
                    <a:pt x="2111" y="4744"/>
                    <a:pt x="2294" y="4852"/>
                    <a:pt x="2487" y="4852"/>
                  </a:cubicBezTo>
                  <a:cubicBezTo>
                    <a:pt x="2554" y="4852"/>
                    <a:pt x="2624" y="4839"/>
                    <a:pt x="2690" y="4811"/>
                  </a:cubicBezTo>
                  <a:cubicBezTo>
                    <a:pt x="2946" y="4689"/>
                    <a:pt x="3054" y="4393"/>
                    <a:pt x="2932" y="4138"/>
                  </a:cubicBezTo>
                  <a:lnTo>
                    <a:pt x="1237" y="466"/>
                  </a:lnTo>
                  <a:cubicBezTo>
                    <a:pt x="1111" y="173"/>
                    <a:pt x="821" y="1"/>
                    <a:pt x="517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3" name="Google Shape;6513;p120"/>
            <p:cNvSpPr/>
            <p:nvPr/>
          </p:nvSpPr>
          <p:spPr>
            <a:xfrm>
              <a:off x="7455224" y="3571309"/>
              <a:ext cx="70043" cy="111304"/>
            </a:xfrm>
            <a:custGeom>
              <a:avLst/>
              <a:gdLst/>
              <a:ahLst/>
              <a:cxnLst/>
              <a:rect l="l" t="t" r="r" b="b"/>
              <a:pathLst>
                <a:path w="3054" h="4853" extrusionOk="0">
                  <a:moveTo>
                    <a:pt x="2538" y="1"/>
                  </a:moveTo>
                  <a:cubicBezTo>
                    <a:pt x="2234" y="1"/>
                    <a:pt x="1944" y="173"/>
                    <a:pt x="1816" y="466"/>
                  </a:cubicBezTo>
                  <a:lnTo>
                    <a:pt x="121" y="4138"/>
                  </a:lnTo>
                  <a:cubicBezTo>
                    <a:pt x="1" y="4393"/>
                    <a:pt x="108" y="4689"/>
                    <a:pt x="363" y="4811"/>
                  </a:cubicBezTo>
                  <a:cubicBezTo>
                    <a:pt x="430" y="4839"/>
                    <a:pt x="500" y="4852"/>
                    <a:pt x="568" y="4852"/>
                  </a:cubicBezTo>
                  <a:cubicBezTo>
                    <a:pt x="761" y="4852"/>
                    <a:pt x="943" y="4744"/>
                    <a:pt x="1023" y="4555"/>
                  </a:cubicBezTo>
                  <a:lnTo>
                    <a:pt x="3053" y="157"/>
                  </a:lnTo>
                  <a:lnTo>
                    <a:pt x="2879" y="77"/>
                  </a:lnTo>
                  <a:cubicBezTo>
                    <a:pt x="2769" y="25"/>
                    <a:pt x="2652" y="1"/>
                    <a:pt x="2538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4" name="Google Shape;6514;p120"/>
            <p:cNvSpPr/>
            <p:nvPr/>
          </p:nvSpPr>
          <p:spPr>
            <a:xfrm>
              <a:off x="7513525" y="3571195"/>
              <a:ext cx="69126" cy="70663"/>
            </a:xfrm>
            <a:custGeom>
              <a:avLst/>
              <a:gdLst/>
              <a:ahLst/>
              <a:cxnLst/>
              <a:rect l="l" t="t" r="r" b="b"/>
              <a:pathLst>
                <a:path w="3014" h="3081" extrusionOk="0">
                  <a:moveTo>
                    <a:pt x="0" y="1"/>
                  </a:moveTo>
                  <a:lnTo>
                    <a:pt x="0" y="3080"/>
                  </a:lnTo>
                  <a:lnTo>
                    <a:pt x="3013" y="3080"/>
                  </a:lnTo>
                  <a:lnTo>
                    <a:pt x="30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5" name="Google Shape;6515;p120"/>
            <p:cNvSpPr/>
            <p:nvPr/>
          </p:nvSpPr>
          <p:spPr>
            <a:xfrm>
              <a:off x="7559487" y="3571195"/>
              <a:ext cx="23164" cy="70663"/>
            </a:xfrm>
            <a:custGeom>
              <a:avLst/>
              <a:gdLst/>
              <a:ahLst/>
              <a:cxnLst/>
              <a:rect l="l" t="t" r="r" b="b"/>
              <a:pathLst>
                <a:path w="1010" h="3081" extrusionOk="0">
                  <a:moveTo>
                    <a:pt x="1" y="1"/>
                  </a:moveTo>
                  <a:lnTo>
                    <a:pt x="1" y="3080"/>
                  </a:lnTo>
                  <a:lnTo>
                    <a:pt x="1009" y="3080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6" name="Google Shape;6516;p120"/>
            <p:cNvSpPr/>
            <p:nvPr/>
          </p:nvSpPr>
          <p:spPr>
            <a:xfrm>
              <a:off x="7559487" y="3711259"/>
              <a:ext cx="23164" cy="82360"/>
            </a:xfrm>
            <a:custGeom>
              <a:avLst/>
              <a:gdLst/>
              <a:ahLst/>
              <a:cxnLst/>
              <a:rect l="l" t="t" r="r" b="b"/>
              <a:pathLst>
                <a:path w="1010" h="3591" extrusionOk="0">
                  <a:moveTo>
                    <a:pt x="1" y="0"/>
                  </a:moveTo>
                  <a:lnTo>
                    <a:pt x="1" y="3456"/>
                  </a:lnTo>
                  <a:cubicBezTo>
                    <a:pt x="1" y="3537"/>
                    <a:pt x="68" y="3591"/>
                    <a:pt x="135" y="3591"/>
                  </a:cubicBezTo>
                  <a:lnTo>
                    <a:pt x="875" y="3591"/>
                  </a:lnTo>
                  <a:cubicBezTo>
                    <a:pt x="942" y="3591"/>
                    <a:pt x="1009" y="3537"/>
                    <a:pt x="1009" y="3456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7" name="Google Shape;6517;p120"/>
            <p:cNvSpPr/>
            <p:nvPr/>
          </p:nvSpPr>
          <p:spPr>
            <a:xfrm>
              <a:off x="7536667" y="3548053"/>
              <a:ext cx="22843" cy="38600"/>
            </a:xfrm>
            <a:custGeom>
              <a:avLst/>
              <a:gdLst/>
              <a:ahLst/>
              <a:cxnLst/>
              <a:rect l="l" t="t" r="r" b="b"/>
              <a:pathLst>
                <a:path w="996" h="1683" extrusionOk="0">
                  <a:moveTo>
                    <a:pt x="1" y="1"/>
                  </a:moveTo>
                  <a:lnTo>
                    <a:pt x="1" y="1171"/>
                  </a:lnTo>
                  <a:cubicBezTo>
                    <a:pt x="1" y="1453"/>
                    <a:pt x="216" y="1682"/>
                    <a:pt x="498" y="1682"/>
                  </a:cubicBezTo>
                  <a:cubicBezTo>
                    <a:pt x="781" y="1682"/>
                    <a:pt x="996" y="1453"/>
                    <a:pt x="996" y="1171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8" name="Google Shape;6518;p120"/>
            <p:cNvSpPr/>
            <p:nvPr/>
          </p:nvSpPr>
          <p:spPr>
            <a:xfrm>
              <a:off x="7524947" y="3501495"/>
              <a:ext cx="46306" cy="58301"/>
            </a:xfrm>
            <a:custGeom>
              <a:avLst/>
              <a:gdLst/>
              <a:ahLst/>
              <a:cxnLst/>
              <a:rect l="l" t="t" r="r" b="b"/>
              <a:pathLst>
                <a:path w="2019" h="2542" extrusionOk="0">
                  <a:moveTo>
                    <a:pt x="1009" y="0"/>
                  </a:moveTo>
                  <a:cubicBezTo>
                    <a:pt x="458" y="0"/>
                    <a:pt x="1" y="443"/>
                    <a:pt x="1" y="995"/>
                  </a:cubicBezTo>
                  <a:lnTo>
                    <a:pt x="1" y="1533"/>
                  </a:lnTo>
                  <a:cubicBezTo>
                    <a:pt x="1" y="2084"/>
                    <a:pt x="458" y="2542"/>
                    <a:pt x="1009" y="2542"/>
                  </a:cubicBezTo>
                  <a:cubicBezTo>
                    <a:pt x="1561" y="2542"/>
                    <a:pt x="2018" y="2084"/>
                    <a:pt x="2018" y="1533"/>
                  </a:cubicBezTo>
                  <a:lnTo>
                    <a:pt x="2018" y="995"/>
                  </a:lnTo>
                  <a:cubicBezTo>
                    <a:pt x="2018" y="443"/>
                    <a:pt x="1561" y="0"/>
                    <a:pt x="1009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9" name="Google Shape;6519;p120"/>
            <p:cNvSpPr/>
            <p:nvPr/>
          </p:nvSpPr>
          <p:spPr>
            <a:xfrm>
              <a:off x="7513525" y="3769238"/>
              <a:ext cx="23164" cy="24380"/>
            </a:xfrm>
            <a:custGeom>
              <a:avLst/>
              <a:gdLst/>
              <a:ahLst/>
              <a:cxnLst/>
              <a:rect l="l" t="t" r="r" b="b"/>
              <a:pathLst>
                <a:path w="1010" h="1063" extrusionOk="0">
                  <a:moveTo>
                    <a:pt x="499" y="1"/>
                  </a:moveTo>
                  <a:cubicBezTo>
                    <a:pt x="230" y="1"/>
                    <a:pt x="0" y="216"/>
                    <a:pt x="0" y="498"/>
                  </a:cubicBezTo>
                  <a:lnTo>
                    <a:pt x="0" y="928"/>
                  </a:lnTo>
                  <a:cubicBezTo>
                    <a:pt x="0" y="1009"/>
                    <a:pt x="54" y="1063"/>
                    <a:pt x="135" y="1063"/>
                  </a:cubicBezTo>
                  <a:lnTo>
                    <a:pt x="875" y="1063"/>
                  </a:lnTo>
                  <a:cubicBezTo>
                    <a:pt x="942" y="1063"/>
                    <a:pt x="1010" y="1009"/>
                    <a:pt x="1010" y="928"/>
                  </a:cubicBezTo>
                  <a:lnTo>
                    <a:pt x="1010" y="498"/>
                  </a:lnTo>
                  <a:cubicBezTo>
                    <a:pt x="1010" y="216"/>
                    <a:pt x="780" y="1"/>
                    <a:pt x="499" y="1"/>
                  </a:cubicBezTo>
                  <a:close/>
                </a:path>
              </a:pathLst>
            </a:custGeom>
            <a:solidFill>
              <a:srgbClr val="9B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0" name="Google Shape;6520;p120"/>
            <p:cNvSpPr/>
            <p:nvPr/>
          </p:nvSpPr>
          <p:spPr>
            <a:xfrm>
              <a:off x="7513525" y="3769238"/>
              <a:ext cx="23164" cy="24380"/>
            </a:xfrm>
            <a:custGeom>
              <a:avLst/>
              <a:gdLst/>
              <a:ahLst/>
              <a:cxnLst/>
              <a:rect l="l" t="t" r="r" b="b"/>
              <a:pathLst>
                <a:path w="1010" h="1063" extrusionOk="0">
                  <a:moveTo>
                    <a:pt x="499" y="1"/>
                  </a:moveTo>
                  <a:cubicBezTo>
                    <a:pt x="230" y="1"/>
                    <a:pt x="0" y="216"/>
                    <a:pt x="0" y="498"/>
                  </a:cubicBezTo>
                  <a:lnTo>
                    <a:pt x="0" y="928"/>
                  </a:lnTo>
                  <a:cubicBezTo>
                    <a:pt x="0" y="1009"/>
                    <a:pt x="54" y="1063"/>
                    <a:pt x="135" y="1063"/>
                  </a:cubicBezTo>
                  <a:lnTo>
                    <a:pt x="875" y="1063"/>
                  </a:lnTo>
                  <a:cubicBezTo>
                    <a:pt x="942" y="1063"/>
                    <a:pt x="1010" y="1009"/>
                    <a:pt x="1010" y="928"/>
                  </a:cubicBezTo>
                  <a:lnTo>
                    <a:pt x="1010" y="498"/>
                  </a:lnTo>
                  <a:cubicBezTo>
                    <a:pt x="1010" y="216"/>
                    <a:pt x="780" y="1"/>
                    <a:pt x="4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1" name="Google Shape;6521;p120"/>
            <p:cNvSpPr/>
            <p:nvPr/>
          </p:nvSpPr>
          <p:spPr>
            <a:xfrm>
              <a:off x="7559487" y="3769238"/>
              <a:ext cx="23164" cy="24380"/>
            </a:xfrm>
            <a:custGeom>
              <a:avLst/>
              <a:gdLst/>
              <a:ahLst/>
              <a:cxnLst/>
              <a:rect l="l" t="t" r="r" b="b"/>
              <a:pathLst>
                <a:path w="1010" h="1063" extrusionOk="0">
                  <a:moveTo>
                    <a:pt x="512" y="1"/>
                  </a:moveTo>
                  <a:cubicBezTo>
                    <a:pt x="229" y="1"/>
                    <a:pt x="1" y="216"/>
                    <a:pt x="1" y="498"/>
                  </a:cubicBezTo>
                  <a:lnTo>
                    <a:pt x="1" y="928"/>
                  </a:lnTo>
                  <a:cubicBezTo>
                    <a:pt x="1" y="1009"/>
                    <a:pt x="68" y="1063"/>
                    <a:pt x="135" y="1063"/>
                  </a:cubicBezTo>
                  <a:lnTo>
                    <a:pt x="875" y="1063"/>
                  </a:lnTo>
                  <a:cubicBezTo>
                    <a:pt x="942" y="1063"/>
                    <a:pt x="1009" y="1009"/>
                    <a:pt x="1009" y="928"/>
                  </a:cubicBezTo>
                  <a:lnTo>
                    <a:pt x="1009" y="498"/>
                  </a:lnTo>
                  <a:cubicBezTo>
                    <a:pt x="1009" y="216"/>
                    <a:pt x="781" y="1"/>
                    <a:pt x="512" y="1"/>
                  </a:cubicBezTo>
                  <a:close/>
                </a:path>
              </a:pathLst>
            </a:custGeom>
            <a:solidFill>
              <a:srgbClr val="9B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2" name="Google Shape;6522;p120"/>
            <p:cNvSpPr/>
            <p:nvPr/>
          </p:nvSpPr>
          <p:spPr>
            <a:xfrm>
              <a:off x="7559487" y="3769238"/>
              <a:ext cx="23164" cy="24380"/>
            </a:xfrm>
            <a:custGeom>
              <a:avLst/>
              <a:gdLst/>
              <a:ahLst/>
              <a:cxnLst/>
              <a:rect l="l" t="t" r="r" b="b"/>
              <a:pathLst>
                <a:path w="1010" h="1063" extrusionOk="0">
                  <a:moveTo>
                    <a:pt x="512" y="1"/>
                  </a:moveTo>
                  <a:cubicBezTo>
                    <a:pt x="229" y="1"/>
                    <a:pt x="1" y="216"/>
                    <a:pt x="1" y="498"/>
                  </a:cubicBezTo>
                  <a:lnTo>
                    <a:pt x="1" y="928"/>
                  </a:lnTo>
                  <a:cubicBezTo>
                    <a:pt x="1" y="1009"/>
                    <a:pt x="68" y="1063"/>
                    <a:pt x="135" y="1063"/>
                  </a:cubicBezTo>
                  <a:lnTo>
                    <a:pt x="875" y="1063"/>
                  </a:lnTo>
                  <a:cubicBezTo>
                    <a:pt x="942" y="1063"/>
                    <a:pt x="1009" y="1009"/>
                    <a:pt x="1009" y="928"/>
                  </a:cubicBezTo>
                  <a:lnTo>
                    <a:pt x="1009" y="498"/>
                  </a:lnTo>
                  <a:cubicBezTo>
                    <a:pt x="1009" y="216"/>
                    <a:pt x="781" y="1"/>
                    <a:pt x="5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3" name="Google Shape;6523;p120"/>
            <p:cNvSpPr/>
            <p:nvPr/>
          </p:nvSpPr>
          <p:spPr>
            <a:xfrm>
              <a:off x="7769549" y="3571309"/>
              <a:ext cx="70365" cy="111304"/>
            </a:xfrm>
            <a:custGeom>
              <a:avLst/>
              <a:gdLst/>
              <a:ahLst/>
              <a:cxnLst/>
              <a:rect l="l" t="t" r="r" b="b"/>
              <a:pathLst>
                <a:path w="3068" h="4853" extrusionOk="0">
                  <a:moveTo>
                    <a:pt x="528" y="1"/>
                  </a:moveTo>
                  <a:cubicBezTo>
                    <a:pt x="415" y="1"/>
                    <a:pt x="300" y="25"/>
                    <a:pt x="189" y="77"/>
                  </a:cubicBezTo>
                  <a:lnTo>
                    <a:pt x="1" y="157"/>
                  </a:lnTo>
                  <a:lnTo>
                    <a:pt x="2032" y="4555"/>
                  </a:lnTo>
                  <a:cubicBezTo>
                    <a:pt x="2122" y="4744"/>
                    <a:pt x="2307" y="4852"/>
                    <a:pt x="2501" y="4852"/>
                  </a:cubicBezTo>
                  <a:cubicBezTo>
                    <a:pt x="2569" y="4852"/>
                    <a:pt x="2638" y="4839"/>
                    <a:pt x="2705" y="4811"/>
                  </a:cubicBezTo>
                  <a:cubicBezTo>
                    <a:pt x="2947" y="4689"/>
                    <a:pt x="3068" y="4393"/>
                    <a:pt x="2947" y="4138"/>
                  </a:cubicBezTo>
                  <a:lnTo>
                    <a:pt x="1252" y="466"/>
                  </a:lnTo>
                  <a:cubicBezTo>
                    <a:pt x="1116" y="173"/>
                    <a:pt x="829" y="1"/>
                    <a:pt x="528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4" name="Google Shape;6524;p120"/>
            <p:cNvSpPr/>
            <p:nvPr/>
          </p:nvSpPr>
          <p:spPr>
            <a:xfrm>
              <a:off x="7654186" y="3571309"/>
              <a:ext cx="70066" cy="111304"/>
            </a:xfrm>
            <a:custGeom>
              <a:avLst/>
              <a:gdLst/>
              <a:ahLst/>
              <a:cxnLst/>
              <a:rect l="l" t="t" r="r" b="b"/>
              <a:pathLst>
                <a:path w="3055" h="4853" extrusionOk="0">
                  <a:moveTo>
                    <a:pt x="2527" y="1"/>
                  </a:moveTo>
                  <a:cubicBezTo>
                    <a:pt x="2226" y="1"/>
                    <a:pt x="1940" y="173"/>
                    <a:pt x="1803" y="466"/>
                  </a:cubicBezTo>
                  <a:lnTo>
                    <a:pt x="108" y="4138"/>
                  </a:lnTo>
                  <a:cubicBezTo>
                    <a:pt x="1" y="4393"/>
                    <a:pt x="108" y="4689"/>
                    <a:pt x="364" y="4811"/>
                  </a:cubicBezTo>
                  <a:cubicBezTo>
                    <a:pt x="427" y="4839"/>
                    <a:pt x="494" y="4852"/>
                    <a:pt x="560" y="4852"/>
                  </a:cubicBezTo>
                  <a:cubicBezTo>
                    <a:pt x="749" y="4852"/>
                    <a:pt x="934" y="4744"/>
                    <a:pt x="1023" y="4555"/>
                  </a:cubicBezTo>
                  <a:lnTo>
                    <a:pt x="3054" y="157"/>
                  </a:lnTo>
                  <a:lnTo>
                    <a:pt x="2866" y="77"/>
                  </a:lnTo>
                  <a:cubicBezTo>
                    <a:pt x="2756" y="25"/>
                    <a:pt x="2640" y="1"/>
                    <a:pt x="2527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5" name="Google Shape;6525;p120"/>
            <p:cNvSpPr/>
            <p:nvPr/>
          </p:nvSpPr>
          <p:spPr>
            <a:xfrm>
              <a:off x="7712509" y="3571195"/>
              <a:ext cx="69126" cy="70663"/>
            </a:xfrm>
            <a:custGeom>
              <a:avLst/>
              <a:gdLst/>
              <a:ahLst/>
              <a:cxnLst/>
              <a:rect l="l" t="t" r="r" b="b"/>
              <a:pathLst>
                <a:path w="3014" h="3081" extrusionOk="0">
                  <a:moveTo>
                    <a:pt x="0" y="1"/>
                  </a:moveTo>
                  <a:lnTo>
                    <a:pt x="0" y="3080"/>
                  </a:lnTo>
                  <a:lnTo>
                    <a:pt x="3013" y="3080"/>
                  </a:lnTo>
                  <a:lnTo>
                    <a:pt x="30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6" name="Google Shape;6526;p120"/>
            <p:cNvSpPr/>
            <p:nvPr/>
          </p:nvSpPr>
          <p:spPr>
            <a:xfrm>
              <a:off x="7758448" y="3571195"/>
              <a:ext cx="23187" cy="70663"/>
            </a:xfrm>
            <a:custGeom>
              <a:avLst/>
              <a:gdLst/>
              <a:ahLst/>
              <a:cxnLst/>
              <a:rect l="l" t="t" r="r" b="b"/>
              <a:pathLst>
                <a:path w="1011" h="3081" extrusionOk="0">
                  <a:moveTo>
                    <a:pt x="1" y="1"/>
                  </a:moveTo>
                  <a:lnTo>
                    <a:pt x="1" y="3080"/>
                  </a:lnTo>
                  <a:lnTo>
                    <a:pt x="1010" y="3080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7" name="Google Shape;6527;p120"/>
            <p:cNvSpPr/>
            <p:nvPr/>
          </p:nvSpPr>
          <p:spPr>
            <a:xfrm>
              <a:off x="7735330" y="3548053"/>
              <a:ext cx="23141" cy="38600"/>
            </a:xfrm>
            <a:custGeom>
              <a:avLst/>
              <a:gdLst/>
              <a:ahLst/>
              <a:cxnLst/>
              <a:rect l="l" t="t" r="r" b="b"/>
              <a:pathLst>
                <a:path w="1009" h="1683" extrusionOk="0">
                  <a:moveTo>
                    <a:pt x="1" y="1"/>
                  </a:moveTo>
                  <a:lnTo>
                    <a:pt x="1" y="1171"/>
                  </a:lnTo>
                  <a:cubicBezTo>
                    <a:pt x="1" y="1453"/>
                    <a:pt x="229" y="1682"/>
                    <a:pt x="512" y="1682"/>
                  </a:cubicBezTo>
                  <a:cubicBezTo>
                    <a:pt x="781" y="1682"/>
                    <a:pt x="1009" y="1453"/>
                    <a:pt x="1009" y="1171"/>
                  </a:cubicBezTo>
                  <a:lnTo>
                    <a:pt x="1009" y="1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6528;p120"/>
            <p:cNvSpPr/>
            <p:nvPr/>
          </p:nvSpPr>
          <p:spPr>
            <a:xfrm>
              <a:off x="7723908" y="3501495"/>
              <a:ext cx="45985" cy="58301"/>
            </a:xfrm>
            <a:custGeom>
              <a:avLst/>
              <a:gdLst/>
              <a:ahLst/>
              <a:cxnLst/>
              <a:rect l="l" t="t" r="r" b="b"/>
              <a:pathLst>
                <a:path w="2005" h="2542" extrusionOk="0">
                  <a:moveTo>
                    <a:pt x="1010" y="0"/>
                  </a:moveTo>
                  <a:cubicBezTo>
                    <a:pt x="445" y="0"/>
                    <a:pt x="0" y="443"/>
                    <a:pt x="0" y="995"/>
                  </a:cubicBezTo>
                  <a:lnTo>
                    <a:pt x="0" y="1533"/>
                  </a:lnTo>
                  <a:cubicBezTo>
                    <a:pt x="0" y="2084"/>
                    <a:pt x="445" y="2542"/>
                    <a:pt x="1010" y="2542"/>
                  </a:cubicBezTo>
                  <a:cubicBezTo>
                    <a:pt x="1561" y="2542"/>
                    <a:pt x="2005" y="2084"/>
                    <a:pt x="2005" y="1533"/>
                  </a:cubicBezTo>
                  <a:lnTo>
                    <a:pt x="2005" y="995"/>
                  </a:lnTo>
                  <a:cubicBezTo>
                    <a:pt x="2005" y="443"/>
                    <a:pt x="1561" y="0"/>
                    <a:pt x="1010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6529;p120"/>
            <p:cNvSpPr/>
            <p:nvPr/>
          </p:nvSpPr>
          <p:spPr>
            <a:xfrm>
              <a:off x="7493480" y="3641834"/>
              <a:ext cx="109216" cy="78988"/>
            </a:xfrm>
            <a:custGeom>
              <a:avLst/>
              <a:gdLst/>
              <a:ahLst/>
              <a:cxnLst/>
              <a:rect l="l" t="t" r="r" b="b"/>
              <a:pathLst>
                <a:path w="4762" h="3444" extrusionOk="0">
                  <a:moveTo>
                    <a:pt x="874" y="0"/>
                  </a:moveTo>
                  <a:lnTo>
                    <a:pt x="14" y="3282"/>
                  </a:lnTo>
                  <a:cubicBezTo>
                    <a:pt x="1" y="3363"/>
                    <a:pt x="67" y="3444"/>
                    <a:pt x="148" y="3444"/>
                  </a:cubicBezTo>
                  <a:lnTo>
                    <a:pt x="4613" y="3444"/>
                  </a:lnTo>
                  <a:cubicBezTo>
                    <a:pt x="4694" y="3444"/>
                    <a:pt x="4762" y="3363"/>
                    <a:pt x="4735" y="3282"/>
                  </a:cubicBezTo>
                  <a:lnTo>
                    <a:pt x="38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6530;p120"/>
            <p:cNvSpPr/>
            <p:nvPr/>
          </p:nvSpPr>
          <p:spPr>
            <a:xfrm>
              <a:off x="7559487" y="3641834"/>
              <a:ext cx="43210" cy="78988"/>
            </a:xfrm>
            <a:custGeom>
              <a:avLst/>
              <a:gdLst/>
              <a:ahLst/>
              <a:cxnLst/>
              <a:rect l="l" t="t" r="r" b="b"/>
              <a:pathLst>
                <a:path w="1884" h="3444" extrusionOk="0">
                  <a:moveTo>
                    <a:pt x="1" y="0"/>
                  </a:moveTo>
                  <a:lnTo>
                    <a:pt x="902" y="3444"/>
                  </a:lnTo>
                  <a:lnTo>
                    <a:pt x="1735" y="3444"/>
                  </a:lnTo>
                  <a:cubicBezTo>
                    <a:pt x="1816" y="3444"/>
                    <a:pt x="1884" y="3363"/>
                    <a:pt x="1857" y="3282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1" name="Google Shape;6531;p120"/>
            <p:cNvSpPr/>
            <p:nvPr/>
          </p:nvSpPr>
          <p:spPr>
            <a:xfrm>
              <a:off x="7712509" y="3711259"/>
              <a:ext cx="22843" cy="82360"/>
            </a:xfrm>
            <a:custGeom>
              <a:avLst/>
              <a:gdLst/>
              <a:ahLst/>
              <a:cxnLst/>
              <a:rect l="l" t="t" r="r" b="b"/>
              <a:pathLst>
                <a:path w="996" h="3591" extrusionOk="0">
                  <a:moveTo>
                    <a:pt x="0" y="0"/>
                  </a:moveTo>
                  <a:lnTo>
                    <a:pt x="0" y="3456"/>
                  </a:lnTo>
                  <a:cubicBezTo>
                    <a:pt x="0" y="3537"/>
                    <a:pt x="54" y="3591"/>
                    <a:pt x="135" y="3591"/>
                  </a:cubicBezTo>
                  <a:lnTo>
                    <a:pt x="861" y="3591"/>
                  </a:lnTo>
                  <a:cubicBezTo>
                    <a:pt x="942" y="3591"/>
                    <a:pt x="996" y="3537"/>
                    <a:pt x="996" y="3456"/>
                  </a:cubicBezTo>
                  <a:lnTo>
                    <a:pt x="996" y="0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2" name="Google Shape;6532;p120"/>
            <p:cNvSpPr/>
            <p:nvPr/>
          </p:nvSpPr>
          <p:spPr>
            <a:xfrm>
              <a:off x="7758448" y="3711259"/>
              <a:ext cx="23187" cy="82360"/>
            </a:xfrm>
            <a:custGeom>
              <a:avLst/>
              <a:gdLst/>
              <a:ahLst/>
              <a:cxnLst/>
              <a:rect l="l" t="t" r="r" b="b"/>
              <a:pathLst>
                <a:path w="1011" h="3591" extrusionOk="0">
                  <a:moveTo>
                    <a:pt x="1" y="0"/>
                  </a:moveTo>
                  <a:lnTo>
                    <a:pt x="1" y="3456"/>
                  </a:lnTo>
                  <a:cubicBezTo>
                    <a:pt x="1" y="3537"/>
                    <a:pt x="55" y="3591"/>
                    <a:pt x="135" y="3591"/>
                  </a:cubicBezTo>
                  <a:lnTo>
                    <a:pt x="876" y="3591"/>
                  </a:lnTo>
                  <a:cubicBezTo>
                    <a:pt x="942" y="3591"/>
                    <a:pt x="1010" y="3537"/>
                    <a:pt x="1010" y="3456"/>
                  </a:cubicBezTo>
                  <a:lnTo>
                    <a:pt x="1010" y="0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6533;p120"/>
            <p:cNvSpPr/>
            <p:nvPr/>
          </p:nvSpPr>
          <p:spPr>
            <a:xfrm>
              <a:off x="7712509" y="3769238"/>
              <a:ext cx="22843" cy="24380"/>
            </a:xfrm>
            <a:custGeom>
              <a:avLst/>
              <a:gdLst/>
              <a:ahLst/>
              <a:cxnLst/>
              <a:rect l="l" t="t" r="r" b="b"/>
              <a:pathLst>
                <a:path w="996" h="1063" extrusionOk="0">
                  <a:moveTo>
                    <a:pt x="497" y="1"/>
                  </a:moveTo>
                  <a:cubicBezTo>
                    <a:pt x="215" y="1"/>
                    <a:pt x="0" y="216"/>
                    <a:pt x="0" y="498"/>
                  </a:cubicBezTo>
                  <a:lnTo>
                    <a:pt x="0" y="928"/>
                  </a:lnTo>
                  <a:cubicBezTo>
                    <a:pt x="0" y="1009"/>
                    <a:pt x="54" y="1063"/>
                    <a:pt x="135" y="1063"/>
                  </a:cubicBezTo>
                  <a:lnTo>
                    <a:pt x="861" y="1063"/>
                  </a:lnTo>
                  <a:cubicBezTo>
                    <a:pt x="942" y="1063"/>
                    <a:pt x="996" y="1009"/>
                    <a:pt x="996" y="928"/>
                  </a:cubicBezTo>
                  <a:lnTo>
                    <a:pt x="996" y="498"/>
                  </a:lnTo>
                  <a:cubicBezTo>
                    <a:pt x="996" y="216"/>
                    <a:pt x="780" y="1"/>
                    <a:pt x="497" y="1"/>
                  </a:cubicBezTo>
                  <a:close/>
                </a:path>
              </a:pathLst>
            </a:custGeom>
            <a:solidFill>
              <a:srgbClr val="9B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4" name="Google Shape;6534;p120"/>
            <p:cNvSpPr/>
            <p:nvPr/>
          </p:nvSpPr>
          <p:spPr>
            <a:xfrm>
              <a:off x="7712509" y="3769238"/>
              <a:ext cx="22843" cy="24380"/>
            </a:xfrm>
            <a:custGeom>
              <a:avLst/>
              <a:gdLst/>
              <a:ahLst/>
              <a:cxnLst/>
              <a:rect l="l" t="t" r="r" b="b"/>
              <a:pathLst>
                <a:path w="996" h="1063" extrusionOk="0">
                  <a:moveTo>
                    <a:pt x="497" y="1"/>
                  </a:moveTo>
                  <a:cubicBezTo>
                    <a:pt x="215" y="1"/>
                    <a:pt x="0" y="216"/>
                    <a:pt x="0" y="498"/>
                  </a:cubicBezTo>
                  <a:lnTo>
                    <a:pt x="0" y="928"/>
                  </a:lnTo>
                  <a:cubicBezTo>
                    <a:pt x="0" y="1009"/>
                    <a:pt x="54" y="1063"/>
                    <a:pt x="135" y="1063"/>
                  </a:cubicBezTo>
                  <a:lnTo>
                    <a:pt x="861" y="1063"/>
                  </a:lnTo>
                  <a:cubicBezTo>
                    <a:pt x="942" y="1063"/>
                    <a:pt x="996" y="1009"/>
                    <a:pt x="996" y="928"/>
                  </a:cubicBezTo>
                  <a:lnTo>
                    <a:pt x="996" y="498"/>
                  </a:lnTo>
                  <a:cubicBezTo>
                    <a:pt x="996" y="216"/>
                    <a:pt x="780" y="1"/>
                    <a:pt x="4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5" name="Google Shape;6535;p120"/>
            <p:cNvSpPr/>
            <p:nvPr/>
          </p:nvSpPr>
          <p:spPr>
            <a:xfrm>
              <a:off x="7758448" y="3769238"/>
              <a:ext cx="23187" cy="24380"/>
            </a:xfrm>
            <a:custGeom>
              <a:avLst/>
              <a:gdLst/>
              <a:ahLst/>
              <a:cxnLst/>
              <a:rect l="l" t="t" r="r" b="b"/>
              <a:pathLst>
                <a:path w="1011" h="1063" extrusionOk="0">
                  <a:moveTo>
                    <a:pt x="499" y="1"/>
                  </a:moveTo>
                  <a:cubicBezTo>
                    <a:pt x="230" y="1"/>
                    <a:pt x="1" y="216"/>
                    <a:pt x="1" y="498"/>
                  </a:cubicBezTo>
                  <a:lnTo>
                    <a:pt x="1" y="928"/>
                  </a:lnTo>
                  <a:cubicBezTo>
                    <a:pt x="1" y="1009"/>
                    <a:pt x="55" y="1063"/>
                    <a:pt x="135" y="1063"/>
                  </a:cubicBezTo>
                  <a:lnTo>
                    <a:pt x="876" y="1063"/>
                  </a:lnTo>
                  <a:cubicBezTo>
                    <a:pt x="942" y="1063"/>
                    <a:pt x="1010" y="1009"/>
                    <a:pt x="1010" y="928"/>
                  </a:cubicBezTo>
                  <a:lnTo>
                    <a:pt x="1010" y="498"/>
                  </a:lnTo>
                  <a:cubicBezTo>
                    <a:pt x="1010" y="216"/>
                    <a:pt x="781" y="1"/>
                    <a:pt x="499" y="1"/>
                  </a:cubicBezTo>
                  <a:close/>
                </a:path>
              </a:pathLst>
            </a:custGeom>
            <a:solidFill>
              <a:srgbClr val="9B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6536;p120"/>
            <p:cNvSpPr/>
            <p:nvPr/>
          </p:nvSpPr>
          <p:spPr>
            <a:xfrm>
              <a:off x="7758448" y="3769238"/>
              <a:ext cx="23187" cy="24380"/>
            </a:xfrm>
            <a:custGeom>
              <a:avLst/>
              <a:gdLst/>
              <a:ahLst/>
              <a:cxnLst/>
              <a:rect l="l" t="t" r="r" b="b"/>
              <a:pathLst>
                <a:path w="1011" h="1063" extrusionOk="0">
                  <a:moveTo>
                    <a:pt x="499" y="1"/>
                  </a:moveTo>
                  <a:cubicBezTo>
                    <a:pt x="230" y="1"/>
                    <a:pt x="1" y="216"/>
                    <a:pt x="1" y="498"/>
                  </a:cubicBezTo>
                  <a:lnTo>
                    <a:pt x="1" y="928"/>
                  </a:lnTo>
                  <a:cubicBezTo>
                    <a:pt x="1" y="1009"/>
                    <a:pt x="55" y="1063"/>
                    <a:pt x="135" y="1063"/>
                  </a:cubicBezTo>
                  <a:lnTo>
                    <a:pt x="876" y="1063"/>
                  </a:lnTo>
                  <a:cubicBezTo>
                    <a:pt x="942" y="1063"/>
                    <a:pt x="1010" y="1009"/>
                    <a:pt x="1010" y="928"/>
                  </a:cubicBezTo>
                  <a:lnTo>
                    <a:pt x="1010" y="498"/>
                  </a:lnTo>
                  <a:cubicBezTo>
                    <a:pt x="1010" y="216"/>
                    <a:pt x="781" y="1"/>
                    <a:pt x="4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6537;p120"/>
            <p:cNvSpPr/>
            <p:nvPr/>
          </p:nvSpPr>
          <p:spPr>
            <a:xfrm>
              <a:off x="7692143" y="3641834"/>
              <a:ext cx="109515" cy="78988"/>
            </a:xfrm>
            <a:custGeom>
              <a:avLst/>
              <a:gdLst/>
              <a:ahLst/>
              <a:cxnLst/>
              <a:rect l="l" t="t" r="r" b="b"/>
              <a:pathLst>
                <a:path w="4775" h="3444" extrusionOk="0">
                  <a:moveTo>
                    <a:pt x="888" y="0"/>
                  </a:moveTo>
                  <a:lnTo>
                    <a:pt x="27" y="3282"/>
                  </a:lnTo>
                  <a:cubicBezTo>
                    <a:pt x="1" y="3363"/>
                    <a:pt x="67" y="3444"/>
                    <a:pt x="162" y="3444"/>
                  </a:cubicBezTo>
                  <a:lnTo>
                    <a:pt x="4613" y="3444"/>
                  </a:lnTo>
                  <a:cubicBezTo>
                    <a:pt x="4708" y="3444"/>
                    <a:pt x="4775" y="3363"/>
                    <a:pt x="4748" y="3282"/>
                  </a:cubicBezTo>
                  <a:lnTo>
                    <a:pt x="39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8" name="Google Shape;6538;p120"/>
            <p:cNvSpPr/>
            <p:nvPr/>
          </p:nvSpPr>
          <p:spPr>
            <a:xfrm>
              <a:off x="7515704" y="3492229"/>
              <a:ext cx="64470" cy="32109"/>
            </a:xfrm>
            <a:custGeom>
              <a:avLst/>
              <a:gdLst/>
              <a:ahLst/>
              <a:cxnLst/>
              <a:rect l="l" t="t" r="r" b="b"/>
              <a:pathLst>
                <a:path w="2811" h="1400" extrusionOk="0">
                  <a:moveTo>
                    <a:pt x="1116" y="1"/>
                  </a:moveTo>
                  <a:cubicBezTo>
                    <a:pt x="497" y="1"/>
                    <a:pt x="0" y="498"/>
                    <a:pt x="0" y="1104"/>
                  </a:cubicBezTo>
                  <a:lnTo>
                    <a:pt x="0" y="1399"/>
                  </a:lnTo>
                  <a:lnTo>
                    <a:pt x="2811" y="1399"/>
                  </a:lnTo>
                  <a:lnTo>
                    <a:pt x="2811" y="1104"/>
                  </a:lnTo>
                  <a:cubicBezTo>
                    <a:pt x="2811" y="498"/>
                    <a:pt x="2313" y="1"/>
                    <a:pt x="1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9" name="Google Shape;6539;p120"/>
            <p:cNvSpPr/>
            <p:nvPr/>
          </p:nvSpPr>
          <p:spPr>
            <a:xfrm>
              <a:off x="7536667" y="3492229"/>
              <a:ext cx="43508" cy="32109"/>
            </a:xfrm>
            <a:custGeom>
              <a:avLst/>
              <a:gdLst/>
              <a:ahLst/>
              <a:cxnLst/>
              <a:rect l="l" t="t" r="r" b="b"/>
              <a:pathLst>
                <a:path w="1897" h="1400" extrusionOk="0">
                  <a:moveTo>
                    <a:pt x="202" y="1"/>
                  </a:moveTo>
                  <a:cubicBezTo>
                    <a:pt x="135" y="1"/>
                    <a:pt x="67" y="1"/>
                    <a:pt x="1" y="14"/>
                  </a:cubicBezTo>
                  <a:cubicBezTo>
                    <a:pt x="512" y="108"/>
                    <a:pt x="901" y="566"/>
                    <a:pt x="901" y="1104"/>
                  </a:cubicBezTo>
                  <a:lnTo>
                    <a:pt x="901" y="1399"/>
                  </a:lnTo>
                  <a:lnTo>
                    <a:pt x="1897" y="1399"/>
                  </a:lnTo>
                  <a:lnTo>
                    <a:pt x="1897" y="1104"/>
                  </a:lnTo>
                  <a:cubicBezTo>
                    <a:pt x="1897" y="498"/>
                    <a:pt x="1399" y="1"/>
                    <a:pt x="7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0" name="Google Shape;6540;p120"/>
            <p:cNvSpPr/>
            <p:nvPr/>
          </p:nvSpPr>
          <p:spPr>
            <a:xfrm>
              <a:off x="7713748" y="3492229"/>
              <a:ext cx="64470" cy="32109"/>
            </a:xfrm>
            <a:custGeom>
              <a:avLst/>
              <a:gdLst/>
              <a:ahLst/>
              <a:cxnLst/>
              <a:rect l="l" t="t" r="r" b="b"/>
              <a:pathLst>
                <a:path w="2811" h="1400" extrusionOk="0">
                  <a:moveTo>
                    <a:pt x="1116" y="1"/>
                  </a:moveTo>
                  <a:cubicBezTo>
                    <a:pt x="497" y="1"/>
                    <a:pt x="0" y="498"/>
                    <a:pt x="0" y="1104"/>
                  </a:cubicBezTo>
                  <a:lnTo>
                    <a:pt x="0" y="1399"/>
                  </a:lnTo>
                  <a:lnTo>
                    <a:pt x="2811" y="1399"/>
                  </a:lnTo>
                  <a:lnTo>
                    <a:pt x="2811" y="1104"/>
                  </a:lnTo>
                  <a:cubicBezTo>
                    <a:pt x="2811" y="498"/>
                    <a:pt x="2313" y="1"/>
                    <a:pt x="1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1" name="Google Shape;6541;p120"/>
            <p:cNvSpPr/>
            <p:nvPr/>
          </p:nvSpPr>
          <p:spPr>
            <a:xfrm>
              <a:off x="7734389" y="3492229"/>
              <a:ext cx="43829" cy="32109"/>
            </a:xfrm>
            <a:custGeom>
              <a:avLst/>
              <a:gdLst/>
              <a:ahLst/>
              <a:cxnLst/>
              <a:rect l="l" t="t" r="r" b="b"/>
              <a:pathLst>
                <a:path w="1911" h="1400" extrusionOk="0">
                  <a:moveTo>
                    <a:pt x="216" y="1"/>
                  </a:moveTo>
                  <a:cubicBezTo>
                    <a:pt x="149" y="1"/>
                    <a:pt x="68" y="1"/>
                    <a:pt x="1" y="14"/>
                  </a:cubicBezTo>
                  <a:cubicBezTo>
                    <a:pt x="526" y="108"/>
                    <a:pt x="915" y="566"/>
                    <a:pt x="915" y="1104"/>
                  </a:cubicBezTo>
                  <a:lnTo>
                    <a:pt x="915" y="1399"/>
                  </a:lnTo>
                  <a:lnTo>
                    <a:pt x="1911" y="1399"/>
                  </a:lnTo>
                  <a:lnTo>
                    <a:pt x="1911" y="1104"/>
                  </a:lnTo>
                  <a:cubicBezTo>
                    <a:pt x="1911" y="498"/>
                    <a:pt x="1413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2" name="Google Shape;6542;p120"/>
            <p:cNvSpPr/>
            <p:nvPr/>
          </p:nvSpPr>
          <p:spPr>
            <a:xfrm>
              <a:off x="7565335" y="3406636"/>
              <a:ext cx="149651" cy="123551"/>
            </a:xfrm>
            <a:custGeom>
              <a:avLst/>
              <a:gdLst/>
              <a:ahLst/>
              <a:cxnLst/>
              <a:rect l="l" t="t" r="r" b="b"/>
              <a:pathLst>
                <a:path w="6525" h="5387" extrusionOk="0">
                  <a:moveTo>
                    <a:pt x="4612" y="1"/>
                  </a:moveTo>
                  <a:cubicBezTo>
                    <a:pt x="4267" y="1"/>
                    <a:pt x="3912" y="96"/>
                    <a:pt x="3579" y="302"/>
                  </a:cubicBezTo>
                  <a:cubicBezTo>
                    <a:pt x="3324" y="155"/>
                    <a:pt x="2960" y="6"/>
                    <a:pt x="2503" y="6"/>
                  </a:cubicBezTo>
                  <a:cubicBezTo>
                    <a:pt x="526" y="101"/>
                    <a:pt x="1" y="2549"/>
                    <a:pt x="1548" y="4095"/>
                  </a:cubicBezTo>
                  <a:cubicBezTo>
                    <a:pt x="1605" y="4149"/>
                    <a:pt x="1668" y="4172"/>
                    <a:pt x="1728" y="4172"/>
                  </a:cubicBezTo>
                  <a:cubicBezTo>
                    <a:pt x="1923" y="4172"/>
                    <a:pt x="2086" y="3931"/>
                    <a:pt x="1911" y="3746"/>
                  </a:cubicBezTo>
                  <a:cubicBezTo>
                    <a:pt x="1279" y="3073"/>
                    <a:pt x="1145" y="2454"/>
                    <a:pt x="1145" y="2065"/>
                  </a:cubicBezTo>
                  <a:cubicBezTo>
                    <a:pt x="1154" y="1092"/>
                    <a:pt x="1814" y="504"/>
                    <a:pt x="2542" y="504"/>
                  </a:cubicBezTo>
                  <a:cubicBezTo>
                    <a:pt x="2840" y="504"/>
                    <a:pt x="3150" y="602"/>
                    <a:pt x="3431" y="813"/>
                  </a:cubicBezTo>
                  <a:cubicBezTo>
                    <a:pt x="3478" y="840"/>
                    <a:pt x="3532" y="854"/>
                    <a:pt x="3584" y="854"/>
                  </a:cubicBezTo>
                  <a:cubicBezTo>
                    <a:pt x="3636" y="854"/>
                    <a:pt x="3687" y="840"/>
                    <a:pt x="3727" y="813"/>
                  </a:cubicBezTo>
                  <a:cubicBezTo>
                    <a:pt x="3928" y="666"/>
                    <a:pt x="4238" y="505"/>
                    <a:pt x="4655" y="505"/>
                  </a:cubicBezTo>
                  <a:cubicBezTo>
                    <a:pt x="5422" y="505"/>
                    <a:pt x="6027" y="1190"/>
                    <a:pt x="6027" y="2065"/>
                  </a:cubicBezTo>
                  <a:cubicBezTo>
                    <a:pt x="6027" y="2657"/>
                    <a:pt x="5718" y="3799"/>
                    <a:pt x="3713" y="4848"/>
                  </a:cubicBezTo>
                  <a:cubicBezTo>
                    <a:pt x="3673" y="4869"/>
                    <a:pt x="3629" y="4879"/>
                    <a:pt x="3586" y="4879"/>
                  </a:cubicBezTo>
                  <a:cubicBezTo>
                    <a:pt x="3542" y="4879"/>
                    <a:pt x="3499" y="4869"/>
                    <a:pt x="3458" y="4848"/>
                  </a:cubicBezTo>
                  <a:cubicBezTo>
                    <a:pt x="3202" y="4728"/>
                    <a:pt x="2974" y="4593"/>
                    <a:pt x="2759" y="4445"/>
                  </a:cubicBezTo>
                  <a:cubicBezTo>
                    <a:pt x="2720" y="4416"/>
                    <a:pt x="2674" y="4402"/>
                    <a:pt x="2628" y="4402"/>
                  </a:cubicBezTo>
                  <a:cubicBezTo>
                    <a:pt x="2547" y="4402"/>
                    <a:pt x="2465" y="4444"/>
                    <a:pt x="2422" y="4513"/>
                  </a:cubicBezTo>
                  <a:cubicBezTo>
                    <a:pt x="2341" y="4633"/>
                    <a:pt x="2368" y="4782"/>
                    <a:pt x="2490" y="4862"/>
                  </a:cubicBezTo>
                  <a:cubicBezTo>
                    <a:pt x="2705" y="5010"/>
                    <a:pt x="2960" y="5158"/>
                    <a:pt x="3216" y="5293"/>
                  </a:cubicBezTo>
                  <a:cubicBezTo>
                    <a:pt x="3324" y="5360"/>
                    <a:pt x="3458" y="5386"/>
                    <a:pt x="3579" y="5386"/>
                  </a:cubicBezTo>
                  <a:cubicBezTo>
                    <a:pt x="3713" y="5386"/>
                    <a:pt x="3835" y="5360"/>
                    <a:pt x="3942" y="5293"/>
                  </a:cubicBezTo>
                  <a:cubicBezTo>
                    <a:pt x="6188" y="4122"/>
                    <a:pt x="6525" y="2764"/>
                    <a:pt x="6525" y="2065"/>
                  </a:cubicBezTo>
                  <a:cubicBezTo>
                    <a:pt x="6525" y="813"/>
                    <a:pt x="5615" y="1"/>
                    <a:pt x="46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3" name="Google Shape;6543;p120"/>
            <p:cNvSpPr/>
            <p:nvPr/>
          </p:nvSpPr>
          <p:spPr>
            <a:xfrm>
              <a:off x="7447220" y="3486358"/>
              <a:ext cx="201736" cy="313132"/>
            </a:xfrm>
            <a:custGeom>
              <a:avLst/>
              <a:gdLst/>
              <a:ahLst/>
              <a:cxnLst/>
              <a:rect l="l" t="t" r="r" b="b"/>
              <a:pathLst>
                <a:path w="8796" h="13653" extrusionOk="0">
                  <a:moveTo>
                    <a:pt x="4694" y="499"/>
                  </a:moveTo>
                  <a:cubicBezTo>
                    <a:pt x="5178" y="499"/>
                    <a:pt x="5568" y="915"/>
                    <a:pt x="5554" y="1413"/>
                  </a:cubicBezTo>
                  <a:lnTo>
                    <a:pt x="3241" y="1413"/>
                  </a:lnTo>
                  <a:lnTo>
                    <a:pt x="3241" y="1360"/>
                  </a:lnTo>
                  <a:cubicBezTo>
                    <a:pt x="3241" y="888"/>
                    <a:pt x="3632" y="499"/>
                    <a:pt x="4102" y="499"/>
                  </a:cubicBezTo>
                  <a:close/>
                  <a:moveTo>
                    <a:pt x="5151" y="1910"/>
                  </a:moveTo>
                  <a:lnTo>
                    <a:pt x="5151" y="2193"/>
                  </a:lnTo>
                  <a:cubicBezTo>
                    <a:pt x="5151" y="2610"/>
                    <a:pt x="4815" y="2947"/>
                    <a:pt x="4398" y="2947"/>
                  </a:cubicBezTo>
                  <a:cubicBezTo>
                    <a:pt x="3981" y="2947"/>
                    <a:pt x="3645" y="2610"/>
                    <a:pt x="3645" y="2193"/>
                  </a:cubicBezTo>
                  <a:lnTo>
                    <a:pt x="3645" y="1910"/>
                  </a:lnTo>
                  <a:close/>
                  <a:moveTo>
                    <a:pt x="3147" y="2233"/>
                  </a:moveTo>
                  <a:cubicBezTo>
                    <a:pt x="3160" y="2624"/>
                    <a:pt x="3349" y="2974"/>
                    <a:pt x="3645" y="3202"/>
                  </a:cubicBezTo>
                  <a:lnTo>
                    <a:pt x="3645" y="3444"/>
                  </a:lnTo>
                  <a:lnTo>
                    <a:pt x="2918" y="3444"/>
                  </a:lnTo>
                  <a:lnTo>
                    <a:pt x="3147" y="2233"/>
                  </a:lnTo>
                  <a:close/>
                  <a:moveTo>
                    <a:pt x="5649" y="2153"/>
                  </a:moveTo>
                  <a:lnTo>
                    <a:pt x="5931" y="3444"/>
                  </a:lnTo>
                  <a:lnTo>
                    <a:pt x="5151" y="3444"/>
                  </a:lnTo>
                  <a:lnTo>
                    <a:pt x="5151" y="3202"/>
                  </a:lnTo>
                  <a:cubicBezTo>
                    <a:pt x="5461" y="2960"/>
                    <a:pt x="5662" y="2570"/>
                    <a:pt x="5649" y="2153"/>
                  </a:cubicBezTo>
                  <a:close/>
                  <a:moveTo>
                    <a:pt x="4654" y="3417"/>
                  </a:moveTo>
                  <a:lnTo>
                    <a:pt x="4654" y="3861"/>
                  </a:lnTo>
                  <a:cubicBezTo>
                    <a:pt x="4647" y="4029"/>
                    <a:pt x="4522" y="4113"/>
                    <a:pt x="4398" y="4113"/>
                  </a:cubicBezTo>
                  <a:cubicBezTo>
                    <a:pt x="4274" y="4113"/>
                    <a:pt x="4149" y="4029"/>
                    <a:pt x="4143" y="3861"/>
                  </a:cubicBezTo>
                  <a:lnTo>
                    <a:pt x="4143" y="3417"/>
                  </a:lnTo>
                  <a:cubicBezTo>
                    <a:pt x="4223" y="3437"/>
                    <a:pt x="4311" y="3448"/>
                    <a:pt x="4398" y="3448"/>
                  </a:cubicBezTo>
                  <a:cubicBezTo>
                    <a:pt x="4486" y="3448"/>
                    <a:pt x="4573" y="3437"/>
                    <a:pt x="4654" y="3417"/>
                  </a:cubicBezTo>
                  <a:close/>
                  <a:moveTo>
                    <a:pt x="5649" y="3955"/>
                  </a:moveTo>
                  <a:lnTo>
                    <a:pt x="5649" y="6524"/>
                  </a:lnTo>
                  <a:lnTo>
                    <a:pt x="3147" y="6524"/>
                  </a:lnTo>
                  <a:lnTo>
                    <a:pt x="3147" y="3955"/>
                  </a:lnTo>
                  <a:lnTo>
                    <a:pt x="3645" y="3955"/>
                  </a:lnTo>
                  <a:cubicBezTo>
                    <a:pt x="3712" y="4399"/>
                    <a:pt x="4055" y="4621"/>
                    <a:pt x="4398" y="4621"/>
                  </a:cubicBezTo>
                  <a:cubicBezTo>
                    <a:pt x="4741" y="4621"/>
                    <a:pt x="5084" y="4399"/>
                    <a:pt x="5151" y="3955"/>
                  </a:cubicBezTo>
                  <a:close/>
                  <a:moveTo>
                    <a:pt x="2636" y="4009"/>
                  </a:moveTo>
                  <a:lnTo>
                    <a:pt x="2636" y="4923"/>
                  </a:lnTo>
                  <a:lnTo>
                    <a:pt x="2636" y="4937"/>
                  </a:lnTo>
                  <a:lnTo>
                    <a:pt x="1143" y="8151"/>
                  </a:lnTo>
                  <a:cubicBezTo>
                    <a:pt x="1116" y="8219"/>
                    <a:pt x="1076" y="8259"/>
                    <a:pt x="1008" y="8286"/>
                  </a:cubicBezTo>
                  <a:cubicBezTo>
                    <a:pt x="975" y="8299"/>
                    <a:pt x="941" y="8306"/>
                    <a:pt x="909" y="8306"/>
                  </a:cubicBezTo>
                  <a:cubicBezTo>
                    <a:pt x="877" y="8306"/>
                    <a:pt x="847" y="8299"/>
                    <a:pt x="820" y="8286"/>
                  </a:cubicBezTo>
                  <a:cubicBezTo>
                    <a:pt x="686" y="8219"/>
                    <a:pt x="632" y="8071"/>
                    <a:pt x="700" y="7950"/>
                  </a:cubicBezTo>
                  <a:lnTo>
                    <a:pt x="2394" y="4278"/>
                  </a:lnTo>
                  <a:cubicBezTo>
                    <a:pt x="2434" y="4157"/>
                    <a:pt x="2529" y="4062"/>
                    <a:pt x="2636" y="4009"/>
                  </a:cubicBezTo>
                  <a:close/>
                  <a:moveTo>
                    <a:pt x="6160" y="4009"/>
                  </a:moveTo>
                  <a:cubicBezTo>
                    <a:pt x="6268" y="4062"/>
                    <a:pt x="6349" y="4157"/>
                    <a:pt x="6402" y="4278"/>
                  </a:cubicBezTo>
                  <a:lnTo>
                    <a:pt x="8097" y="7950"/>
                  </a:lnTo>
                  <a:cubicBezTo>
                    <a:pt x="8164" y="8071"/>
                    <a:pt x="8110" y="8219"/>
                    <a:pt x="7976" y="8286"/>
                  </a:cubicBezTo>
                  <a:cubicBezTo>
                    <a:pt x="7944" y="8300"/>
                    <a:pt x="7911" y="8306"/>
                    <a:pt x="7876" y="8306"/>
                  </a:cubicBezTo>
                  <a:cubicBezTo>
                    <a:pt x="7779" y="8306"/>
                    <a:pt x="7680" y="8251"/>
                    <a:pt x="7640" y="8151"/>
                  </a:cubicBezTo>
                  <a:lnTo>
                    <a:pt x="6160" y="4923"/>
                  </a:lnTo>
                  <a:lnTo>
                    <a:pt x="6160" y="4009"/>
                  </a:lnTo>
                  <a:close/>
                  <a:moveTo>
                    <a:pt x="5703" y="7021"/>
                  </a:moveTo>
                  <a:lnTo>
                    <a:pt x="6483" y="9980"/>
                  </a:lnTo>
                  <a:lnTo>
                    <a:pt x="2314" y="9980"/>
                  </a:lnTo>
                  <a:lnTo>
                    <a:pt x="3080" y="7021"/>
                  </a:lnTo>
                  <a:close/>
                  <a:moveTo>
                    <a:pt x="3645" y="10479"/>
                  </a:moveTo>
                  <a:lnTo>
                    <a:pt x="3645" y="12120"/>
                  </a:lnTo>
                  <a:cubicBezTo>
                    <a:pt x="3564" y="12093"/>
                    <a:pt x="3476" y="12079"/>
                    <a:pt x="3391" y="12079"/>
                  </a:cubicBezTo>
                  <a:cubicBezTo>
                    <a:pt x="3305" y="12079"/>
                    <a:pt x="3221" y="12093"/>
                    <a:pt x="3147" y="12120"/>
                  </a:cubicBezTo>
                  <a:lnTo>
                    <a:pt x="3147" y="10479"/>
                  </a:lnTo>
                  <a:close/>
                  <a:moveTo>
                    <a:pt x="5649" y="10479"/>
                  </a:moveTo>
                  <a:lnTo>
                    <a:pt x="5649" y="12120"/>
                  </a:lnTo>
                  <a:cubicBezTo>
                    <a:pt x="5575" y="12093"/>
                    <a:pt x="5488" y="12079"/>
                    <a:pt x="5400" y="12079"/>
                  </a:cubicBezTo>
                  <a:cubicBezTo>
                    <a:pt x="5313" y="12079"/>
                    <a:pt x="5225" y="12093"/>
                    <a:pt x="5151" y="12120"/>
                  </a:cubicBezTo>
                  <a:lnTo>
                    <a:pt x="5151" y="10479"/>
                  </a:lnTo>
                  <a:close/>
                  <a:moveTo>
                    <a:pt x="3390" y="12577"/>
                  </a:moveTo>
                  <a:cubicBezTo>
                    <a:pt x="3537" y="12577"/>
                    <a:pt x="3645" y="12697"/>
                    <a:pt x="3645" y="12832"/>
                  </a:cubicBezTo>
                  <a:lnTo>
                    <a:pt x="3645" y="13155"/>
                  </a:lnTo>
                  <a:lnTo>
                    <a:pt x="3147" y="13155"/>
                  </a:lnTo>
                  <a:lnTo>
                    <a:pt x="3147" y="12832"/>
                  </a:lnTo>
                  <a:cubicBezTo>
                    <a:pt x="3147" y="12697"/>
                    <a:pt x="3255" y="12577"/>
                    <a:pt x="3390" y="12577"/>
                  </a:cubicBezTo>
                  <a:close/>
                  <a:moveTo>
                    <a:pt x="5407" y="12577"/>
                  </a:moveTo>
                  <a:cubicBezTo>
                    <a:pt x="5542" y="12577"/>
                    <a:pt x="5649" y="12697"/>
                    <a:pt x="5649" y="12832"/>
                  </a:cubicBezTo>
                  <a:lnTo>
                    <a:pt x="5649" y="13155"/>
                  </a:lnTo>
                  <a:lnTo>
                    <a:pt x="5151" y="13155"/>
                  </a:lnTo>
                  <a:lnTo>
                    <a:pt x="5151" y="12832"/>
                  </a:lnTo>
                  <a:cubicBezTo>
                    <a:pt x="5151" y="12697"/>
                    <a:pt x="5259" y="12577"/>
                    <a:pt x="5407" y="12577"/>
                  </a:cubicBezTo>
                  <a:close/>
                  <a:moveTo>
                    <a:pt x="4102" y="1"/>
                  </a:moveTo>
                  <a:cubicBezTo>
                    <a:pt x="3349" y="1"/>
                    <a:pt x="2744" y="619"/>
                    <a:pt x="2744" y="1360"/>
                  </a:cubicBezTo>
                  <a:lnTo>
                    <a:pt x="2744" y="1641"/>
                  </a:lnTo>
                  <a:lnTo>
                    <a:pt x="2394" y="3578"/>
                  </a:lnTo>
                  <a:cubicBezTo>
                    <a:pt x="2192" y="3686"/>
                    <a:pt x="2031" y="3847"/>
                    <a:pt x="1937" y="4062"/>
                  </a:cubicBezTo>
                  <a:lnTo>
                    <a:pt x="242" y="7735"/>
                  </a:lnTo>
                  <a:cubicBezTo>
                    <a:pt x="0" y="8252"/>
                    <a:pt x="408" y="8808"/>
                    <a:pt x="917" y="8808"/>
                  </a:cubicBezTo>
                  <a:cubicBezTo>
                    <a:pt x="1004" y="8808"/>
                    <a:pt x="1094" y="8792"/>
                    <a:pt x="1184" y="8757"/>
                  </a:cubicBezTo>
                  <a:cubicBezTo>
                    <a:pt x="1372" y="8689"/>
                    <a:pt x="1519" y="8555"/>
                    <a:pt x="1600" y="8366"/>
                  </a:cubicBezTo>
                  <a:lnTo>
                    <a:pt x="2636" y="6121"/>
                  </a:lnTo>
                  <a:lnTo>
                    <a:pt x="2636" y="6740"/>
                  </a:lnTo>
                  <a:lnTo>
                    <a:pt x="1788" y="9994"/>
                  </a:lnTo>
                  <a:cubicBezTo>
                    <a:pt x="1762" y="10115"/>
                    <a:pt x="1788" y="10237"/>
                    <a:pt x="1856" y="10330"/>
                  </a:cubicBezTo>
                  <a:cubicBezTo>
                    <a:pt x="1937" y="10425"/>
                    <a:pt x="2045" y="10479"/>
                    <a:pt x="2165" y="10479"/>
                  </a:cubicBezTo>
                  <a:lnTo>
                    <a:pt x="2636" y="10479"/>
                  </a:lnTo>
                  <a:lnTo>
                    <a:pt x="2636" y="13262"/>
                  </a:lnTo>
                  <a:cubicBezTo>
                    <a:pt x="2636" y="13477"/>
                    <a:pt x="2811" y="13653"/>
                    <a:pt x="3026" y="13653"/>
                  </a:cubicBezTo>
                  <a:lnTo>
                    <a:pt x="3766" y="13653"/>
                  </a:lnTo>
                  <a:cubicBezTo>
                    <a:pt x="3967" y="13653"/>
                    <a:pt x="4143" y="13477"/>
                    <a:pt x="4143" y="13262"/>
                  </a:cubicBezTo>
                  <a:lnTo>
                    <a:pt x="4143" y="10479"/>
                  </a:lnTo>
                  <a:lnTo>
                    <a:pt x="4654" y="10479"/>
                  </a:lnTo>
                  <a:lnTo>
                    <a:pt x="4654" y="13262"/>
                  </a:lnTo>
                  <a:cubicBezTo>
                    <a:pt x="4654" y="13477"/>
                    <a:pt x="4815" y="13653"/>
                    <a:pt x="5030" y="13653"/>
                  </a:cubicBezTo>
                  <a:lnTo>
                    <a:pt x="5770" y="13653"/>
                  </a:lnTo>
                  <a:cubicBezTo>
                    <a:pt x="5985" y="13653"/>
                    <a:pt x="6160" y="13477"/>
                    <a:pt x="6160" y="13262"/>
                  </a:cubicBezTo>
                  <a:lnTo>
                    <a:pt x="6160" y="10479"/>
                  </a:lnTo>
                  <a:lnTo>
                    <a:pt x="6630" y="10479"/>
                  </a:lnTo>
                  <a:cubicBezTo>
                    <a:pt x="6752" y="10479"/>
                    <a:pt x="6860" y="10425"/>
                    <a:pt x="6926" y="10330"/>
                  </a:cubicBezTo>
                  <a:cubicBezTo>
                    <a:pt x="7007" y="10237"/>
                    <a:pt x="7034" y="10115"/>
                    <a:pt x="7007" y="9994"/>
                  </a:cubicBezTo>
                  <a:lnTo>
                    <a:pt x="6160" y="6740"/>
                  </a:lnTo>
                  <a:lnTo>
                    <a:pt x="6160" y="6121"/>
                  </a:lnTo>
                  <a:lnTo>
                    <a:pt x="7195" y="8366"/>
                  </a:lnTo>
                  <a:cubicBezTo>
                    <a:pt x="7276" y="8555"/>
                    <a:pt x="7425" y="8689"/>
                    <a:pt x="7613" y="8757"/>
                  </a:cubicBezTo>
                  <a:cubicBezTo>
                    <a:pt x="7703" y="8792"/>
                    <a:pt x="7793" y="8808"/>
                    <a:pt x="7879" y="8808"/>
                  </a:cubicBezTo>
                  <a:cubicBezTo>
                    <a:pt x="8389" y="8808"/>
                    <a:pt x="8795" y="8252"/>
                    <a:pt x="8554" y="7735"/>
                  </a:cubicBezTo>
                  <a:lnTo>
                    <a:pt x="6860" y="4062"/>
                  </a:lnTo>
                  <a:cubicBezTo>
                    <a:pt x="6779" y="3874"/>
                    <a:pt x="6644" y="3727"/>
                    <a:pt x="6483" y="3619"/>
                  </a:cubicBezTo>
                  <a:lnTo>
                    <a:pt x="6053" y="1629"/>
                  </a:lnTo>
                  <a:lnTo>
                    <a:pt x="6053" y="1360"/>
                  </a:lnTo>
                  <a:cubicBezTo>
                    <a:pt x="6053" y="619"/>
                    <a:pt x="5447" y="1"/>
                    <a:pt x="4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4" name="Google Shape;6544;p120"/>
            <p:cNvSpPr/>
            <p:nvPr/>
          </p:nvSpPr>
          <p:spPr>
            <a:xfrm>
              <a:off x="7645883" y="3486358"/>
              <a:ext cx="202034" cy="313132"/>
            </a:xfrm>
            <a:custGeom>
              <a:avLst/>
              <a:gdLst/>
              <a:ahLst/>
              <a:cxnLst/>
              <a:rect l="l" t="t" r="r" b="b"/>
              <a:pathLst>
                <a:path w="8809" h="13653" extrusionOk="0">
                  <a:moveTo>
                    <a:pt x="4708" y="499"/>
                  </a:moveTo>
                  <a:cubicBezTo>
                    <a:pt x="5192" y="499"/>
                    <a:pt x="5581" y="915"/>
                    <a:pt x="5554" y="1413"/>
                  </a:cubicBezTo>
                  <a:lnTo>
                    <a:pt x="3255" y="1413"/>
                  </a:lnTo>
                  <a:lnTo>
                    <a:pt x="3255" y="1360"/>
                  </a:lnTo>
                  <a:cubicBezTo>
                    <a:pt x="3255" y="888"/>
                    <a:pt x="3632" y="499"/>
                    <a:pt x="4116" y="499"/>
                  </a:cubicBezTo>
                  <a:close/>
                  <a:moveTo>
                    <a:pt x="5165" y="1910"/>
                  </a:moveTo>
                  <a:lnTo>
                    <a:pt x="5165" y="2193"/>
                  </a:lnTo>
                  <a:cubicBezTo>
                    <a:pt x="5165" y="2610"/>
                    <a:pt x="4815" y="2947"/>
                    <a:pt x="4412" y="2947"/>
                  </a:cubicBezTo>
                  <a:cubicBezTo>
                    <a:pt x="3994" y="2947"/>
                    <a:pt x="3658" y="2610"/>
                    <a:pt x="3658" y="2193"/>
                  </a:cubicBezTo>
                  <a:lnTo>
                    <a:pt x="3658" y="1910"/>
                  </a:lnTo>
                  <a:close/>
                  <a:moveTo>
                    <a:pt x="3147" y="2233"/>
                  </a:moveTo>
                  <a:cubicBezTo>
                    <a:pt x="3160" y="2624"/>
                    <a:pt x="3363" y="2974"/>
                    <a:pt x="3658" y="3202"/>
                  </a:cubicBezTo>
                  <a:lnTo>
                    <a:pt x="3658" y="3444"/>
                  </a:lnTo>
                  <a:lnTo>
                    <a:pt x="2932" y="3444"/>
                  </a:lnTo>
                  <a:lnTo>
                    <a:pt x="3147" y="2233"/>
                  </a:lnTo>
                  <a:close/>
                  <a:moveTo>
                    <a:pt x="5662" y="2153"/>
                  </a:moveTo>
                  <a:lnTo>
                    <a:pt x="5945" y="3444"/>
                  </a:lnTo>
                  <a:lnTo>
                    <a:pt x="5165" y="3444"/>
                  </a:lnTo>
                  <a:lnTo>
                    <a:pt x="5165" y="3202"/>
                  </a:lnTo>
                  <a:cubicBezTo>
                    <a:pt x="5474" y="2960"/>
                    <a:pt x="5676" y="2570"/>
                    <a:pt x="5662" y="2153"/>
                  </a:cubicBezTo>
                  <a:close/>
                  <a:moveTo>
                    <a:pt x="4654" y="3417"/>
                  </a:moveTo>
                  <a:lnTo>
                    <a:pt x="4654" y="3700"/>
                  </a:lnTo>
                  <a:lnTo>
                    <a:pt x="4654" y="3861"/>
                  </a:lnTo>
                  <a:cubicBezTo>
                    <a:pt x="4647" y="4029"/>
                    <a:pt x="4526" y="4113"/>
                    <a:pt x="4405" y="4113"/>
                  </a:cubicBezTo>
                  <a:cubicBezTo>
                    <a:pt x="4284" y="4113"/>
                    <a:pt x="4163" y="4029"/>
                    <a:pt x="4156" y="3861"/>
                  </a:cubicBezTo>
                  <a:lnTo>
                    <a:pt x="4156" y="3417"/>
                  </a:lnTo>
                  <a:cubicBezTo>
                    <a:pt x="4236" y="3437"/>
                    <a:pt x="4320" y="3448"/>
                    <a:pt x="4405" y="3448"/>
                  </a:cubicBezTo>
                  <a:cubicBezTo>
                    <a:pt x="4489" y="3448"/>
                    <a:pt x="4573" y="3437"/>
                    <a:pt x="4654" y="3417"/>
                  </a:cubicBezTo>
                  <a:close/>
                  <a:moveTo>
                    <a:pt x="5662" y="3955"/>
                  </a:moveTo>
                  <a:lnTo>
                    <a:pt x="5662" y="6524"/>
                  </a:lnTo>
                  <a:lnTo>
                    <a:pt x="3147" y="6524"/>
                  </a:lnTo>
                  <a:lnTo>
                    <a:pt x="3147" y="3955"/>
                  </a:lnTo>
                  <a:lnTo>
                    <a:pt x="3658" y="3955"/>
                  </a:lnTo>
                  <a:cubicBezTo>
                    <a:pt x="3719" y="4399"/>
                    <a:pt x="4062" y="4621"/>
                    <a:pt x="4405" y="4621"/>
                  </a:cubicBezTo>
                  <a:cubicBezTo>
                    <a:pt x="4748" y="4621"/>
                    <a:pt x="5091" y="4399"/>
                    <a:pt x="5151" y="3955"/>
                  </a:cubicBezTo>
                  <a:close/>
                  <a:moveTo>
                    <a:pt x="2649" y="4009"/>
                  </a:moveTo>
                  <a:lnTo>
                    <a:pt x="2649" y="4923"/>
                  </a:lnTo>
                  <a:lnTo>
                    <a:pt x="1157" y="8151"/>
                  </a:lnTo>
                  <a:cubicBezTo>
                    <a:pt x="1105" y="8260"/>
                    <a:pt x="1018" y="8306"/>
                    <a:pt x="932" y="8306"/>
                  </a:cubicBezTo>
                  <a:cubicBezTo>
                    <a:pt x="774" y="8306"/>
                    <a:pt x="621" y="8150"/>
                    <a:pt x="699" y="7950"/>
                  </a:cubicBezTo>
                  <a:lnTo>
                    <a:pt x="2394" y="4278"/>
                  </a:lnTo>
                  <a:cubicBezTo>
                    <a:pt x="2448" y="4157"/>
                    <a:pt x="2542" y="4062"/>
                    <a:pt x="2649" y="4009"/>
                  </a:cubicBezTo>
                  <a:close/>
                  <a:moveTo>
                    <a:pt x="6160" y="4009"/>
                  </a:moveTo>
                  <a:cubicBezTo>
                    <a:pt x="6268" y="4062"/>
                    <a:pt x="6361" y="4157"/>
                    <a:pt x="6415" y="4278"/>
                  </a:cubicBezTo>
                  <a:lnTo>
                    <a:pt x="8110" y="7950"/>
                  </a:lnTo>
                  <a:cubicBezTo>
                    <a:pt x="8164" y="8071"/>
                    <a:pt x="8110" y="8219"/>
                    <a:pt x="7989" y="8286"/>
                  </a:cubicBezTo>
                  <a:cubicBezTo>
                    <a:pt x="7958" y="8300"/>
                    <a:pt x="7924" y="8306"/>
                    <a:pt x="7890" y="8306"/>
                  </a:cubicBezTo>
                  <a:cubicBezTo>
                    <a:pt x="7792" y="8306"/>
                    <a:pt x="7692" y="8251"/>
                    <a:pt x="7653" y="8151"/>
                  </a:cubicBezTo>
                  <a:lnTo>
                    <a:pt x="6160" y="4923"/>
                  </a:lnTo>
                  <a:lnTo>
                    <a:pt x="6160" y="4009"/>
                  </a:lnTo>
                  <a:close/>
                  <a:moveTo>
                    <a:pt x="3658" y="10479"/>
                  </a:moveTo>
                  <a:lnTo>
                    <a:pt x="3658" y="12120"/>
                  </a:lnTo>
                  <a:cubicBezTo>
                    <a:pt x="3578" y="12093"/>
                    <a:pt x="3490" y="12079"/>
                    <a:pt x="3403" y="12079"/>
                  </a:cubicBezTo>
                  <a:cubicBezTo>
                    <a:pt x="3315" y="12079"/>
                    <a:pt x="3228" y="12093"/>
                    <a:pt x="3147" y="12120"/>
                  </a:cubicBezTo>
                  <a:lnTo>
                    <a:pt x="3147" y="10479"/>
                  </a:lnTo>
                  <a:close/>
                  <a:moveTo>
                    <a:pt x="5662" y="10479"/>
                  </a:moveTo>
                  <a:lnTo>
                    <a:pt x="5662" y="12120"/>
                  </a:lnTo>
                  <a:cubicBezTo>
                    <a:pt x="5581" y="12093"/>
                    <a:pt x="5494" y="12079"/>
                    <a:pt x="5408" y="12079"/>
                  </a:cubicBezTo>
                  <a:cubicBezTo>
                    <a:pt x="5322" y="12079"/>
                    <a:pt x="5239" y="12093"/>
                    <a:pt x="5165" y="12120"/>
                  </a:cubicBezTo>
                  <a:lnTo>
                    <a:pt x="5165" y="10479"/>
                  </a:lnTo>
                  <a:close/>
                  <a:moveTo>
                    <a:pt x="3402" y="12577"/>
                  </a:moveTo>
                  <a:cubicBezTo>
                    <a:pt x="3537" y="12577"/>
                    <a:pt x="3658" y="12697"/>
                    <a:pt x="3658" y="12832"/>
                  </a:cubicBezTo>
                  <a:lnTo>
                    <a:pt x="3658" y="13155"/>
                  </a:lnTo>
                  <a:lnTo>
                    <a:pt x="3147" y="13155"/>
                  </a:lnTo>
                  <a:lnTo>
                    <a:pt x="3147" y="12832"/>
                  </a:lnTo>
                  <a:cubicBezTo>
                    <a:pt x="3147" y="12697"/>
                    <a:pt x="3268" y="12577"/>
                    <a:pt x="3402" y="12577"/>
                  </a:cubicBezTo>
                  <a:close/>
                  <a:moveTo>
                    <a:pt x="5407" y="12577"/>
                  </a:moveTo>
                  <a:cubicBezTo>
                    <a:pt x="5541" y="12577"/>
                    <a:pt x="5662" y="12697"/>
                    <a:pt x="5662" y="12832"/>
                  </a:cubicBezTo>
                  <a:lnTo>
                    <a:pt x="5662" y="13155"/>
                  </a:lnTo>
                  <a:lnTo>
                    <a:pt x="5165" y="13155"/>
                  </a:lnTo>
                  <a:lnTo>
                    <a:pt x="5165" y="12832"/>
                  </a:lnTo>
                  <a:cubicBezTo>
                    <a:pt x="5165" y="12697"/>
                    <a:pt x="5272" y="12577"/>
                    <a:pt x="5407" y="12577"/>
                  </a:cubicBezTo>
                  <a:close/>
                  <a:moveTo>
                    <a:pt x="4116" y="1"/>
                  </a:moveTo>
                  <a:cubicBezTo>
                    <a:pt x="3363" y="1"/>
                    <a:pt x="2744" y="619"/>
                    <a:pt x="2744" y="1360"/>
                  </a:cubicBezTo>
                  <a:lnTo>
                    <a:pt x="2744" y="1641"/>
                  </a:lnTo>
                  <a:lnTo>
                    <a:pt x="2394" y="3578"/>
                  </a:lnTo>
                  <a:cubicBezTo>
                    <a:pt x="2206" y="3686"/>
                    <a:pt x="2030" y="3847"/>
                    <a:pt x="1937" y="4062"/>
                  </a:cubicBezTo>
                  <a:lnTo>
                    <a:pt x="242" y="7735"/>
                  </a:lnTo>
                  <a:cubicBezTo>
                    <a:pt x="0" y="8252"/>
                    <a:pt x="407" y="8808"/>
                    <a:pt x="925" y="8808"/>
                  </a:cubicBezTo>
                  <a:cubicBezTo>
                    <a:pt x="1013" y="8808"/>
                    <a:pt x="1105" y="8792"/>
                    <a:pt x="1197" y="8757"/>
                  </a:cubicBezTo>
                  <a:cubicBezTo>
                    <a:pt x="1385" y="8689"/>
                    <a:pt x="1533" y="8555"/>
                    <a:pt x="1614" y="8366"/>
                  </a:cubicBezTo>
                  <a:lnTo>
                    <a:pt x="2649" y="6121"/>
                  </a:lnTo>
                  <a:lnTo>
                    <a:pt x="2649" y="6740"/>
                  </a:lnTo>
                  <a:lnTo>
                    <a:pt x="1802" y="9994"/>
                  </a:lnTo>
                  <a:cubicBezTo>
                    <a:pt x="1775" y="10115"/>
                    <a:pt x="1802" y="10237"/>
                    <a:pt x="1869" y="10330"/>
                  </a:cubicBezTo>
                  <a:cubicBezTo>
                    <a:pt x="1950" y="10425"/>
                    <a:pt x="2057" y="10479"/>
                    <a:pt x="2179" y="10479"/>
                  </a:cubicBezTo>
                  <a:lnTo>
                    <a:pt x="2649" y="10479"/>
                  </a:lnTo>
                  <a:lnTo>
                    <a:pt x="2649" y="13262"/>
                  </a:lnTo>
                  <a:cubicBezTo>
                    <a:pt x="2649" y="13477"/>
                    <a:pt x="2825" y="13653"/>
                    <a:pt x="3040" y="13653"/>
                  </a:cubicBezTo>
                  <a:lnTo>
                    <a:pt x="3766" y="13653"/>
                  </a:lnTo>
                  <a:cubicBezTo>
                    <a:pt x="3981" y="13653"/>
                    <a:pt x="4156" y="13477"/>
                    <a:pt x="4156" y="13262"/>
                  </a:cubicBezTo>
                  <a:lnTo>
                    <a:pt x="4156" y="10479"/>
                  </a:lnTo>
                  <a:lnTo>
                    <a:pt x="4654" y="10479"/>
                  </a:lnTo>
                  <a:lnTo>
                    <a:pt x="4654" y="13262"/>
                  </a:lnTo>
                  <a:cubicBezTo>
                    <a:pt x="4654" y="13477"/>
                    <a:pt x="4828" y="13653"/>
                    <a:pt x="5043" y="13653"/>
                  </a:cubicBezTo>
                  <a:lnTo>
                    <a:pt x="5784" y="13653"/>
                  </a:lnTo>
                  <a:cubicBezTo>
                    <a:pt x="5985" y="13653"/>
                    <a:pt x="6160" y="13477"/>
                    <a:pt x="6160" y="13262"/>
                  </a:cubicBezTo>
                  <a:lnTo>
                    <a:pt x="6160" y="10479"/>
                  </a:lnTo>
                  <a:lnTo>
                    <a:pt x="6630" y="10479"/>
                  </a:lnTo>
                  <a:cubicBezTo>
                    <a:pt x="6752" y="10479"/>
                    <a:pt x="6872" y="10425"/>
                    <a:pt x="6940" y="10330"/>
                  </a:cubicBezTo>
                  <a:cubicBezTo>
                    <a:pt x="7021" y="10237"/>
                    <a:pt x="7034" y="10115"/>
                    <a:pt x="7007" y="9994"/>
                  </a:cubicBezTo>
                  <a:lnTo>
                    <a:pt x="6860" y="9442"/>
                  </a:lnTo>
                  <a:cubicBezTo>
                    <a:pt x="6827" y="9318"/>
                    <a:pt x="6731" y="9263"/>
                    <a:pt x="6633" y="9263"/>
                  </a:cubicBezTo>
                  <a:cubicBezTo>
                    <a:pt x="6487" y="9263"/>
                    <a:pt x="6335" y="9384"/>
                    <a:pt x="6375" y="9577"/>
                  </a:cubicBezTo>
                  <a:lnTo>
                    <a:pt x="6483" y="9980"/>
                  </a:lnTo>
                  <a:lnTo>
                    <a:pt x="2326" y="9980"/>
                  </a:lnTo>
                  <a:lnTo>
                    <a:pt x="3094" y="7021"/>
                  </a:lnTo>
                  <a:lnTo>
                    <a:pt x="5716" y="7021"/>
                  </a:lnTo>
                  <a:lnTo>
                    <a:pt x="6079" y="8434"/>
                  </a:lnTo>
                  <a:cubicBezTo>
                    <a:pt x="6113" y="8549"/>
                    <a:pt x="6216" y="8614"/>
                    <a:pt x="6329" y="8614"/>
                  </a:cubicBezTo>
                  <a:cubicBezTo>
                    <a:pt x="6349" y="8614"/>
                    <a:pt x="6369" y="8612"/>
                    <a:pt x="6388" y="8609"/>
                  </a:cubicBezTo>
                  <a:cubicBezTo>
                    <a:pt x="6523" y="8569"/>
                    <a:pt x="6603" y="8434"/>
                    <a:pt x="6564" y="8300"/>
                  </a:cubicBezTo>
                  <a:lnTo>
                    <a:pt x="6160" y="6740"/>
                  </a:lnTo>
                  <a:lnTo>
                    <a:pt x="6160" y="6121"/>
                  </a:lnTo>
                  <a:lnTo>
                    <a:pt x="7195" y="8366"/>
                  </a:lnTo>
                  <a:cubicBezTo>
                    <a:pt x="7276" y="8555"/>
                    <a:pt x="7437" y="8689"/>
                    <a:pt x="7626" y="8757"/>
                  </a:cubicBezTo>
                  <a:cubicBezTo>
                    <a:pt x="7716" y="8792"/>
                    <a:pt x="7805" y="8808"/>
                    <a:pt x="7892" y="8808"/>
                  </a:cubicBezTo>
                  <a:cubicBezTo>
                    <a:pt x="8402" y="8808"/>
                    <a:pt x="8809" y="8252"/>
                    <a:pt x="8567" y="7735"/>
                  </a:cubicBezTo>
                  <a:lnTo>
                    <a:pt x="6872" y="4062"/>
                  </a:lnTo>
                  <a:cubicBezTo>
                    <a:pt x="6792" y="3874"/>
                    <a:pt x="6657" y="3727"/>
                    <a:pt x="6496" y="3619"/>
                  </a:cubicBezTo>
                  <a:lnTo>
                    <a:pt x="6065" y="1629"/>
                  </a:lnTo>
                  <a:lnTo>
                    <a:pt x="6065" y="1360"/>
                  </a:lnTo>
                  <a:cubicBezTo>
                    <a:pt x="6065" y="619"/>
                    <a:pt x="5447" y="1"/>
                    <a:pt x="4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45" name="Google Shape;6545;p120"/>
          <p:cNvSpPr/>
          <p:nvPr/>
        </p:nvSpPr>
        <p:spPr>
          <a:xfrm>
            <a:off x="4034583" y="1350927"/>
            <a:ext cx="1202400" cy="12024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6" name="Google Shape;6546;p120"/>
          <p:cNvSpPr/>
          <p:nvPr/>
        </p:nvSpPr>
        <p:spPr>
          <a:xfrm>
            <a:off x="4034583" y="1350936"/>
            <a:ext cx="1202400" cy="1202400"/>
          </a:xfrm>
          <a:prstGeom prst="arc">
            <a:avLst>
              <a:gd name="adj1" fmla="val 16200000"/>
              <a:gd name="adj2" fmla="val 18066603"/>
            </a:avLst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7" name="Google Shape;6547;p120"/>
          <p:cNvSpPr txBox="1">
            <a:spLocks noGrp="1"/>
          </p:cNvSpPr>
          <p:nvPr>
            <p:ph type="subTitle" idx="4294967295"/>
          </p:nvPr>
        </p:nvSpPr>
        <p:spPr>
          <a:xfrm>
            <a:off x="3282602" y="3340700"/>
            <a:ext cx="2746880" cy="15141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6% of survey respondents were denied access to a homeless shelter, including the 4% who were denied for being trans.</a:t>
            </a:r>
          </a:p>
        </p:txBody>
      </p:sp>
      <p:sp>
        <p:nvSpPr>
          <p:cNvPr id="6548" name="Google Shape;6548;p120"/>
          <p:cNvSpPr txBox="1">
            <a:spLocks noGrp="1"/>
          </p:cNvSpPr>
          <p:nvPr>
            <p:ph type="subTitle" idx="4294967295"/>
          </p:nvPr>
        </p:nvSpPr>
        <p:spPr>
          <a:xfrm>
            <a:off x="3440233" y="3110690"/>
            <a:ext cx="2391000" cy="35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Poppins ExtraBold"/>
                <a:ea typeface="Poppins ExtraBold"/>
                <a:cs typeface="Poppins ExtraBold"/>
                <a:sym typeface="Poppins ExtraBold"/>
              </a:rPr>
              <a:t>Denied</a:t>
            </a:r>
            <a:endParaRPr sz="2000" dirty="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549" name="Google Shape;6549;p120"/>
          <p:cNvSpPr txBox="1">
            <a:spLocks noGrp="1"/>
          </p:cNvSpPr>
          <p:nvPr>
            <p:ph type="subTitle" idx="4294967295"/>
          </p:nvPr>
        </p:nvSpPr>
        <p:spPr>
          <a:xfrm>
            <a:off x="3440239" y="2649340"/>
            <a:ext cx="2391000" cy="43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6%</a:t>
            </a:r>
            <a:endParaRPr sz="2000" dirty="0">
              <a:solidFill>
                <a:schemeClr val="lt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550" name="Google Shape;6550;p120"/>
          <p:cNvSpPr/>
          <p:nvPr/>
        </p:nvSpPr>
        <p:spPr>
          <a:xfrm>
            <a:off x="1138998" y="1342424"/>
            <a:ext cx="1202400" cy="12024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1" name="Google Shape;6551;p120"/>
          <p:cNvSpPr/>
          <p:nvPr/>
        </p:nvSpPr>
        <p:spPr>
          <a:xfrm>
            <a:off x="1138998" y="1342433"/>
            <a:ext cx="1202400" cy="1202400"/>
          </a:xfrm>
          <a:prstGeom prst="arc">
            <a:avLst>
              <a:gd name="adj1" fmla="val 16200000"/>
              <a:gd name="adj2" fmla="val 396409"/>
            </a:avLst>
          </a:prstGeom>
          <a:noFill/>
          <a:ln w="762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2" name="Google Shape;6552;p120"/>
          <p:cNvSpPr txBox="1">
            <a:spLocks noGrp="1"/>
          </p:cNvSpPr>
          <p:nvPr>
            <p:ph type="subTitle" idx="4294967295"/>
          </p:nvPr>
        </p:nvSpPr>
        <p:spPr>
          <a:xfrm>
            <a:off x="544655" y="3458587"/>
            <a:ext cx="2390994" cy="10114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26% of survey respondents who were homeless avoided homeless shelters.</a:t>
            </a:r>
            <a:endParaRPr dirty="0"/>
          </a:p>
        </p:txBody>
      </p:sp>
      <p:sp>
        <p:nvSpPr>
          <p:cNvPr id="6553" name="Google Shape;6553;p120"/>
          <p:cNvSpPr txBox="1">
            <a:spLocks noGrp="1"/>
          </p:cNvSpPr>
          <p:nvPr>
            <p:ph type="subTitle" idx="4294967295"/>
          </p:nvPr>
        </p:nvSpPr>
        <p:spPr>
          <a:xfrm>
            <a:off x="544649" y="3102187"/>
            <a:ext cx="2391000" cy="3564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Poppins ExtraBold"/>
                <a:ea typeface="Poppins ExtraBold"/>
                <a:cs typeface="Poppins ExtraBold"/>
                <a:sym typeface="Poppins ExtraBold"/>
              </a:rPr>
              <a:t>Avoided</a:t>
            </a:r>
            <a:endParaRPr sz="2000" dirty="0"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554" name="Google Shape;6554;p120"/>
          <p:cNvSpPr txBox="1">
            <a:spLocks noGrp="1"/>
          </p:cNvSpPr>
          <p:nvPr>
            <p:ph type="subTitle" idx="4294967295"/>
          </p:nvPr>
        </p:nvSpPr>
        <p:spPr>
          <a:xfrm>
            <a:off x="544655" y="2640837"/>
            <a:ext cx="2391000" cy="43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4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26%</a:t>
            </a:r>
            <a:endParaRPr sz="2000" dirty="0">
              <a:solidFill>
                <a:schemeClr val="accent4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2" name="Google Shape;752;p56">
            <a:extLst>
              <a:ext uri="{FF2B5EF4-FFF2-40B4-BE49-F238E27FC236}">
                <a16:creationId xmlns:a16="http://schemas.microsoft.com/office/drawing/2014/main" id="{E5D83EE3-FE8B-231C-426F-12D98B5C4DD4}"/>
              </a:ext>
            </a:extLst>
          </p:cNvPr>
          <p:cNvSpPr txBox="1"/>
          <p:nvPr/>
        </p:nvSpPr>
        <p:spPr>
          <a:xfrm>
            <a:off x="0" y="4854862"/>
            <a:ext cx="5288277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1000" dirty="0">
                <a:solidFill>
                  <a:schemeClr val="accent6"/>
                </a:solidFill>
                <a:latin typeface="Gothic A1"/>
                <a:ea typeface="Gothic A1"/>
                <a:cs typeface="Gothic A1"/>
                <a:sym typeface="Gothic A1"/>
              </a:rPr>
              <a:t>National Center of Transgender Equality, 2015 Transgender Survey</a:t>
            </a:r>
            <a:endParaRPr sz="1000" dirty="0">
              <a:solidFill>
                <a:schemeClr val="accent6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" name="Google Shape;6545;p120">
            <a:extLst>
              <a:ext uri="{FF2B5EF4-FFF2-40B4-BE49-F238E27FC236}">
                <a16:creationId xmlns:a16="http://schemas.microsoft.com/office/drawing/2014/main" id="{311E8DB1-41C6-3EC6-72BF-29A55EBCDCD0}"/>
              </a:ext>
            </a:extLst>
          </p:cNvPr>
          <p:cNvSpPr/>
          <p:nvPr/>
        </p:nvSpPr>
        <p:spPr>
          <a:xfrm>
            <a:off x="6823441" y="1350927"/>
            <a:ext cx="1202400" cy="1202400"/>
          </a:xfrm>
          <a:prstGeom prst="ellipse">
            <a:avLst/>
          </a:prstGeom>
          <a:noFill/>
          <a:ln w="19050" cap="flat" cmpd="sng">
            <a:solidFill>
              <a:srgbClr val="EC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6546;p120">
            <a:extLst>
              <a:ext uri="{FF2B5EF4-FFF2-40B4-BE49-F238E27FC236}">
                <a16:creationId xmlns:a16="http://schemas.microsoft.com/office/drawing/2014/main" id="{15AF3AFF-C7CF-DD87-9665-B22B49F06DDD}"/>
              </a:ext>
            </a:extLst>
          </p:cNvPr>
          <p:cNvSpPr/>
          <p:nvPr/>
        </p:nvSpPr>
        <p:spPr>
          <a:xfrm>
            <a:off x="6823441" y="1350936"/>
            <a:ext cx="1202400" cy="1202400"/>
          </a:xfrm>
          <a:prstGeom prst="arc">
            <a:avLst>
              <a:gd name="adj1" fmla="val 16200000"/>
              <a:gd name="adj2" fmla="val 9507063"/>
            </a:avLst>
          </a:prstGeom>
          <a:noFill/>
          <a:ln w="76200" cap="flat" cmpd="sng">
            <a:solidFill>
              <a:srgbClr val="EC1E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547;p120">
            <a:extLst>
              <a:ext uri="{FF2B5EF4-FFF2-40B4-BE49-F238E27FC236}">
                <a16:creationId xmlns:a16="http://schemas.microsoft.com/office/drawing/2014/main" id="{B5C7C5BA-E11C-7AC6-8420-7D88B481834F}"/>
              </a:ext>
            </a:extLst>
          </p:cNvPr>
          <p:cNvSpPr txBox="1">
            <a:spLocks/>
          </p:cNvSpPr>
          <p:nvPr/>
        </p:nvSpPr>
        <p:spPr>
          <a:xfrm>
            <a:off x="6082105" y="3340700"/>
            <a:ext cx="2746880" cy="107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pPr marL="0" indent="0" algn="ctr">
              <a:buFont typeface="Gothic A1"/>
              <a:buNone/>
            </a:pPr>
            <a:r>
              <a:rPr lang="en-US" dirty="0"/>
              <a:t>70% of survey respondents were mistreated at the homeless shelter.</a:t>
            </a:r>
          </a:p>
        </p:txBody>
      </p:sp>
      <p:sp>
        <p:nvSpPr>
          <p:cNvPr id="6" name="Google Shape;6548;p120">
            <a:extLst>
              <a:ext uri="{FF2B5EF4-FFF2-40B4-BE49-F238E27FC236}">
                <a16:creationId xmlns:a16="http://schemas.microsoft.com/office/drawing/2014/main" id="{34E9F36F-21F8-EAC1-DF80-BDF892CBE3F2}"/>
              </a:ext>
            </a:extLst>
          </p:cNvPr>
          <p:cNvSpPr txBox="1">
            <a:spLocks/>
          </p:cNvSpPr>
          <p:nvPr/>
        </p:nvSpPr>
        <p:spPr>
          <a:xfrm>
            <a:off x="6229091" y="3110690"/>
            <a:ext cx="2391000" cy="356400"/>
          </a:xfrm>
          <a:prstGeom prst="rect">
            <a:avLst/>
          </a:prstGeom>
          <a:solidFill>
            <a:srgbClr val="EC1E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pPr marL="0" indent="0" algn="ctr">
              <a:buFont typeface="Gothic A1"/>
              <a:buNone/>
            </a:pPr>
            <a:r>
              <a:rPr lang="en-US" sz="2000" dirty="0">
                <a:latin typeface="Poppins ExtraBold"/>
                <a:ea typeface="Poppins ExtraBold"/>
                <a:cs typeface="Poppins ExtraBold"/>
                <a:sym typeface="Poppins ExtraBold"/>
              </a:rPr>
              <a:t>Mistreated</a:t>
            </a:r>
          </a:p>
        </p:txBody>
      </p:sp>
      <p:sp>
        <p:nvSpPr>
          <p:cNvPr id="7" name="Google Shape;6549;p120">
            <a:extLst>
              <a:ext uri="{FF2B5EF4-FFF2-40B4-BE49-F238E27FC236}">
                <a16:creationId xmlns:a16="http://schemas.microsoft.com/office/drawing/2014/main" id="{5B0234A7-2072-2A3B-B97A-F709F0301394}"/>
              </a:ext>
            </a:extLst>
          </p:cNvPr>
          <p:cNvSpPr txBox="1">
            <a:spLocks/>
          </p:cNvSpPr>
          <p:nvPr/>
        </p:nvSpPr>
        <p:spPr>
          <a:xfrm>
            <a:off x="6229097" y="2649340"/>
            <a:ext cx="23910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●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○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Gothic A1"/>
              <a:buChar char="■"/>
              <a:defRPr sz="1600" b="0" i="0" u="none" strike="noStrike" cap="none">
                <a:solidFill>
                  <a:schemeClr val="lt1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pPr marL="0" indent="0" algn="ctr">
              <a:buFont typeface="Gothic A1"/>
              <a:buNone/>
            </a:pPr>
            <a:r>
              <a:rPr lang="en" sz="2000" dirty="0">
                <a:solidFill>
                  <a:srgbClr val="EC1E1E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70%</a:t>
            </a:r>
          </a:p>
        </p:txBody>
      </p:sp>
      <p:grpSp>
        <p:nvGrpSpPr>
          <p:cNvPr id="8" name="Google Shape;6555;p120">
            <a:extLst>
              <a:ext uri="{FF2B5EF4-FFF2-40B4-BE49-F238E27FC236}">
                <a16:creationId xmlns:a16="http://schemas.microsoft.com/office/drawing/2014/main" id="{E7E4DB9F-E5C2-3BC6-400A-99C9CEAA069F}"/>
              </a:ext>
            </a:extLst>
          </p:cNvPr>
          <p:cNvGrpSpPr/>
          <p:nvPr/>
        </p:nvGrpSpPr>
        <p:grpSpPr>
          <a:xfrm>
            <a:off x="7180864" y="1708985"/>
            <a:ext cx="487519" cy="486383"/>
            <a:chOff x="6081579" y="2132757"/>
            <a:chExt cx="393954" cy="393037"/>
          </a:xfrm>
        </p:grpSpPr>
        <p:sp>
          <p:nvSpPr>
            <p:cNvPr id="9" name="Google Shape;6556;p120">
              <a:extLst>
                <a:ext uri="{FF2B5EF4-FFF2-40B4-BE49-F238E27FC236}">
                  <a16:creationId xmlns:a16="http://schemas.microsoft.com/office/drawing/2014/main" id="{1207278B-F25A-64F1-2C62-794C6BD0EAA6}"/>
                </a:ext>
              </a:extLst>
            </p:cNvPr>
            <p:cNvSpPr/>
            <p:nvPr/>
          </p:nvSpPr>
          <p:spPr>
            <a:xfrm>
              <a:off x="6217010" y="2138629"/>
              <a:ext cx="123092" cy="111992"/>
            </a:xfrm>
            <a:custGeom>
              <a:avLst/>
              <a:gdLst/>
              <a:ahLst/>
              <a:cxnLst/>
              <a:rect l="l" t="t" r="r" b="b"/>
              <a:pathLst>
                <a:path w="5367" h="4883" extrusionOk="0">
                  <a:moveTo>
                    <a:pt x="1614" y="1"/>
                  </a:moveTo>
                  <a:cubicBezTo>
                    <a:pt x="700" y="1"/>
                    <a:pt x="0" y="794"/>
                    <a:pt x="0" y="1803"/>
                  </a:cubicBezTo>
                  <a:cubicBezTo>
                    <a:pt x="0" y="2462"/>
                    <a:pt x="309" y="3713"/>
                    <a:pt x="2434" y="4829"/>
                  </a:cubicBezTo>
                  <a:cubicBezTo>
                    <a:pt x="2515" y="4870"/>
                    <a:pt x="2595" y="4883"/>
                    <a:pt x="2690" y="4883"/>
                  </a:cubicBezTo>
                  <a:cubicBezTo>
                    <a:pt x="2771" y="4883"/>
                    <a:pt x="2852" y="4870"/>
                    <a:pt x="2932" y="4829"/>
                  </a:cubicBezTo>
                  <a:cubicBezTo>
                    <a:pt x="5057" y="3713"/>
                    <a:pt x="5366" y="2462"/>
                    <a:pt x="5366" y="1803"/>
                  </a:cubicBezTo>
                  <a:cubicBezTo>
                    <a:pt x="5366" y="794"/>
                    <a:pt x="4667" y="1"/>
                    <a:pt x="3752" y="1"/>
                  </a:cubicBezTo>
                  <a:cubicBezTo>
                    <a:pt x="3322" y="1"/>
                    <a:pt x="2945" y="162"/>
                    <a:pt x="2690" y="351"/>
                  </a:cubicBezTo>
                  <a:cubicBezTo>
                    <a:pt x="2421" y="162"/>
                    <a:pt x="2045" y="1"/>
                    <a:pt x="16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557;p120">
              <a:extLst>
                <a:ext uri="{FF2B5EF4-FFF2-40B4-BE49-F238E27FC236}">
                  <a16:creationId xmlns:a16="http://schemas.microsoft.com/office/drawing/2014/main" id="{831BAEC4-4C9F-B0D8-4E5B-AA801467A87C}"/>
                </a:ext>
              </a:extLst>
            </p:cNvPr>
            <p:cNvSpPr/>
            <p:nvPr/>
          </p:nvSpPr>
          <p:spPr>
            <a:xfrm>
              <a:off x="6266985" y="2138629"/>
              <a:ext cx="73117" cy="111992"/>
            </a:xfrm>
            <a:custGeom>
              <a:avLst/>
              <a:gdLst/>
              <a:ahLst/>
              <a:cxnLst/>
              <a:rect l="l" t="t" r="r" b="b"/>
              <a:pathLst>
                <a:path w="3188" h="4883" extrusionOk="0">
                  <a:moveTo>
                    <a:pt x="1573" y="1"/>
                  </a:moveTo>
                  <a:cubicBezTo>
                    <a:pt x="1385" y="1"/>
                    <a:pt x="1211" y="28"/>
                    <a:pt x="1049" y="82"/>
                  </a:cubicBezTo>
                  <a:cubicBezTo>
                    <a:pt x="1722" y="297"/>
                    <a:pt x="2192" y="982"/>
                    <a:pt x="2192" y="1803"/>
                  </a:cubicBezTo>
                  <a:cubicBezTo>
                    <a:pt x="2192" y="2435"/>
                    <a:pt x="1896" y="3606"/>
                    <a:pt x="0" y="4682"/>
                  </a:cubicBezTo>
                  <a:cubicBezTo>
                    <a:pt x="81" y="4735"/>
                    <a:pt x="174" y="4775"/>
                    <a:pt x="255" y="4829"/>
                  </a:cubicBezTo>
                  <a:cubicBezTo>
                    <a:pt x="336" y="4870"/>
                    <a:pt x="416" y="4883"/>
                    <a:pt x="511" y="4883"/>
                  </a:cubicBezTo>
                  <a:cubicBezTo>
                    <a:pt x="592" y="4883"/>
                    <a:pt x="673" y="4870"/>
                    <a:pt x="753" y="4829"/>
                  </a:cubicBezTo>
                  <a:cubicBezTo>
                    <a:pt x="2878" y="3713"/>
                    <a:pt x="3187" y="2462"/>
                    <a:pt x="3187" y="1803"/>
                  </a:cubicBezTo>
                  <a:cubicBezTo>
                    <a:pt x="3187" y="794"/>
                    <a:pt x="2488" y="1"/>
                    <a:pt x="15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558;p120">
              <a:extLst>
                <a:ext uri="{FF2B5EF4-FFF2-40B4-BE49-F238E27FC236}">
                  <a16:creationId xmlns:a16="http://schemas.microsoft.com/office/drawing/2014/main" id="{3FFBBEBE-6EA6-84DB-8E2C-4851A81B4314}"/>
                </a:ext>
              </a:extLst>
            </p:cNvPr>
            <p:cNvSpPr/>
            <p:nvPr/>
          </p:nvSpPr>
          <p:spPr>
            <a:xfrm>
              <a:off x="6201873" y="2297499"/>
              <a:ext cx="70066" cy="111281"/>
            </a:xfrm>
            <a:custGeom>
              <a:avLst/>
              <a:gdLst/>
              <a:ahLst/>
              <a:cxnLst/>
              <a:rect l="l" t="t" r="r" b="b"/>
              <a:pathLst>
                <a:path w="3055" h="4852" extrusionOk="0">
                  <a:moveTo>
                    <a:pt x="503" y="0"/>
                  </a:moveTo>
                  <a:cubicBezTo>
                    <a:pt x="393" y="0"/>
                    <a:pt x="282" y="22"/>
                    <a:pt x="176" y="68"/>
                  </a:cubicBezTo>
                  <a:lnTo>
                    <a:pt x="1" y="162"/>
                  </a:lnTo>
                  <a:lnTo>
                    <a:pt x="2032" y="4560"/>
                  </a:lnTo>
                  <a:cubicBezTo>
                    <a:pt x="2110" y="4744"/>
                    <a:pt x="2292" y="4852"/>
                    <a:pt x="2479" y="4852"/>
                  </a:cubicBezTo>
                  <a:cubicBezTo>
                    <a:pt x="2551" y="4852"/>
                    <a:pt x="2623" y="4836"/>
                    <a:pt x="2691" y="4802"/>
                  </a:cubicBezTo>
                  <a:cubicBezTo>
                    <a:pt x="2947" y="4695"/>
                    <a:pt x="3054" y="4399"/>
                    <a:pt x="2947" y="4143"/>
                  </a:cubicBezTo>
                  <a:lnTo>
                    <a:pt x="1252" y="471"/>
                  </a:lnTo>
                  <a:cubicBezTo>
                    <a:pt x="1113" y="174"/>
                    <a:pt x="813" y="0"/>
                    <a:pt x="503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559;p120">
              <a:extLst>
                <a:ext uri="{FF2B5EF4-FFF2-40B4-BE49-F238E27FC236}">
                  <a16:creationId xmlns:a16="http://schemas.microsoft.com/office/drawing/2014/main" id="{95C091B6-267E-6051-F53C-C9C580C9810A}"/>
                </a:ext>
              </a:extLst>
            </p:cNvPr>
            <p:cNvSpPr/>
            <p:nvPr/>
          </p:nvSpPr>
          <p:spPr>
            <a:xfrm>
              <a:off x="6086211" y="2297499"/>
              <a:ext cx="70342" cy="111281"/>
            </a:xfrm>
            <a:custGeom>
              <a:avLst/>
              <a:gdLst/>
              <a:ahLst/>
              <a:cxnLst/>
              <a:rect l="l" t="t" r="r" b="b"/>
              <a:pathLst>
                <a:path w="3067" h="4852" extrusionOk="0">
                  <a:moveTo>
                    <a:pt x="2554" y="0"/>
                  </a:moveTo>
                  <a:cubicBezTo>
                    <a:pt x="2248" y="0"/>
                    <a:pt x="1954" y="174"/>
                    <a:pt x="1816" y="471"/>
                  </a:cubicBezTo>
                  <a:lnTo>
                    <a:pt x="121" y="4143"/>
                  </a:lnTo>
                  <a:cubicBezTo>
                    <a:pt x="0" y="4399"/>
                    <a:pt x="108" y="4695"/>
                    <a:pt x="363" y="4802"/>
                  </a:cubicBezTo>
                  <a:cubicBezTo>
                    <a:pt x="434" y="4836"/>
                    <a:pt x="508" y="4852"/>
                    <a:pt x="581" y="4852"/>
                  </a:cubicBezTo>
                  <a:cubicBezTo>
                    <a:pt x="770" y="4852"/>
                    <a:pt x="948" y="4744"/>
                    <a:pt x="1035" y="4560"/>
                  </a:cubicBezTo>
                  <a:lnTo>
                    <a:pt x="3067" y="162"/>
                  </a:lnTo>
                  <a:lnTo>
                    <a:pt x="2879" y="68"/>
                  </a:lnTo>
                  <a:cubicBezTo>
                    <a:pt x="2773" y="22"/>
                    <a:pt x="2663" y="0"/>
                    <a:pt x="2554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560;p120">
              <a:extLst>
                <a:ext uri="{FF2B5EF4-FFF2-40B4-BE49-F238E27FC236}">
                  <a16:creationId xmlns:a16="http://schemas.microsoft.com/office/drawing/2014/main" id="{59F698D5-62D7-8959-EB5E-72828955F96D}"/>
                </a:ext>
              </a:extLst>
            </p:cNvPr>
            <p:cNvSpPr/>
            <p:nvPr/>
          </p:nvSpPr>
          <p:spPr>
            <a:xfrm>
              <a:off x="6144489" y="2297499"/>
              <a:ext cx="69126" cy="84538"/>
            </a:xfrm>
            <a:custGeom>
              <a:avLst/>
              <a:gdLst/>
              <a:ahLst/>
              <a:cxnLst/>
              <a:rect l="l" t="t" r="r" b="b"/>
              <a:pathLst>
                <a:path w="3014" h="3686" extrusionOk="0">
                  <a:moveTo>
                    <a:pt x="1" y="0"/>
                  </a:moveTo>
                  <a:lnTo>
                    <a:pt x="1" y="3685"/>
                  </a:lnTo>
                  <a:lnTo>
                    <a:pt x="3014" y="3685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561;p120">
              <a:extLst>
                <a:ext uri="{FF2B5EF4-FFF2-40B4-BE49-F238E27FC236}">
                  <a16:creationId xmlns:a16="http://schemas.microsoft.com/office/drawing/2014/main" id="{3BBB31F5-23EA-F40D-F70A-03928DBE14A2}"/>
                </a:ext>
              </a:extLst>
            </p:cNvPr>
            <p:cNvSpPr/>
            <p:nvPr/>
          </p:nvSpPr>
          <p:spPr>
            <a:xfrm>
              <a:off x="6190474" y="2297499"/>
              <a:ext cx="23141" cy="84538"/>
            </a:xfrm>
            <a:custGeom>
              <a:avLst/>
              <a:gdLst/>
              <a:ahLst/>
              <a:cxnLst/>
              <a:rect l="l" t="t" r="r" b="b"/>
              <a:pathLst>
                <a:path w="1009" h="3686" extrusionOk="0">
                  <a:moveTo>
                    <a:pt x="0" y="0"/>
                  </a:moveTo>
                  <a:lnTo>
                    <a:pt x="0" y="3685"/>
                  </a:lnTo>
                  <a:lnTo>
                    <a:pt x="1009" y="3685"/>
                  </a:lnTo>
                  <a:lnTo>
                    <a:pt x="10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562;p120">
              <a:extLst>
                <a:ext uri="{FF2B5EF4-FFF2-40B4-BE49-F238E27FC236}">
                  <a16:creationId xmlns:a16="http://schemas.microsoft.com/office/drawing/2014/main" id="{408829E2-3C86-9423-3E69-9331210438A0}"/>
                </a:ext>
              </a:extLst>
            </p:cNvPr>
            <p:cNvSpPr/>
            <p:nvPr/>
          </p:nvSpPr>
          <p:spPr>
            <a:xfrm>
              <a:off x="6144489" y="2382015"/>
              <a:ext cx="69126" cy="137931"/>
            </a:xfrm>
            <a:custGeom>
              <a:avLst/>
              <a:gdLst/>
              <a:ahLst/>
              <a:cxnLst/>
              <a:rect l="l" t="t" r="r" b="b"/>
              <a:pathLst>
                <a:path w="3014" h="6014" extrusionOk="0">
                  <a:moveTo>
                    <a:pt x="1" y="0"/>
                  </a:moveTo>
                  <a:lnTo>
                    <a:pt x="1" y="5879"/>
                  </a:lnTo>
                  <a:cubicBezTo>
                    <a:pt x="1" y="5959"/>
                    <a:pt x="69" y="6013"/>
                    <a:pt x="135" y="6013"/>
                  </a:cubicBezTo>
                  <a:lnTo>
                    <a:pt x="876" y="6013"/>
                  </a:lnTo>
                  <a:cubicBezTo>
                    <a:pt x="942" y="6013"/>
                    <a:pt x="1010" y="5959"/>
                    <a:pt x="1010" y="5879"/>
                  </a:cubicBezTo>
                  <a:lnTo>
                    <a:pt x="1010" y="1494"/>
                  </a:lnTo>
                  <a:cubicBezTo>
                    <a:pt x="1010" y="1225"/>
                    <a:pt x="1238" y="996"/>
                    <a:pt x="1507" y="996"/>
                  </a:cubicBezTo>
                  <a:cubicBezTo>
                    <a:pt x="1790" y="996"/>
                    <a:pt x="2005" y="1225"/>
                    <a:pt x="2005" y="1494"/>
                  </a:cubicBezTo>
                  <a:lnTo>
                    <a:pt x="2005" y="5879"/>
                  </a:lnTo>
                  <a:cubicBezTo>
                    <a:pt x="2005" y="5959"/>
                    <a:pt x="2072" y="6013"/>
                    <a:pt x="2140" y="6013"/>
                  </a:cubicBezTo>
                  <a:lnTo>
                    <a:pt x="2879" y="6013"/>
                  </a:lnTo>
                  <a:cubicBezTo>
                    <a:pt x="2960" y="6013"/>
                    <a:pt x="3014" y="5959"/>
                    <a:pt x="3014" y="5879"/>
                  </a:cubicBezTo>
                  <a:lnTo>
                    <a:pt x="30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563;p120">
              <a:extLst>
                <a:ext uri="{FF2B5EF4-FFF2-40B4-BE49-F238E27FC236}">
                  <a16:creationId xmlns:a16="http://schemas.microsoft.com/office/drawing/2014/main" id="{6E3A1BFB-A1FD-E62E-2B61-90B81D387E37}"/>
                </a:ext>
              </a:extLst>
            </p:cNvPr>
            <p:cNvSpPr/>
            <p:nvPr/>
          </p:nvSpPr>
          <p:spPr>
            <a:xfrm>
              <a:off x="6190474" y="2382015"/>
              <a:ext cx="23141" cy="137931"/>
            </a:xfrm>
            <a:custGeom>
              <a:avLst/>
              <a:gdLst/>
              <a:ahLst/>
              <a:cxnLst/>
              <a:rect l="l" t="t" r="r" b="b"/>
              <a:pathLst>
                <a:path w="1009" h="6014" extrusionOk="0">
                  <a:moveTo>
                    <a:pt x="0" y="0"/>
                  </a:moveTo>
                  <a:lnTo>
                    <a:pt x="0" y="5879"/>
                  </a:lnTo>
                  <a:cubicBezTo>
                    <a:pt x="0" y="5959"/>
                    <a:pt x="67" y="6013"/>
                    <a:pt x="135" y="6013"/>
                  </a:cubicBezTo>
                  <a:lnTo>
                    <a:pt x="874" y="6013"/>
                  </a:lnTo>
                  <a:cubicBezTo>
                    <a:pt x="955" y="6013"/>
                    <a:pt x="1009" y="5959"/>
                    <a:pt x="1009" y="5879"/>
                  </a:cubicBezTo>
                  <a:lnTo>
                    <a:pt x="10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564;p120">
              <a:extLst>
                <a:ext uri="{FF2B5EF4-FFF2-40B4-BE49-F238E27FC236}">
                  <a16:creationId xmlns:a16="http://schemas.microsoft.com/office/drawing/2014/main" id="{57498266-3D21-E87B-6E52-C870A0189AB3}"/>
                </a:ext>
              </a:extLst>
            </p:cNvPr>
            <p:cNvSpPr/>
            <p:nvPr/>
          </p:nvSpPr>
          <p:spPr>
            <a:xfrm>
              <a:off x="6167654" y="2274358"/>
              <a:ext cx="22843" cy="38577"/>
            </a:xfrm>
            <a:custGeom>
              <a:avLst/>
              <a:gdLst/>
              <a:ahLst/>
              <a:cxnLst/>
              <a:rect l="l" t="t" r="r" b="b"/>
              <a:pathLst>
                <a:path w="996" h="1682" extrusionOk="0">
                  <a:moveTo>
                    <a:pt x="0" y="1"/>
                  </a:moveTo>
                  <a:lnTo>
                    <a:pt x="0" y="1171"/>
                  </a:lnTo>
                  <a:cubicBezTo>
                    <a:pt x="0" y="1454"/>
                    <a:pt x="228" y="1682"/>
                    <a:pt x="497" y="1682"/>
                  </a:cubicBezTo>
                  <a:cubicBezTo>
                    <a:pt x="780" y="1682"/>
                    <a:pt x="995" y="1454"/>
                    <a:pt x="995" y="1171"/>
                  </a:cubicBezTo>
                  <a:lnTo>
                    <a:pt x="995" y="1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565;p120">
              <a:extLst>
                <a:ext uri="{FF2B5EF4-FFF2-40B4-BE49-F238E27FC236}">
                  <a16:creationId xmlns:a16="http://schemas.microsoft.com/office/drawing/2014/main" id="{F58686A5-6FA3-52B7-BA7D-9CBCC5043D71}"/>
                </a:ext>
              </a:extLst>
            </p:cNvPr>
            <p:cNvSpPr/>
            <p:nvPr/>
          </p:nvSpPr>
          <p:spPr>
            <a:xfrm>
              <a:off x="6156209" y="2227479"/>
              <a:ext cx="46008" cy="58645"/>
            </a:xfrm>
            <a:custGeom>
              <a:avLst/>
              <a:gdLst/>
              <a:ahLst/>
              <a:cxnLst/>
              <a:rect l="l" t="t" r="r" b="b"/>
              <a:pathLst>
                <a:path w="2006" h="2557" extrusionOk="0">
                  <a:moveTo>
                    <a:pt x="996" y="1"/>
                  </a:moveTo>
                  <a:cubicBezTo>
                    <a:pt x="445" y="1"/>
                    <a:pt x="1" y="458"/>
                    <a:pt x="1" y="1009"/>
                  </a:cubicBezTo>
                  <a:lnTo>
                    <a:pt x="1" y="1547"/>
                  </a:lnTo>
                  <a:cubicBezTo>
                    <a:pt x="1" y="2099"/>
                    <a:pt x="445" y="2556"/>
                    <a:pt x="996" y="2556"/>
                  </a:cubicBezTo>
                  <a:cubicBezTo>
                    <a:pt x="1548" y="2556"/>
                    <a:pt x="2006" y="2099"/>
                    <a:pt x="2006" y="1547"/>
                  </a:cubicBezTo>
                  <a:lnTo>
                    <a:pt x="2006" y="1009"/>
                  </a:lnTo>
                  <a:cubicBezTo>
                    <a:pt x="2006" y="458"/>
                    <a:pt x="1548" y="1"/>
                    <a:pt x="996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566;p120">
              <a:extLst>
                <a:ext uri="{FF2B5EF4-FFF2-40B4-BE49-F238E27FC236}">
                  <a16:creationId xmlns:a16="http://schemas.microsoft.com/office/drawing/2014/main" id="{72D4F0CF-7F32-0260-CE6A-2D93237D276A}"/>
                </a:ext>
              </a:extLst>
            </p:cNvPr>
            <p:cNvSpPr/>
            <p:nvPr/>
          </p:nvSpPr>
          <p:spPr>
            <a:xfrm>
              <a:off x="6144489" y="2495543"/>
              <a:ext cx="23187" cy="24403"/>
            </a:xfrm>
            <a:custGeom>
              <a:avLst/>
              <a:gdLst/>
              <a:ahLst/>
              <a:cxnLst/>
              <a:rect l="l" t="t" r="r" b="b"/>
              <a:pathLst>
                <a:path w="1011" h="1064" extrusionOk="0">
                  <a:moveTo>
                    <a:pt x="512" y="0"/>
                  </a:moveTo>
                  <a:cubicBezTo>
                    <a:pt x="230" y="0"/>
                    <a:pt x="1" y="215"/>
                    <a:pt x="1" y="498"/>
                  </a:cubicBezTo>
                  <a:lnTo>
                    <a:pt x="1" y="929"/>
                  </a:lnTo>
                  <a:cubicBezTo>
                    <a:pt x="1" y="1009"/>
                    <a:pt x="69" y="1063"/>
                    <a:pt x="135" y="1063"/>
                  </a:cubicBezTo>
                  <a:lnTo>
                    <a:pt x="876" y="1063"/>
                  </a:lnTo>
                  <a:cubicBezTo>
                    <a:pt x="942" y="1063"/>
                    <a:pt x="1010" y="1009"/>
                    <a:pt x="1010" y="929"/>
                  </a:cubicBezTo>
                  <a:lnTo>
                    <a:pt x="1010" y="498"/>
                  </a:lnTo>
                  <a:cubicBezTo>
                    <a:pt x="1010" y="215"/>
                    <a:pt x="781" y="0"/>
                    <a:pt x="512" y="0"/>
                  </a:cubicBezTo>
                  <a:close/>
                </a:path>
              </a:pathLst>
            </a:custGeom>
            <a:solidFill>
              <a:srgbClr val="9B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567;p120">
              <a:extLst>
                <a:ext uri="{FF2B5EF4-FFF2-40B4-BE49-F238E27FC236}">
                  <a16:creationId xmlns:a16="http://schemas.microsoft.com/office/drawing/2014/main" id="{C2E29C14-2DC5-2904-8BC2-EEA54907B40F}"/>
                </a:ext>
              </a:extLst>
            </p:cNvPr>
            <p:cNvSpPr/>
            <p:nvPr/>
          </p:nvSpPr>
          <p:spPr>
            <a:xfrm>
              <a:off x="6144489" y="2495543"/>
              <a:ext cx="23187" cy="24403"/>
            </a:xfrm>
            <a:custGeom>
              <a:avLst/>
              <a:gdLst/>
              <a:ahLst/>
              <a:cxnLst/>
              <a:rect l="l" t="t" r="r" b="b"/>
              <a:pathLst>
                <a:path w="1011" h="1064" extrusionOk="0">
                  <a:moveTo>
                    <a:pt x="512" y="0"/>
                  </a:moveTo>
                  <a:cubicBezTo>
                    <a:pt x="230" y="0"/>
                    <a:pt x="1" y="215"/>
                    <a:pt x="1" y="498"/>
                  </a:cubicBezTo>
                  <a:lnTo>
                    <a:pt x="1" y="929"/>
                  </a:lnTo>
                  <a:cubicBezTo>
                    <a:pt x="1" y="1009"/>
                    <a:pt x="69" y="1063"/>
                    <a:pt x="135" y="1063"/>
                  </a:cubicBezTo>
                  <a:lnTo>
                    <a:pt x="876" y="1063"/>
                  </a:lnTo>
                  <a:cubicBezTo>
                    <a:pt x="942" y="1063"/>
                    <a:pt x="1010" y="1009"/>
                    <a:pt x="1010" y="929"/>
                  </a:cubicBezTo>
                  <a:lnTo>
                    <a:pt x="1010" y="498"/>
                  </a:lnTo>
                  <a:cubicBezTo>
                    <a:pt x="1010" y="215"/>
                    <a:pt x="781" y="0"/>
                    <a:pt x="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568;p120">
              <a:extLst>
                <a:ext uri="{FF2B5EF4-FFF2-40B4-BE49-F238E27FC236}">
                  <a16:creationId xmlns:a16="http://schemas.microsoft.com/office/drawing/2014/main" id="{24EF951E-3C24-9D9C-35E5-BF3E625DD124}"/>
                </a:ext>
              </a:extLst>
            </p:cNvPr>
            <p:cNvSpPr/>
            <p:nvPr/>
          </p:nvSpPr>
          <p:spPr>
            <a:xfrm>
              <a:off x="6190474" y="2495543"/>
              <a:ext cx="23141" cy="24403"/>
            </a:xfrm>
            <a:custGeom>
              <a:avLst/>
              <a:gdLst/>
              <a:ahLst/>
              <a:cxnLst/>
              <a:rect l="l" t="t" r="r" b="b"/>
              <a:pathLst>
                <a:path w="1009" h="1064" extrusionOk="0">
                  <a:moveTo>
                    <a:pt x="512" y="0"/>
                  </a:moveTo>
                  <a:cubicBezTo>
                    <a:pt x="229" y="0"/>
                    <a:pt x="0" y="215"/>
                    <a:pt x="0" y="498"/>
                  </a:cubicBezTo>
                  <a:lnTo>
                    <a:pt x="0" y="929"/>
                  </a:lnTo>
                  <a:cubicBezTo>
                    <a:pt x="0" y="1009"/>
                    <a:pt x="67" y="1063"/>
                    <a:pt x="135" y="1063"/>
                  </a:cubicBezTo>
                  <a:lnTo>
                    <a:pt x="874" y="1063"/>
                  </a:lnTo>
                  <a:cubicBezTo>
                    <a:pt x="955" y="1063"/>
                    <a:pt x="1009" y="1009"/>
                    <a:pt x="1009" y="929"/>
                  </a:cubicBezTo>
                  <a:lnTo>
                    <a:pt x="1009" y="498"/>
                  </a:lnTo>
                  <a:cubicBezTo>
                    <a:pt x="1009" y="215"/>
                    <a:pt x="781" y="0"/>
                    <a:pt x="512" y="0"/>
                  </a:cubicBezTo>
                  <a:close/>
                </a:path>
              </a:pathLst>
            </a:custGeom>
            <a:solidFill>
              <a:srgbClr val="9B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569;p120">
              <a:extLst>
                <a:ext uri="{FF2B5EF4-FFF2-40B4-BE49-F238E27FC236}">
                  <a16:creationId xmlns:a16="http://schemas.microsoft.com/office/drawing/2014/main" id="{364892D1-8191-D524-289D-CAAC216F031E}"/>
                </a:ext>
              </a:extLst>
            </p:cNvPr>
            <p:cNvSpPr/>
            <p:nvPr/>
          </p:nvSpPr>
          <p:spPr>
            <a:xfrm>
              <a:off x="6190474" y="2495543"/>
              <a:ext cx="23141" cy="24403"/>
            </a:xfrm>
            <a:custGeom>
              <a:avLst/>
              <a:gdLst/>
              <a:ahLst/>
              <a:cxnLst/>
              <a:rect l="l" t="t" r="r" b="b"/>
              <a:pathLst>
                <a:path w="1009" h="1064" extrusionOk="0">
                  <a:moveTo>
                    <a:pt x="512" y="0"/>
                  </a:moveTo>
                  <a:cubicBezTo>
                    <a:pt x="229" y="0"/>
                    <a:pt x="0" y="215"/>
                    <a:pt x="0" y="498"/>
                  </a:cubicBezTo>
                  <a:lnTo>
                    <a:pt x="0" y="929"/>
                  </a:lnTo>
                  <a:cubicBezTo>
                    <a:pt x="0" y="1009"/>
                    <a:pt x="67" y="1063"/>
                    <a:pt x="135" y="1063"/>
                  </a:cubicBezTo>
                  <a:lnTo>
                    <a:pt x="874" y="1063"/>
                  </a:lnTo>
                  <a:cubicBezTo>
                    <a:pt x="955" y="1063"/>
                    <a:pt x="1009" y="1009"/>
                    <a:pt x="1009" y="929"/>
                  </a:cubicBezTo>
                  <a:lnTo>
                    <a:pt x="1009" y="498"/>
                  </a:lnTo>
                  <a:cubicBezTo>
                    <a:pt x="1009" y="215"/>
                    <a:pt x="781" y="0"/>
                    <a:pt x="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570;p120">
              <a:extLst>
                <a:ext uri="{FF2B5EF4-FFF2-40B4-BE49-F238E27FC236}">
                  <a16:creationId xmlns:a16="http://schemas.microsoft.com/office/drawing/2014/main" id="{5D90A58D-F655-4CB7-0C21-D061CC742BA7}"/>
                </a:ext>
              </a:extLst>
            </p:cNvPr>
            <p:cNvSpPr/>
            <p:nvPr/>
          </p:nvSpPr>
          <p:spPr>
            <a:xfrm>
              <a:off x="6146966" y="2218511"/>
              <a:ext cx="64516" cy="32109"/>
            </a:xfrm>
            <a:custGeom>
              <a:avLst/>
              <a:gdLst/>
              <a:ahLst/>
              <a:cxnLst/>
              <a:rect l="l" t="t" r="r" b="b"/>
              <a:pathLst>
                <a:path w="2813" h="1400" extrusionOk="0">
                  <a:moveTo>
                    <a:pt x="1103" y="1"/>
                  </a:moveTo>
                  <a:cubicBezTo>
                    <a:pt x="485" y="1"/>
                    <a:pt x="0" y="485"/>
                    <a:pt x="0" y="1104"/>
                  </a:cubicBezTo>
                  <a:cubicBezTo>
                    <a:pt x="0" y="1265"/>
                    <a:pt x="135" y="1400"/>
                    <a:pt x="296" y="1400"/>
                  </a:cubicBezTo>
                  <a:lnTo>
                    <a:pt x="2502" y="1400"/>
                  </a:lnTo>
                  <a:cubicBezTo>
                    <a:pt x="2678" y="1400"/>
                    <a:pt x="2812" y="1265"/>
                    <a:pt x="2812" y="1104"/>
                  </a:cubicBezTo>
                  <a:cubicBezTo>
                    <a:pt x="2812" y="485"/>
                    <a:pt x="2314" y="1"/>
                    <a:pt x="1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571;p120">
              <a:extLst>
                <a:ext uri="{FF2B5EF4-FFF2-40B4-BE49-F238E27FC236}">
                  <a16:creationId xmlns:a16="http://schemas.microsoft.com/office/drawing/2014/main" id="{079E4EB4-6E26-E7F0-F8F9-5422221332DD}"/>
                </a:ext>
              </a:extLst>
            </p:cNvPr>
            <p:cNvSpPr/>
            <p:nvPr/>
          </p:nvSpPr>
          <p:spPr>
            <a:xfrm>
              <a:off x="6167654" y="2218511"/>
              <a:ext cx="43829" cy="32109"/>
            </a:xfrm>
            <a:custGeom>
              <a:avLst/>
              <a:gdLst/>
              <a:ahLst/>
              <a:cxnLst/>
              <a:rect l="l" t="t" r="r" b="b"/>
              <a:pathLst>
                <a:path w="1911" h="1400" extrusionOk="0">
                  <a:moveTo>
                    <a:pt x="201" y="1"/>
                  </a:moveTo>
                  <a:cubicBezTo>
                    <a:pt x="135" y="1"/>
                    <a:pt x="67" y="1"/>
                    <a:pt x="0" y="15"/>
                  </a:cubicBezTo>
                  <a:cubicBezTo>
                    <a:pt x="511" y="109"/>
                    <a:pt x="901" y="553"/>
                    <a:pt x="901" y="1104"/>
                  </a:cubicBezTo>
                  <a:cubicBezTo>
                    <a:pt x="901" y="1265"/>
                    <a:pt x="766" y="1400"/>
                    <a:pt x="605" y="1400"/>
                  </a:cubicBezTo>
                  <a:lnTo>
                    <a:pt x="1600" y="1400"/>
                  </a:lnTo>
                  <a:cubicBezTo>
                    <a:pt x="1776" y="1400"/>
                    <a:pt x="1910" y="1265"/>
                    <a:pt x="1910" y="1104"/>
                  </a:cubicBezTo>
                  <a:cubicBezTo>
                    <a:pt x="1910" y="485"/>
                    <a:pt x="1412" y="1"/>
                    <a:pt x="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572;p120">
              <a:extLst>
                <a:ext uri="{FF2B5EF4-FFF2-40B4-BE49-F238E27FC236}">
                  <a16:creationId xmlns:a16="http://schemas.microsoft.com/office/drawing/2014/main" id="{3ABDF786-C6C3-D387-725D-CCAB0B1218EF}"/>
                </a:ext>
              </a:extLst>
            </p:cNvPr>
            <p:cNvSpPr/>
            <p:nvPr/>
          </p:nvSpPr>
          <p:spPr>
            <a:xfrm>
              <a:off x="6400857" y="2297499"/>
              <a:ext cx="70043" cy="111281"/>
            </a:xfrm>
            <a:custGeom>
              <a:avLst/>
              <a:gdLst/>
              <a:ahLst/>
              <a:cxnLst/>
              <a:rect l="l" t="t" r="r" b="b"/>
              <a:pathLst>
                <a:path w="3054" h="4852" extrusionOk="0">
                  <a:moveTo>
                    <a:pt x="500" y="0"/>
                  </a:moveTo>
                  <a:cubicBezTo>
                    <a:pt x="391" y="0"/>
                    <a:pt x="280" y="22"/>
                    <a:pt x="175" y="68"/>
                  </a:cubicBezTo>
                  <a:lnTo>
                    <a:pt x="0" y="162"/>
                  </a:lnTo>
                  <a:lnTo>
                    <a:pt x="2018" y="4560"/>
                  </a:lnTo>
                  <a:cubicBezTo>
                    <a:pt x="2105" y="4744"/>
                    <a:pt x="2283" y="4852"/>
                    <a:pt x="2472" y="4852"/>
                  </a:cubicBezTo>
                  <a:cubicBezTo>
                    <a:pt x="2545" y="4852"/>
                    <a:pt x="2619" y="4836"/>
                    <a:pt x="2690" y="4802"/>
                  </a:cubicBezTo>
                  <a:cubicBezTo>
                    <a:pt x="2945" y="4695"/>
                    <a:pt x="3053" y="4399"/>
                    <a:pt x="2933" y="4143"/>
                  </a:cubicBezTo>
                  <a:lnTo>
                    <a:pt x="1238" y="471"/>
                  </a:lnTo>
                  <a:cubicBezTo>
                    <a:pt x="1099" y="174"/>
                    <a:pt x="806" y="0"/>
                    <a:pt x="500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573;p120">
              <a:extLst>
                <a:ext uri="{FF2B5EF4-FFF2-40B4-BE49-F238E27FC236}">
                  <a16:creationId xmlns:a16="http://schemas.microsoft.com/office/drawing/2014/main" id="{C79E8E3A-FD05-3518-B45A-4610649D6834}"/>
                </a:ext>
              </a:extLst>
            </p:cNvPr>
            <p:cNvSpPr/>
            <p:nvPr/>
          </p:nvSpPr>
          <p:spPr>
            <a:xfrm>
              <a:off x="6285173" y="2297499"/>
              <a:ext cx="70043" cy="111281"/>
            </a:xfrm>
            <a:custGeom>
              <a:avLst/>
              <a:gdLst/>
              <a:ahLst/>
              <a:cxnLst/>
              <a:rect l="l" t="t" r="r" b="b"/>
              <a:pathLst>
                <a:path w="3054" h="4852" extrusionOk="0">
                  <a:moveTo>
                    <a:pt x="2551" y="0"/>
                  </a:moveTo>
                  <a:cubicBezTo>
                    <a:pt x="2241" y="0"/>
                    <a:pt x="1941" y="174"/>
                    <a:pt x="1802" y="471"/>
                  </a:cubicBezTo>
                  <a:lnTo>
                    <a:pt x="122" y="4143"/>
                  </a:lnTo>
                  <a:cubicBezTo>
                    <a:pt x="0" y="4399"/>
                    <a:pt x="108" y="4695"/>
                    <a:pt x="364" y="4802"/>
                  </a:cubicBezTo>
                  <a:cubicBezTo>
                    <a:pt x="431" y="4836"/>
                    <a:pt x="503" y="4852"/>
                    <a:pt x="575" y="4852"/>
                  </a:cubicBezTo>
                  <a:cubicBezTo>
                    <a:pt x="762" y="4852"/>
                    <a:pt x="945" y="4744"/>
                    <a:pt x="1022" y="4560"/>
                  </a:cubicBezTo>
                  <a:lnTo>
                    <a:pt x="3054" y="162"/>
                  </a:lnTo>
                  <a:lnTo>
                    <a:pt x="2878" y="68"/>
                  </a:lnTo>
                  <a:cubicBezTo>
                    <a:pt x="2773" y="22"/>
                    <a:pt x="2661" y="0"/>
                    <a:pt x="2551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574;p120">
              <a:extLst>
                <a:ext uri="{FF2B5EF4-FFF2-40B4-BE49-F238E27FC236}">
                  <a16:creationId xmlns:a16="http://schemas.microsoft.com/office/drawing/2014/main" id="{7C9C4A3D-1847-E998-AA7E-4E02F1376CA3}"/>
                </a:ext>
              </a:extLst>
            </p:cNvPr>
            <p:cNvSpPr/>
            <p:nvPr/>
          </p:nvSpPr>
          <p:spPr>
            <a:xfrm>
              <a:off x="6343473" y="2297499"/>
              <a:ext cx="69126" cy="84538"/>
            </a:xfrm>
            <a:custGeom>
              <a:avLst/>
              <a:gdLst/>
              <a:ahLst/>
              <a:cxnLst/>
              <a:rect l="l" t="t" r="r" b="b"/>
              <a:pathLst>
                <a:path w="3014" h="3686" extrusionOk="0">
                  <a:moveTo>
                    <a:pt x="1" y="0"/>
                  </a:moveTo>
                  <a:lnTo>
                    <a:pt x="1" y="3685"/>
                  </a:lnTo>
                  <a:lnTo>
                    <a:pt x="3014" y="3685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575;p120">
              <a:extLst>
                <a:ext uri="{FF2B5EF4-FFF2-40B4-BE49-F238E27FC236}">
                  <a16:creationId xmlns:a16="http://schemas.microsoft.com/office/drawing/2014/main" id="{64D48079-BB81-B199-2BD7-8D85ED7DAE84}"/>
                </a:ext>
              </a:extLst>
            </p:cNvPr>
            <p:cNvSpPr/>
            <p:nvPr/>
          </p:nvSpPr>
          <p:spPr>
            <a:xfrm>
              <a:off x="6389435" y="2297499"/>
              <a:ext cx="23164" cy="84538"/>
            </a:xfrm>
            <a:custGeom>
              <a:avLst/>
              <a:gdLst/>
              <a:ahLst/>
              <a:cxnLst/>
              <a:rect l="l" t="t" r="r" b="b"/>
              <a:pathLst>
                <a:path w="1010" h="3686" extrusionOk="0">
                  <a:moveTo>
                    <a:pt x="0" y="0"/>
                  </a:moveTo>
                  <a:lnTo>
                    <a:pt x="0" y="3685"/>
                  </a:lnTo>
                  <a:lnTo>
                    <a:pt x="1010" y="3685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576;p120">
              <a:extLst>
                <a:ext uri="{FF2B5EF4-FFF2-40B4-BE49-F238E27FC236}">
                  <a16:creationId xmlns:a16="http://schemas.microsoft.com/office/drawing/2014/main" id="{C3A3A7F4-8872-8855-8FA0-451D649496A9}"/>
                </a:ext>
              </a:extLst>
            </p:cNvPr>
            <p:cNvSpPr/>
            <p:nvPr/>
          </p:nvSpPr>
          <p:spPr>
            <a:xfrm>
              <a:off x="6343473" y="2382015"/>
              <a:ext cx="69126" cy="137931"/>
            </a:xfrm>
            <a:custGeom>
              <a:avLst/>
              <a:gdLst/>
              <a:ahLst/>
              <a:cxnLst/>
              <a:rect l="l" t="t" r="r" b="b"/>
              <a:pathLst>
                <a:path w="3014" h="6014" extrusionOk="0">
                  <a:moveTo>
                    <a:pt x="1" y="0"/>
                  </a:moveTo>
                  <a:lnTo>
                    <a:pt x="1" y="5879"/>
                  </a:lnTo>
                  <a:cubicBezTo>
                    <a:pt x="1" y="5959"/>
                    <a:pt x="54" y="6013"/>
                    <a:pt x="135" y="6013"/>
                  </a:cubicBezTo>
                  <a:lnTo>
                    <a:pt x="874" y="6013"/>
                  </a:lnTo>
                  <a:cubicBezTo>
                    <a:pt x="942" y="6013"/>
                    <a:pt x="1009" y="5959"/>
                    <a:pt x="1009" y="5879"/>
                  </a:cubicBezTo>
                  <a:lnTo>
                    <a:pt x="1009" y="1494"/>
                  </a:lnTo>
                  <a:cubicBezTo>
                    <a:pt x="1009" y="1225"/>
                    <a:pt x="1224" y="996"/>
                    <a:pt x="1507" y="996"/>
                  </a:cubicBezTo>
                  <a:cubicBezTo>
                    <a:pt x="1776" y="996"/>
                    <a:pt x="2004" y="1225"/>
                    <a:pt x="2004" y="1494"/>
                  </a:cubicBezTo>
                  <a:lnTo>
                    <a:pt x="2004" y="5879"/>
                  </a:lnTo>
                  <a:cubicBezTo>
                    <a:pt x="2004" y="5959"/>
                    <a:pt x="2072" y="6013"/>
                    <a:pt x="2139" y="6013"/>
                  </a:cubicBezTo>
                  <a:lnTo>
                    <a:pt x="2879" y="6013"/>
                  </a:lnTo>
                  <a:cubicBezTo>
                    <a:pt x="2946" y="6013"/>
                    <a:pt x="3014" y="5959"/>
                    <a:pt x="3014" y="5879"/>
                  </a:cubicBezTo>
                  <a:lnTo>
                    <a:pt x="30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577;p120">
              <a:extLst>
                <a:ext uri="{FF2B5EF4-FFF2-40B4-BE49-F238E27FC236}">
                  <a16:creationId xmlns:a16="http://schemas.microsoft.com/office/drawing/2014/main" id="{C4122917-ACED-3C31-96A8-7EA4571EFDD3}"/>
                </a:ext>
              </a:extLst>
            </p:cNvPr>
            <p:cNvSpPr/>
            <p:nvPr/>
          </p:nvSpPr>
          <p:spPr>
            <a:xfrm>
              <a:off x="6366592" y="2274358"/>
              <a:ext cx="22866" cy="38577"/>
            </a:xfrm>
            <a:custGeom>
              <a:avLst/>
              <a:gdLst/>
              <a:ahLst/>
              <a:cxnLst/>
              <a:rect l="l" t="t" r="r" b="b"/>
              <a:pathLst>
                <a:path w="997" h="1682" extrusionOk="0">
                  <a:moveTo>
                    <a:pt x="1" y="1"/>
                  </a:moveTo>
                  <a:lnTo>
                    <a:pt x="1" y="1171"/>
                  </a:lnTo>
                  <a:cubicBezTo>
                    <a:pt x="1" y="1454"/>
                    <a:pt x="216" y="1682"/>
                    <a:pt x="499" y="1682"/>
                  </a:cubicBezTo>
                  <a:cubicBezTo>
                    <a:pt x="768" y="1682"/>
                    <a:pt x="996" y="1454"/>
                    <a:pt x="996" y="1171"/>
                  </a:cubicBezTo>
                  <a:lnTo>
                    <a:pt x="996" y="1"/>
                  </a:ln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578;p120">
              <a:extLst>
                <a:ext uri="{FF2B5EF4-FFF2-40B4-BE49-F238E27FC236}">
                  <a16:creationId xmlns:a16="http://schemas.microsoft.com/office/drawing/2014/main" id="{233A67C6-843C-E9AC-610D-8AA21851C653}"/>
                </a:ext>
              </a:extLst>
            </p:cNvPr>
            <p:cNvSpPr/>
            <p:nvPr/>
          </p:nvSpPr>
          <p:spPr>
            <a:xfrm>
              <a:off x="6354872" y="2227479"/>
              <a:ext cx="46306" cy="58645"/>
            </a:xfrm>
            <a:custGeom>
              <a:avLst/>
              <a:gdLst/>
              <a:ahLst/>
              <a:cxnLst/>
              <a:rect l="l" t="t" r="r" b="b"/>
              <a:pathLst>
                <a:path w="2019" h="2557" extrusionOk="0">
                  <a:moveTo>
                    <a:pt x="1010" y="1"/>
                  </a:moveTo>
                  <a:cubicBezTo>
                    <a:pt x="458" y="1"/>
                    <a:pt x="1" y="458"/>
                    <a:pt x="1" y="1009"/>
                  </a:cubicBezTo>
                  <a:lnTo>
                    <a:pt x="1" y="1547"/>
                  </a:lnTo>
                  <a:cubicBezTo>
                    <a:pt x="1" y="2099"/>
                    <a:pt x="458" y="2556"/>
                    <a:pt x="1010" y="2556"/>
                  </a:cubicBezTo>
                  <a:cubicBezTo>
                    <a:pt x="1561" y="2556"/>
                    <a:pt x="2018" y="2099"/>
                    <a:pt x="2018" y="1547"/>
                  </a:cubicBezTo>
                  <a:lnTo>
                    <a:pt x="2018" y="1009"/>
                  </a:lnTo>
                  <a:cubicBezTo>
                    <a:pt x="2018" y="458"/>
                    <a:pt x="1561" y="1"/>
                    <a:pt x="1010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579;p120">
              <a:extLst>
                <a:ext uri="{FF2B5EF4-FFF2-40B4-BE49-F238E27FC236}">
                  <a16:creationId xmlns:a16="http://schemas.microsoft.com/office/drawing/2014/main" id="{DBC3ADED-326B-CFE9-99E3-5CF4029323FD}"/>
                </a:ext>
              </a:extLst>
            </p:cNvPr>
            <p:cNvSpPr/>
            <p:nvPr/>
          </p:nvSpPr>
          <p:spPr>
            <a:xfrm>
              <a:off x="6343473" y="2495543"/>
              <a:ext cx="23141" cy="24403"/>
            </a:xfrm>
            <a:custGeom>
              <a:avLst/>
              <a:gdLst/>
              <a:ahLst/>
              <a:cxnLst/>
              <a:rect l="l" t="t" r="r" b="b"/>
              <a:pathLst>
                <a:path w="1009" h="1064" extrusionOk="0">
                  <a:moveTo>
                    <a:pt x="498" y="0"/>
                  </a:moveTo>
                  <a:cubicBezTo>
                    <a:pt x="229" y="0"/>
                    <a:pt x="1" y="215"/>
                    <a:pt x="1" y="498"/>
                  </a:cubicBezTo>
                  <a:lnTo>
                    <a:pt x="1" y="929"/>
                  </a:lnTo>
                  <a:cubicBezTo>
                    <a:pt x="1" y="1009"/>
                    <a:pt x="54" y="1063"/>
                    <a:pt x="135" y="1063"/>
                  </a:cubicBezTo>
                  <a:lnTo>
                    <a:pt x="874" y="1063"/>
                  </a:lnTo>
                  <a:cubicBezTo>
                    <a:pt x="942" y="1063"/>
                    <a:pt x="1009" y="1009"/>
                    <a:pt x="1009" y="929"/>
                  </a:cubicBezTo>
                  <a:lnTo>
                    <a:pt x="1009" y="498"/>
                  </a:lnTo>
                  <a:cubicBezTo>
                    <a:pt x="1009" y="215"/>
                    <a:pt x="781" y="0"/>
                    <a:pt x="498" y="0"/>
                  </a:cubicBezTo>
                  <a:close/>
                </a:path>
              </a:pathLst>
            </a:custGeom>
            <a:solidFill>
              <a:srgbClr val="9B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580;p120">
              <a:extLst>
                <a:ext uri="{FF2B5EF4-FFF2-40B4-BE49-F238E27FC236}">
                  <a16:creationId xmlns:a16="http://schemas.microsoft.com/office/drawing/2014/main" id="{8BE21E1C-3CE4-10BB-331E-CC070B67D18A}"/>
                </a:ext>
              </a:extLst>
            </p:cNvPr>
            <p:cNvSpPr/>
            <p:nvPr/>
          </p:nvSpPr>
          <p:spPr>
            <a:xfrm>
              <a:off x="6343473" y="2495543"/>
              <a:ext cx="23141" cy="24403"/>
            </a:xfrm>
            <a:custGeom>
              <a:avLst/>
              <a:gdLst/>
              <a:ahLst/>
              <a:cxnLst/>
              <a:rect l="l" t="t" r="r" b="b"/>
              <a:pathLst>
                <a:path w="1009" h="1064" extrusionOk="0">
                  <a:moveTo>
                    <a:pt x="498" y="0"/>
                  </a:moveTo>
                  <a:cubicBezTo>
                    <a:pt x="229" y="0"/>
                    <a:pt x="1" y="215"/>
                    <a:pt x="1" y="498"/>
                  </a:cubicBezTo>
                  <a:lnTo>
                    <a:pt x="1" y="929"/>
                  </a:lnTo>
                  <a:cubicBezTo>
                    <a:pt x="1" y="1009"/>
                    <a:pt x="54" y="1063"/>
                    <a:pt x="135" y="1063"/>
                  </a:cubicBezTo>
                  <a:lnTo>
                    <a:pt x="874" y="1063"/>
                  </a:lnTo>
                  <a:cubicBezTo>
                    <a:pt x="942" y="1063"/>
                    <a:pt x="1009" y="1009"/>
                    <a:pt x="1009" y="929"/>
                  </a:cubicBezTo>
                  <a:lnTo>
                    <a:pt x="1009" y="498"/>
                  </a:lnTo>
                  <a:cubicBezTo>
                    <a:pt x="1009" y="215"/>
                    <a:pt x="781" y="0"/>
                    <a:pt x="4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581;p120">
              <a:extLst>
                <a:ext uri="{FF2B5EF4-FFF2-40B4-BE49-F238E27FC236}">
                  <a16:creationId xmlns:a16="http://schemas.microsoft.com/office/drawing/2014/main" id="{9E9A80AB-8EB6-0F54-B7B0-57BB8DA1BBDC}"/>
                </a:ext>
              </a:extLst>
            </p:cNvPr>
            <p:cNvSpPr/>
            <p:nvPr/>
          </p:nvSpPr>
          <p:spPr>
            <a:xfrm>
              <a:off x="6389435" y="2495543"/>
              <a:ext cx="23164" cy="24403"/>
            </a:xfrm>
            <a:custGeom>
              <a:avLst/>
              <a:gdLst/>
              <a:ahLst/>
              <a:cxnLst/>
              <a:rect l="l" t="t" r="r" b="b"/>
              <a:pathLst>
                <a:path w="1010" h="1064" extrusionOk="0">
                  <a:moveTo>
                    <a:pt x="511" y="0"/>
                  </a:moveTo>
                  <a:cubicBezTo>
                    <a:pt x="229" y="0"/>
                    <a:pt x="0" y="215"/>
                    <a:pt x="0" y="498"/>
                  </a:cubicBezTo>
                  <a:lnTo>
                    <a:pt x="0" y="929"/>
                  </a:lnTo>
                  <a:cubicBezTo>
                    <a:pt x="0" y="1009"/>
                    <a:pt x="68" y="1063"/>
                    <a:pt x="135" y="1063"/>
                  </a:cubicBezTo>
                  <a:lnTo>
                    <a:pt x="875" y="1063"/>
                  </a:lnTo>
                  <a:cubicBezTo>
                    <a:pt x="942" y="1063"/>
                    <a:pt x="1010" y="1009"/>
                    <a:pt x="1010" y="929"/>
                  </a:cubicBezTo>
                  <a:lnTo>
                    <a:pt x="1010" y="498"/>
                  </a:lnTo>
                  <a:cubicBezTo>
                    <a:pt x="1010" y="215"/>
                    <a:pt x="780" y="0"/>
                    <a:pt x="511" y="0"/>
                  </a:cubicBezTo>
                  <a:close/>
                </a:path>
              </a:pathLst>
            </a:custGeom>
            <a:solidFill>
              <a:srgbClr val="9B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582;p120">
              <a:extLst>
                <a:ext uri="{FF2B5EF4-FFF2-40B4-BE49-F238E27FC236}">
                  <a16:creationId xmlns:a16="http://schemas.microsoft.com/office/drawing/2014/main" id="{5F465B57-6A1E-98ED-A601-BD1715816E82}"/>
                </a:ext>
              </a:extLst>
            </p:cNvPr>
            <p:cNvSpPr/>
            <p:nvPr/>
          </p:nvSpPr>
          <p:spPr>
            <a:xfrm>
              <a:off x="6389435" y="2495543"/>
              <a:ext cx="23164" cy="24403"/>
            </a:xfrm>
            <a:custGeom>
              <a:avLst/>
              <a:gdLst/>
              <a:ahLst/>
              <a:cxnLst/>
              <a:rect l="l" t="t" r="r" b="b"/>
              <a:pathLst>
                <a:path w="1010" h="1064" extrusionOk="0">
                  <a:moveTo>
                    <a:pt x="511" y="0"/>
                  </a:moveTo>
                  <a:cubicBezTo>
                    <a:pt x="229" y="0"/>
                    <a:pt x="0" y="215"/>
                    <a:pt x="0" y="498"/>
                  </a:cubicBezTo>
                  <a:lnTo>
                    <a:pt x="0" y="929"/>
                  </a:lnTo>
                  <a:cubicBezTo>
                    <a:pt x="0" y="1009"/>
                    <a:pt x="68" y="1063"/>
                    <a:pt x="135" y="1063"/>
                  </a:cubicBezTo>
                  <a:lnTo>
                    <a:pt x="875" y="1063"/>
                  </a:lnTo>
                  <a:cubicBezTo>
                    <a:pt x="942" y="1063"/>
                    <a:pt x="1010" y="1009"/>
                    <a:pt x="1010" y="929"/>
                  </a:cubicBezTo>
                  <a:lnTo>
                    <a:pt x="1010" y="498"/>
                  </a:lnTo>
                  <a:cubicBezTo>
                    <a:pt x="1010" y="215"/>
                    <a:pt x="780" y="0"/>
                    <a:pt x="5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583;p120">
              <a:extLst>
                <a:ext uri="{FF2B5EF4-FFF2-40B4-BE49-F238E27FC236}">
                  <a16:creationId xmlns:a16="http://schemas.microsoft.com/office/drawing/2014/main" id="{91DD9087-B111-168A-8D61-848007613B06}"/>
                </a:ext>
              </a:extLst>
            </p:cNvPr>
            <p:cNvSpPr/>
            <p:nvPr/>
          </p:nvSpPr>
          <p:spPr>
            <a:xfrm>
              <a:off x="6345629" y="2218511"/>
              <a:ext cx="64493" cy="32109"/>
            </a:xfrm>
            <a:custGeom>
              <a:avLst/>
              <a:gdLst/>
              <a:ahLst/>
              <a:cxnLst/>
              <a:rect l="l" t="t" r="r" b="b"/>
              <a:pathLst>
                <a:path w="2812" h="1400" extrusionOk="0">
                  <a:moveTo>
                    <a:pt x="1103" y="1"/>
                  </a:moveTo>
                  <a:cubicBezTo>
                    <a:pt x="498" y="1"/>
                    <a:pt x="0" y="485"/>
                    <a:pt x="0" y="1104"/>
                  </a:cubicBezTo>
                  <a:cubicBezTo>
                    <a:pt x="0" y="1265"/>
                    <a:pt x="135" y="1400"/>
                    <a:pt x="310" y="1400"/>
                  </a:cubicBezTo>
                  <a:lnTo>
                    <a:pt x="2516" y="1400"/>
                  </a:lnTo>
                  <a:cubicBezTo>
                    <a:pt x="2677" y="1400"/>
                    <a:pt x="2812" y="1265"/>
                    <a:pt x="2812" y="1104"/>
                  </a:cubicBezTo>
                  <a:cubicBezTo>
                    <a:pt x="2812" y="485"/>
                    <a:pt x="2328" y="1"/>
                    <a:pt x="1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584;p120">
              <a:extLst>
                <a:ext uri="{FF2B5EF4-FFF2-40B4-BE49-F238E27FC236}">
                  <a16:creationId xmlns:a16="http://schemas.microsoft.com/office/drawing/2014/main" id="{BE9ACDA2-8810-D676-B845-883A3E44A41F}"/>
                </a:ext>
              </a:extLst>
            </p:cNvPr>
            <p:cNvSpPr/>
            <p:nvPr/>
          </p:nvSpPr>
          <p:spPr>
            <a:xfrm>
              <a:off x="6366592" y="2218511"/>
              <a:ext cx="43531" cy="32109"/>
            </a:xfrm>
            <a:custGeom>
              <a:avLst/>
              <a:gdLst/>
              <a:ahLst/>
              <a:cxnLst/>
              <a:rect l="l" t="t" r="r" b="b"/>
              <a:pathLst>
                <a:path w="1898" h="1400" extrusionOk="0">
                  <a:moveTo>
                    <a:pt x="189" y="1"/>
                  </a:moveTo>
                  <a:cubicBezTo>
                    <a:pt x="122" y="1"/>
                    <a:pt x="55" y="1"/>
                    <a:pt x="1" y="15"/>
                  </a:cubicBezTo>
                  <a:cubicBezTo>
                    <a:pt x="512" y="109"/>
                    <a:pt x="903" y="553"/>
                    <a:pt x="903" y="1104"/>
                  </a:cubicBezTo>
                  <a:cubicBezTo>
                    <a:pt x="903" y="1265"/>
                    <a:pt x="768" y="1400"/>
                    <a:pt x="593" y="1400"/>
                  </a:cubicBezTo>
                  <a:lnTo>
                    <a:pt x="1602" y="1400"/>
                  </a:lnTo>
                  <a:cubicBezTo>
                    <a:pt x="1763" y="1400"/>
                    <a:pt x="1898" y="1265"/>
                    <a:pt x="1898" y="1104"/>
                  </a:cubicBezTo>
                  <a:cubicBezTo>
                    <a:pt x="1898" y="485"/>
                    <a:pt x="1414" y="1"/>
                    <a:pt x="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585;p120">
              <a:extLst>
                <a:ext uri="{FF2B5EF4-FFF2-40B4-BE49-F238E27FC236}">
                  <a16:creationId xmlns:a16="http://schemas.microsoft.com/office/drawing/2014/main" id="{B84028D1-E18C-13F6-3A83-2C2FDBCB6A53}"/>
                </a:ext>
              </a:extLst>
            </p:cNvPr>
            <p:cNvSpPr/>
            <p:nvPr/>
          </p:nvSpPr>
          <p:spPr>
            <a:xfrm>
              <a:off x="6211138" y="2132757"/>
              <a:ext cx="134835" cy="123734"/>
            </a:xfrm>
            <a:custGeom>
              <a:avLst/>
              <a:gdLst/>
              <a:ahLst/>
              <a:cxnLst/>
              <a:rect l="l" t="t" r="r" b="b"/>
              <a:pathLst>
                <a:path w="5879" h="5395" extrusionOk="0">
                  <a:moveTo>
                    <a:pt x="1903" y="1"/>
                  </a:moveTo>
                  <a:cubicBezTo>
                    <a:pt x="903" y="1"/>
                    <a:pt x="0" y="811"/>
                    <a:pt x="0" y="2059"/>
                  </a:cubicBezTo>
                  <a:cubicBezTo>
                    <a:pt x="0" y="2772"/>
                    <a:pt x="337" y="4131"/>
                    <a:pt x="2570" y="5300"/>
                  </a:cubicBezTo>
                  <a:cubicBezTo>
                    <a:pt x="2690" y="5354"/>
                    <a:pt x="2812" y="5395"/>
                    <a:pt x="2946" y="5395"/>
                  </a:cubicBezTo>
                  <a:cubicBezTo>
                    <a:pt x="3067" y="5395"/>
                    <a:pt x="3188" y="5354"/>
                    <a:pt x="3309" y="5300"/>
                  </a:cubicBezTo>
                  <a:cubicBezTo>
                    <a:pt x="5541" y="4131"/>
                    <a:pt x="5878" y="2772"/>
                    <a:pt x="5878" y="2059"/>
                  </a:cubicBezTo>
                  <a:cubicBezTo>
                    <a:pt x="5878" y="1938"/>
                    <a:pt x="5864" y="1803"/>
                    <a:pt x="5851" y="1683"/>
                  </a:cubicBezTo>
                  <a:cubicBezTo>
                    <a:pt x="5821" y="1539"/>
                    <a:pt x="5712" y="1473"/>
                    <a:pt x="5602" y="1473"/>
                  </a:cubicBezTo>
                  <a:cubicBezTo>
                    <a:pt x="5466" y="1473"/>
                    <a:pt x="5331" y="1576"/>
                    <a:pt x="5353" y="1763"/>
                  </a:cubicBezTo>
                  <a:cubicBezTo>
                    <a:pt x="5448" y="2637"/>
                    <a:pt x="5206" y="3700"/>
                    <a:pt x="3067" y="4857"/>
                  </a:cubicBezTo>
                  <a:cubicBezTo>
                    <a:pt x="3026" y="4877"/>
                    <a:pt x="2983" y="4887"/>
                    <a:pt x="2939" y="4887"/>
                  </a:cubicBezTo>
                  <a:cubicBezTo>
                    <a:pt x="2896" y="4887"/>
                    <a:pt x="2852" y="4877"/>
                    <a:pt x="2812" y="4857"/>
                  </a:cubicBezTo>
                  <a:cubicBezTo>
                    <a:pt x="807" y="3808"/>
                    <a:pt x="498" y="2664"/>
                    <a:pt x="498" y="2059"/>
                  </a:cubicBezTo>
                  <a:cubicBezTo>
                    <a:pt x="498" y="1184"/>
                    <a:pt x="1103" y="512"/>
                    <a:pt x="1870" y="512"/>
                  </a:cubicBezTo>
                  <a:cubicBezTo>
                    <a:pt x="2287" y="512"/>
                    <a:pt x="2596" y="673"/>
                    <a:pt x="2798" y="808"/>
                  </a:cubicBezTo>
                  <a:cubicBezTo>
                    <a:pt x="2838" y="842"/>
                    <a:pt x="2889" y="859"/>
                    <a:pt x="2939" y="859"/>
                  </a:cubicBezTo>
                  <a:cubicBezTo>
                    <a:pt x="2990" y="859"/>
                    <a:pt x="3040" y="842"/>
                    <a:pt x="3081" y="808"/>
                  </a:cubicBezTo>
                  <a:cubicBezTo>
                    <a:pt x="3321" y="629"/>
                    <a:pt x="3657" y="514"/>
                    <a:pt x="3995" y="514"/>
                  </a:cubicBezTo>
                  <a:cubicBezTo>
                    <a:pt x="4319" y="514"/>
                    <a:pt x="4646" y="619"/>
                    <a:pt x="4896" y="876"/>
                  </a:cubicBezTo>
                  <a:cubicBezTo>
                    <a:pt x="4946" y="919"/>
                    <a:pt x="5005" y="940"/>
                    <a:pt x="5064" y="940"/>
                  </a:cubicBezTo>
                  <a:cubicBezTo>
                    <a:pt x="5133" y="940"/>
                    <a:pt x="5202" y="912"/>
                    <a:pt x="5260" y="862"/>
                  </a:cubicBezTo>
                  <a:cubicBezTo>
                    <a:pt x="5353" y="768"/>
                    <a:pt x="5353" y="607"/>
                    <a:pt x="5246" y="512"/>
                  </a:cubicBezTo>
                  <a:cubicBezTo>
                    <a:pt x="4900" y="166"/>
                    <a:pt x="4440" y="9"/>
                    <a:pt x="3987" y="9"/>
                  </a:cubicBezTo>
                  <a:cubicBezTo>
                    <a:pt x="3613" y="9"/>
                    <a:pt x="3244" y="116"/>
                    <a:pt x="2946" y="311"/>
                  </a:cubicBezTo>
                  <a:cubicBezTo>
                    <a:pt x="2609" y="99"/>
                    <a:pt x="2250" y="1"/>
                    <a:pt x="1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586;p120">
              <a:extLst>
                <a:ext uri="{FF2B5EF4-FFF2-40B4-BE49-F238E27FC236}">
                  <a16:creationId xmlns:a16="http://schemas.microsoft.com/office/drawing/2014/main" id="{5EC7F264-2EB6-6D41-B8E1-E54F0B167096}"/>
                </a:ext>
              </a:extLst>
            </p:cNvPr>
            <p:cNvSpPr/>
            <p:nvPr/>
          </p:nvSpPr>
          <p:spPr>
            <a:xfrm>
              <a:off x="6081579" y="2212663"/>
              <a:ext cx="194970" cy="313132"/>
            </a:xfrm>
            <a:custGeom>
              <a:avLst/>
              <a:gdLst/>
              <a:ahLst/>
              <a:cxnLst/>
              <a:rect l="l" t="t" r="r" b="b"/>
              <a:pathLst>
                <a:path w="8501" h="13653" extrusionOk="0">
                  <a:moveTo>
                    <a:pt x="4560" y="498"/>
                  </a:moveTo>
                  <a:cubicBezTo>
                    <a:pt x="5030" y="498"/>
                    <a:pt x="5407" y="889"/>
                    <a:pt x="5407" y="1359"/>
                  </a:cubicBezTo>
                  <a:cubicBezTo>
                    <a:pt x="5407" y="1386"/>
                    <a:pt x="5380" y="1400"/>
                    <a:pt x="5353" y="1400"/>
                  </a:cubicBezTo>
                  <a:lnTo>
                    <a:pt x="3147" y="1400"/>
                  </a:lnTo>
                  <a:cubicBezTo>
                    <a:pt x="3120" y="1400"/>
                    <a:pt x="3094" y="1386"/>
                    <a:pt x="3094" y="1359"/>
                  </a:cubicBezTo>
                  <a:cubicBezTo>
                    <a:pt x="3094" y="889"/>
                    <a:pt x="3484" y="498"/>
                    <a:pt x="3954" y="498"/>
                  </a:cubicBezTo>
                  <a:close/>
                  <a:moveTo>
                    <a:pt x="5003" y="1911"/>
                  </a:moveTo>
                  <a:lnTo>
                    <a:pt x="5003" y="2193"/>
                  </a:lnTo>
                  <a:cubicBezTo>
                    <a:pt x="5003" y="2610"/>
                    <a:pt x="4668" y="2946"/>
                    <a:pt x="4250" y="2946"/>
                  </a:cubicBezTo>
                  <a:cubicBezTo>
                    <a:pt x="3834" y="2946"/>
                    <a:pt x="3497" y="2610"/>
                    <a:pt x="3497" y="2193"/>
                  </a:cubicBezTo>
                  <a:lnTo>
                    <a:pt x="3497" y="1911"/>
                  </a:lnTo>
                  <a:close/>
                  <a:moveTo>
                    <a:pt x="4506" y="3417"/>
                  </a:moveTo>
                  <a:lnTo>
                    <a:pt x="4506" y="3861"/>
                  </a:lnTo>
                  <a:cubicBezTo>
                    <a:pt x="4506" y="4009"/>
                    <a:pt x="4385" y="4117"/>
                    <a:pt x="4250" y="4117"/>
                  </a:cubicBezTo>
                  <a:cubicBezTo>
                    <a:pt x="4116" y="4117"/>
                    <a:pt x="3995" y="4009"/>
                    <a:pt x="3995" y="3861"/>
                  </a:cubicBezTo>
                  <a:lnTo>
                    <a:pt x="3995" y="3417"/>
                  </a:lnTo>
                  <a:cubicBezTo>
                    <a:pt x="4089" y="3444"/>
                    <a:pt x="4170" y="3444"/>
                    <a:pt x="4250" y="3444"/>
                  </a:cubicBezTo>
                  <a:cubicBezTo>
                    <a:pt x="4345" y="3444"/>
                    <a:pt x="4426" y="3444"/>
                    <a:pt x="4506" y="3417"/>
                  </a:cubicBezTo>
                  <a:close/>
                  <a:moveTo>
                    <a:pt x="5502" y="3955"/>
                  </a:moveTo>
                  <a:lnTo>
                    <a:pt x="5502" y="7129"/>
                  </a:lnTo>
                  <a:lnTo>
                    <a:pt x="3000" y="7129"/>
                  </a:lnTo>
                  <a:lnTo>
                    <a:pt x="3000" y="3955"/>
                  </a:lnTo>
                  <a:lnTo>
                    <a:pt x="3511" y="3955"/>
                  </a:lnTo>
                  <a:cubicBezTo>
                    <a:pt x="3565" y="4392"/>
                    <a:pt x="3908" y="4611"/>
                    <a:pt x="4252" y="4611"/>
                  </a:cubicBezTo>
                  <a:cubicBezTo>
                    <a:pt x="4597" y="4611"/>
                    <a:pt x="4943" y="4392"/>
                    <a:pt x="5003" y="3955"/>
                  </a:cubicBezTo>
                  <a:close/>
                  <a:moveTo>
                    <a:pt x="6013" y="4009"/>
                  </a:moveTo>
                  <a:cubicBezTo>
                    <a:pt x="6120" y="4063"/>
                    <a:pt x="6214" y="4156"/>
                    <a:pt x="6268" y="4264"/>
                  </a:cubicBezTo>
                  <a:lnTo>
                    <a:pt x="7962" y="7949"/>
                  </a:lnTo>
                  <a:cubicBezTo>
                    <a:pt x="7989" y="8003"/>
                    <a:pt x="7989" y="8071"/>
                    <a:pt x="7962" y="8138"/>
                  </a:cubicBezTo>
                  <a:cubicBezTo>
                    <a:pt x="7928" y="8242"/>
                    <a:pt x="7829" y="8296"/>
                    <a:pt x="7729" y="8296"/>
                  </a:cubicBezTo>
                  <a:cubicBezTo>
                    <a:pt x="7637" y="8296"/>
                    <a:pt x="7544" y="8249"/>
                    <a:pt x="7505" y="8152"/>
                  </a:cubicBezTo>
                  <a:lnTo>
                    <a:pt x="6013" y="4924"/>
                  </a:lnTo>
                  <a:lnTo>
                    <a:pt x="6013" y="4009"/>
                  </a:lnTo>
                  <a:close/>
                  <a:moveTo>
                    <a:pt x="2502" y="4009"/>
                  </a:moveTo>
                  <a:lnTo>
                    <a:pt x="2502" y="4924"/>
                  </a:lnTo>
                  <a:lnTo>
                    <a:pt x="1009" y="8152"/>
                  </a:lnTo>
                  <a:cubicBezTo>
                    <a:pt x="957" y="8256"/>
                    <a:pt x="868" y="8300"/>
                    <a:pt x="781" y="8300"/>
                  </a:cubicBezTo>
                  <a:cubicBezTo>
                    <a:pt x="620" y="8300"/>
                    <a:pt x="465" y="8150"/>
                    <a:pt x="552" y="7949"/>
                  </a:cubicBezTo>
                  <a:lnTo>
                    <a:pt x="2247" y="4264"/>
                  </a:lnTo>
                  <a:cubicBezTo>
                    <a:pt x="2301" y="4156"/>
                    <a:pt x="2381" y="4063"/>
                    <a:pt x="2502" y="4009"/>
                  </a:cubicBezTo>
                  <a:close/>
                  <a:moveTo>
                    <a:pt x="3255" y="12576"/>
                  </a:moveTo>
                  <a:cubicBezTo>
                    <a:pt x="3389" y="12576"/>
                    <a:pt x="3497" y="12698"/>
                    <a:pt x="3497" y="12832"/>
                  </a:cubicBezTo>
                  <a:lnTo>
                    <a:pt x="3497" y="13155"/>
                  </a:lnTo>
                  <a:lnTo>
                    <a:pt x="3000" y="13155"/>
                  </a:lnTo>
                  <a:lnTo>
                    <a:pt x="3000" y="12832"/>
                  </a:lnTo>
                  <a:cubicBezTo>
                    <a:pt x="3000" y="12698"/>
                    <a:pt x="3108" y="12576"/>
                    <a:pt x="3255" y="12576"/>
                  </a:cubicBezTo>
                  <a:close/>
                  <a:moveTo>
                    <a:pt x="5260" y="12576"/>
                  </a:moveTo>
                  <a:cubicBezTo>
                    <a:pt x="5394" y="12576"/>
                    <a:pt x="5502" y="12698"/>
                    <a:pt x="5502" y="12832"/>
                  </a:cubicBezTo>
                  <a:lnTo>
                    <a:pt x="5502" y="13155"/>
                  </a:lnTo>
                  <a:lnTo>
                    <a:pt x="5003" y="13155"/>
                  </a:lnTo>
                  <a:lnTo>
                    <a:pt x="5003" y="12832"/>
                  </a:lnTo>
                  <a:cubicBezTo>
                    <a:pt x="5003" y="12698"/>
                    <a:pt x="5111" y="12576"/>
                    <a:pt x="5260" y="12576"/>
                  </a:cubicBezTo>
                  <a:close/>
                  <a:moveTo>
                    <a:pt x="3954" y="1"/>
                  </a:moveTo>
                  <a:cubicBezTo>
                    <a:pt x="3201" y="1"/>
                    <a:pt x="2596" y="606"/>
                    <a:pt x="2596" y="1359"/>
                  </a:cubicBezTo>
                  <a:cubicBezTo>
                    <a:pt x="2596" y="1601"/>
                    <a:pt x="2771" y="1816"/>
                    <a:pt x="3000" y="1884"/>
                  </a:cubicBezTo>
                  <a:lnTo>
                    <a:pt x="3000" y="2193"/>
                  </a:lnTo>
                  <a:cubicBezTo>
                    <a:pt x="3000" y="2596"/>
                    <a:pt x="3201" y="2960"/>
                    <a:pt x="3497" y="3202"/>
                  </a:cubicBezTo>
                  <a:lnTo>
                    <a:pt x="3497" y="3444"/>
                  </a:lnTo>
                  <a:lnTo>
                    <a:pt x="2744" y="3444"/>
                  </a:lnTo>
                  <a:cubicBezTo>
                    <a:pt x="2340" y="3444"/>
                    <a:pt x="1964" y="3686"/>
                    <a:pt x="1789" y="4063"/>
                  </a:cubicBezTo>
                  <a:lnTo>
                    <a:pt x="95" y="7734"/>
                  </a:lnTo>
                  <a:cubicBezTo>
                    <a:pt x="14" y="7922"/>
                    <a:pt x="0" y="8125"/>
                    <a:pt x="68" y="8313"/>
                  </a:cubicBezTo>
                  <a:cubicBezTo>
                    <a:pt x="186" y="8634"/>
                    <a:pt x="482" y="8799"/>
                    <a:pt x="779" y="8799"/>
                  </a:cubicBezTo>
                  <a:cubicBezTo>
                    <a:pt x="1055" y="8799"/>
                    <a:pt x="1331" y="8658"/>
                    <a:pt x="1467" y="8367"/>
                  </a:cubicBezTo>
                  <a:lnTo>
                    <a:pt x="2502" y="6120"/>
                  </a:lnTo>
                  <a:lnTo>
                    <a:pt x="2502" y="10101"/>
                  </a:lnTo>
                  <a:cubicBezTo>
                    <a:pt x="2502" y="10250"/>
                    <a:pt x="2609" y="10357"/>
                    <a:pt x="2744" y="10357"/>
                  </a:cubicBezTo>
                  <a:cubicBezTo>
                    <a:pt x="2892" y="10357"/>
                    <a:pt x="3000" y="10250"/>
                    <a:pt x="3000" y="10101"/>
                  </a:cubicBezTo>
                  <a:lnTo>
                    <a:pt x="3000" y="7627"/>
                  </a:lnTo>
                  <a:lnTo>
                    <a:pt x="5502" y="7627"/>
                  </a:lnTo>
                  <a:lnTo>
                    <a:pt x="5502" y="12119"/>
                  </a:lnTo>
                  <a:cubicBezTo>
                    <a:pt x="5427" y="12092"/>
                    <a:pt x="5343" y="12079"/>
                    <a:pt x="5257" y="12079"/>
                  </a:cubicBezTo>
                  <a:cubicBezTo>
                    <a:pt x="5172" y="12079"/>
                    <a:pt x="5084" y="12092"/>
                    <a:pt x="5003" y="12119"/>
                  </a:cubicBezTo>
                  <a:lnTo>
                    <a:pt x="5003" y="8878"/>
                  </a:lnTo>
                  <a:cubicBezTo>
                    <a:pt x="5003" y="8474"/>
                    <a:pt x="4668" y="8125"/>
                    <a:pt x="4250" y="8125"/>
                  </a:cubicBezTo>
                  <a:cubicBezTo>
                    <a:pt x="3834" y="8125"/>
                    <a:pt x="3497" y="8474"/>
                    <a:pt x="3497" y="8878"/>
                  </a:cubicBezTo>
                  <a:lnTo>
                    <a:pt x="3497" y="12119"/>
                  </a:lnTo>
                  <a:cubicBezTo>
                    <a:pt x="3423" y="12092"/>
                    <a:pt x="3336" y="12079"/>
                    <a:pt x="3248" y="12079"/>
                  </a:cubicBezTo>
                  <a:cubicBezTo>
                    <a:pt x="3161" y="12079"/>
                    <a:pt x="3074" y="12092"/>
                    <a:pt x="3000" y="12119"/>
                  </a:cubicBezTo>
                  <a:lnTo>
                    <a:pt x="3000" y="11272"/>
                  </a:lnTo>
                  <a:cubicBezTo>
                    <a:pt x="2993" y="11111"/>
                    <a:pt x="2868" y="11030"/>
                    <a:pt x="2746" y="11030"/>
                  </a:cubicBezTo>
                  <a:cubicBezTo>
                    <a:pt x="2623" y="11030"/>
                    <a:pt x="2502" y="11111"/>
                    <a:pt x="2502" y="11272"/>
                  </a:cubicBezTo>
                  <a:lnTo>
                    <a:pt x="2502" y="13263"/>
                  </a:lnTo>
                  <a:cubicBezTo>
                    <a:pt x="2502" y="13478"/>
                    <a:pt x="2663" y="13652"/>
                    <a:pt x="2878" y="13652"/>
                  </a:cubicBezTo>
                  <a:lnTo>
                    <a:pt x="3619" y="13652"/>
                  </a:lnTo>
                  <a:cubicBezTo>
                    <a:pt x="3834" y="13652"/>
                    <a:pt x="4008" y="13478"/>
                    <a:pt x="4008" y="13263"/>
                  </a:cubicBezTo>
                  <a:lnTo>
                    <a:pt x="4008" y="8878"/>
                  </a:lnTo>
                  <a:cubicBezTo>
                    <a:pt x="4008" y="8743"/>
                    <a:pt x="4116" y="8636"/>
                    <a:pt x="4250" y="8636"/>
                  </a:cubicBezTo>
                  <a:cubicBezTo>
                    <a:pt x="4385" y="8636"/>
                    <a:pt x="4506" y="8743"/>
                    <a:pt x="4506" y="8878"/>
                  </a:cubicBezTo>
                  <a:lnTo>
                    <a:pt x="4506" y="13263"/>
                  </a:lnTo>
                  <a:cubicBezTo>
                    <a:pt x="4506" y="13478"/>
                    <a:pt x="4681" y="13652"/>
                    <a:pt x="4883" y="13652"/>
                  </a:cubicBezTo>
                  <a:lnTo>
                    <a:pt x="5622" y="13652"/>
                  </a:lnTo>
                  <a:cubicBezTo>
                    <a:pt x="5837" y="13652"/>
                    <a:pt x="6013" y="13478"/>
                    <a:pt x="6013" y="13263"/>
                  </a:cubicBezTo>
                  <a:lnTo>
                    <a:pt x="6013" y="6120"/>
                  </a:lnTo>
                  <a:lnTo>
                    <a:pt x="7048" y="8367"/>
                  </a:lnTo>
                  <a:cubicBezTo>
                    <a:pt x="7175" y="8640"/>
                    <a:pt x="7451" y="8800"/>
                    <a:pt x="7732" y="8800"/>
                  </a:cubicBezTo>
                  <a:cubicBezTo>
                    <a:pt x="7837" y="8800"/>
                    <a:pt x="7944" y="8778"/>
                    <a:pt x="8043" y="8729"/>
                  </a:cubicBezTo>
                  <a:cubicBezTo>
                    <a:pt x="8231" y="8649"/>
                    <a:pt x="8366" y="8501"/>
                    <a:pt x="8434" y="8313"/>
                  </a:cubicBezTo>
                  <a:cubicBezTo>
                    <a:pt x="8500" y="8125"/>
                    <a:pt x="8500" y="7922"/>
                    <a:pt x="8407" y="7734"/>
                  </a:cubicBezTo>
                  <a:lnTo>
                    <a:pt x="6712" y="4063"/>
                  </a:lnTo>
                  <a:cubicBezTo>
                    <a:pt x="6551" y="3686"/>
                    <a:pt x="6174" y="3444"/>
                    <a:pt x="5757" y="3444"/>
                  </a:cubicBezTo>
                  <a:lnTo>
                    <a:pt x="5003" y="3444"/>
                  </a:lnTo>
                  <a:lnTo>
                    <a:pt x="5003" y="3202"/>
                  </a:lnTo>
                  <a:cubicBezTo>
                    <a:pt x="5313" y="2960"/>
                    <a:pt x="5502" y="2596"/>
                    <a:pt x="5502" y="2193"/>
                  </a:cubicBezTo>
                  <a:lnTo>
                    <a:pt x="5502" y="1884"/>
                  </a:lnTo>
                  <a:cubicBezTo>
                    <a:pt x="5744" y="1816"/>
                    <a:pt x="5905" y="1601"/>
                    <a:pt x="5905" y="1359"/>
                  </a:cubicBezTo>
                  <a:cubicBezTo>
                    <a:pt x="5905" y="606"/>
                    <a:pt x="5299" y="1"/>
                    <a:pt x="4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587;p120">
              <a:extLst>
                <a:ext uri="{FF2B5EF4-FFF2-40B4-BE49-F238E27FC236}">
                  <a16:creationId xmlns:a16="http://schemas.microsoft.com/office/drawing/2014/main" id="{A1BFE2BC-82C7-9957-AB1A-36EE061CD6FF}"/>
                </a:ext>
              </a:extLst>
            </p:cNvPr>
            <p:cNvSpPr/>
            <p:nvPr/>
          </p:nvSpPr>
          <p:spPr>
            <a:xfrm>
              <a:off x="6280540" y="2212663"/>
              <a:ext cx="194993" cy="313132"/>
            </a:xfrm>
            <a:custGeom>
              <a:avLst/>
              <a:gdLst/>
              <a:ahLst/>
              <a:cxnLst/>
              <a:rect l="l" t="t" r="r" b="b"/>
              <a:pathLst>
                <a:path w="8502" h="13653" extrusionOk="0">
                  <a:moveTo>
                    <a:pt x="4547" y="498"/>
                  </a:moveTo>
                  <a:cubicBezTo>
                    <a:pt x="5017" y="498"/>
                    <a:pt x="5408" y="889"/>
                    <a:pt x="5408" y="1359"/>
                  </a:cubicBezTo>
                  <a:cubicBezTo>
                    <a:pt x="5408" y="1386"/>
                    <a:pt x="5381" y="1400"/>
                    <a:pt x="5354" y="1400"/>
                  </a:cubicBezTo>
                  <a:lnTo>
                    <a:pt x="3148" y="1400"/>
                  </a:lnTo>
                  <a:cubicBezTo>
                    <a:pt x="3121" y="1400"/>
                    <a:pt x="3094" y="1386"/>
                    <a:pt x="3094" y="1359"/>
                  </a:cubicBezTo>
                  <a:cubicBezTo>
                    <a:pt x="3094" y="889"/>
                    <a:pt x="3471" y="498"/>
                    <a:pt x="3941" y="498"/>
                  </a:cubicBezTo>
                  <a:close/>
                  <a:moveTo>
                    <a:pt x="5004" y="1911"/>
                  </a:moveTo>
                  <a:lnTo>
                    <a:pt x="5004" y="2193"/>
                  </a:lnTo>
                  <a:cubicBezTo>
                    <a:pt x="5004" y="2610"/>
                    <a:pt x="4668" y="2946"/>
                    <a:pt x="4251" y="2946"/>
                  </a:cubicBezTo>
                  <a:cubicBezTo>
                    <a:pt x="3834" y="2946"/>
                    <a:pt x="3498" y="2610"/>
                    <a:pt x="3498" y="2193"/>
                  </a:cubicBezTo>
                  <a:lnTo>
                    <a:pt x="3498" y="1911"/>
                  </a:lnTo>
                  <a:close/>
                  <a:moveTo>
                    <a:pt x="4506" y="3417"/>
                  </a:moveTo>
                  <a:lnTo>
                    <a:pt x="4506" y="3861"/>
                  </a:lnTo>
                  <a:cubicBezTo>
                    <a:pt x="4506" y="4009"/>
                    <a:pt x="4386" y="4117"/>
                    <a:pt x="4251" y="4117"/>
                  </a:cubicBezTo>
                  <a:cubicBezTo>
                    <a:pt x="4117" y="4117"/>
                    <a:pt x="3995" y="4009"/>
                    <a:pt x="3995" y="3861"/>
                  </a:cubicBezTo>
                  <a:lnTo>
                    <a:pt x="3995" y="3417"/>
                  </a:lnTo>
                  <a:cubicBezTo>
                    <a:pt x="4076" y="3444"/>
                    <a:pt x="4156" y="3444"/>
                    <a:pt x="4251" y="3444"/>
                  </a:cubicBezTo>
                  <a:cubicBezTo>
                    <a:pt x="4332" y="3444"/>
                    <a:pt x="4412" y="3444"/>
                    <a:pt x="4506" y="3417"/>
                  </a:cubicBezTo>
                  <a:close/>
                  <a:moveTo>
                    <a:pt x="5501" y="3955"/>
                  </a:moveTo>
                  <a:lnTo>
                    <a:pt x="5501" y="7129"/>
                  </a:lnTo>
                  <a:lnTo>
                    <a:pt x="3000" y="7129"/>
                  </a:lnTo>
                  <a:lnTo>
                    <a:pt x="3000" y="3955"/>
                  </a:lnTo>
                  <a:lnTo>
                    <a:pt x="3498" y="3955"/>
                  </a:lnTo>
                  <a:cubicBezTo>
                    <a:pt x="3558" y="4392"/>
                    <a:pt x="3904" y="4611"/>
                    <a:pt x="4249" y="4611"/>
                  </a:cubicBezTo>
                  <a:cubicBezTo>
                    <a:pt x="4594" y="4611"/>
                    <a:pt x="4937" y="4392"/>
                    <a:pt x="4990" y="3955"/>
                  </a:cubicBezTo>
                  <a:close/>
                  <a:moveTo>
                    <a:pt x="6000" y="4009"/>
                  </a:moveTo>
                  <a:cubicBezTo>
                    <a:pt x="6120" y="4063"/>
                    <a:pt x="6201" y="4156"/>
                    <a:pt x="6255" y="4264"/>
                  </a:cubicBezTo>
                  <a:lnTo>
                    <a:pt x="7949" y="7949"/>
                  </a:lnTo>
                  <a:cubicBezTo>
                    <a:pt x="7976" y="8003"/>
                    <a:pt x="7990" y="8071"/>
                    <a:pt x="7963" y="8138"/>
                  </a:cubicBezTo>
                  <a:cubicBezTo>
                    <a:pt x="7928" y="8242"/>
                    <a:pt x="7829" y="8296"/>
                    <a:pt x="7728" y="8296"/>
                  </a:cubicBezTo>
                  <a:cubicBezTo>
                    <a:pt x="7634" y="8296"/>
                    <a:pt x="7538" y="8249"/>
                    <a:pt x="7492" y="8152"/>
                  </a:cubicBezTo>
                  <a:lnTo>
                    <a:pt x="6000" y="4924"/>
                  </a:lnTo>
                  <a:lnTo>
                    <a:pt x="6000" y="4009"/>
                  </a:lnTo>
                  <a:close/>
                  <a:moveTo>
                    <a:pt x="2489" y="4009"/>
                  </a:moveTo>
                  <a:lnTo>
                    <a:pt x="2489" y="4924"/>
                  </a:lnTo>
                  <a:lnTo>
                    <a:pt x="996" y="8152"/>
                  </a:lnTo>
                  <a:cubicBezTo>
                    <a:pt x="944" y="8256"/>
                    <a:pt x="857" y="8300"/>
                    <a:pt x="771" y="8300"/>
                  </a:cubicBezTo>
                  <a:cubicBezTo>
                    <a:pt x="613" y="8300"/>
                    <a:pt x="460" y="8150"/>
                    <a:pt x="539" y="7949"/>
                  </a:cubicBezTo>
                  <a:lnTo>
                    <a:pt x="2234" y="4264"/>
                  </a:lnTo>
                  <a:cubicBezTo>
                    <a:pt x="2287" y="4156"/>
                    <a:pt x="2381" y="4063"/>
                    <a:pt x="2489" y="4009"/>
                  </a:cubicBezTo>
                  <a:close/>
                  <a:moveTo>
                    <a:pt x="5501" y="7627"/>
                  </a:moveTo>
                  <a:lnTo>
                    <a:pt x="5501" y="12119"/>
                  </a:lnTo>
                  <a:cubicBezTo>
                    <a:pt x="5428" y="12092"/>
                    <a:pt x="5340" y="12079"/>
                    <a:pt x="5253" y="12079"/>
                  </a:cubicBezTo>
                  <a:cubicBezTo>
                    <a:pt x="5165" y="12079"/>
                    <a:pt x="5078" y="12092"/>
                    <a:pt x="5004" y="12119"/>
                  </a:cubicBezTo>
                  <a:lnTo>
                    <a:pt x="5004" y="8878"/>
                  </a:lnTo>
                  <a:cubicBezTo>
                    <a:pt x="5004" y="8474"/>
                    <a:pt x="4668" y="8125"/>
                    <a:pt x="4251" y="8125"/>
                  </a:cubicBezTo>
                  <a:cubicBezTo>
                    <a:pt x="3834" y="8125"/>
                    <a:pt x="3498" y="8474"/>
                    <a:pt x="3498" y="8878"/>
                  </a:cubicBezTo>
                  <a:lnTo>
                    <a:pt x="3498" y="12119"/>
                  </a:lnTo>
                  <a:cubicBezTo>
                    <a:pt x="3417" y="12092"/>
                    <a:pt x="3330" y="12079"/>
                    <a:pt x="3244" y="12079"/>
                  </a:cubicBezTo>
                  <a:cubicBezTo>
                    <a:pt x="3158" y="12079"/>
                    <a:pt x="3074" y="12092"/>
                    <a:pt x="3000" y="12119"/>
                  </a:cubicBezTo>
                  <a:lnTo>
                    <a:pt x="3000" y="7627"/>
                  </a:lnTo>
                  <a:close/>
                  <a:moveTo>
                    <a:pt x="3242" y="12576"/>
                  </a:moveTo>
                  <a:cubicBezTo>
                    <a:pt x="3390" y="12576"/>
                    <a:pt x="3498" y="12698"/>
                    <a:pt x="3498" y="12832"/>
                  </a:cubicBezTo>
                  <a:lnTo>
                    <a:pt x="3498" y="13155"/>
                  </a:lnTo>
                  <a:lnTo>
                    <a:pt x="3000" y="13155"/>
                  </a:lnTo>
                  <a:lnTo>
                    <a:pt x="3000" y="12832"/>
                  </a:lnTo>
                  <a:cubicBezTo>
                    <a:pt x="3000" y="12698"/>
                    <a:pt x="3107" y="12576"/>
                    <a:pt x="3242" y="12576"/>
                  </a:cubicBezTo>
                  <a:close/>
                  <a:moveTo>
                    <a:pt x="5246" y="12576"/>
                  </a:moveTo>
                  <a:cubicBezTo>
                    <a:pt x="5394" y="12576"/>
                    <a:pt x="5501" y="12698"/>
                    <a:pt x="5501" y="12832"/>
                  </a:cubicBezTo>
                  <a:lnTo>
                    <a:pt x="5501" y="13155"/>
                  </a:lnTo>
                  <a:lnTo>
                    <a:pt x="5004" y="13155"/>
                  </a:lnTo>
                  <a:lnTo>
                    <a:pt x="5004" y="12832"/>
                  </a:lnTo>
                  <a:cubicBezTo>
                    <a:pt x="5004" y="12698"/>
                    <a:pt x="5112" y="12576"/>
                    <a:pt x="5246" y="12576"/>
                  </a:cubicBezTo>
                  <a:close/>
                  <a:moveTo>
                    <a:pt x="3941" y="1"/>
                  </a:moveTo>
                  <a:cubicBezTo>
                    <a:pt x="3202" y="1"/>
                    <a:pt x="2596" y="606"/>
                    <a:pt x="2596" y="1359"/>
                  </a:cubicBezTo>
                  <a:cubicBezTo>
                    <a:pt x="2596" y="1601"/>
                    <a:pt x="2758" y="1816"/>
                    <a:pt x="3000" y="1884"/>
                  </a:cubicBezTo>
                  <a:lnTo>
                    <a:pt x="3000" y="2193"/>
                  </a:lnTo>
                  <a:cubicBezTo>
                    <a:pt x="3000" y="2596"/>
                    <a:pt x="3188" y="2960"/>
                    <a:pt x="3498" y="3202"/>
                  </a:cubicBezTo>
                  <a:lnTo>
                    <a:pt x="3498" y="3444"/>
                  </a:lnTo>
                  <a:lnTo>
                    <a:pt x="2745" y="3444"/>
                  </a:lnTo>
                  <a:cubicBezTo>
                    <a:pt x="2327" y="3444"/>
                    <a:pt x="1951" y="3686"/>
                    <a:pt x="1789" y="4063"/>
                  </a:cubicBezTo>
                  <a:lnTo>
                    <a:pt x="94" y="7734"/>
                  </a:lnTo>
                  <a:cubicBezTo>
                    <a:pt x="1" y="7922"/>
                    <a:pt x="1" y="8125"/>
                    <a:pt x="68" y="8313"/>
                  </a:cubicBezTo>
                  <a:cubicBezTo>
                    <a:pt x="187" y="8634"/>
                    <a:pt x="479" y="8799"/>
                    <a:pt x="773" y="8799"/>
                  </a:cubicBezTo>
                  <a:cubicBezTo>
                    <a:pt x="1045" y="8799"/>
                    <a:pt x="1317" y="8658"/>
                    <a:pt x="1453" y="8367"/>
                  </a:cubicBezTo>
                  <a:lnTo>
                    <a:pt x="2489" y="6120"/>
                  </a:lnTo>
                  <a:lnTo>
                    <a:pt x="2489" y="13263"/>
                  </a:lnTo>
                  <a:cubicBezTo>
                    <a:pt x="2489" y="13478"/>
                    <a:pt x="2664" y="13652"/>
                    <a:pt x="2879" y="13652"/>
                  </a:cubicBezTo>
                  <a:lnTo>
                    <a:pt x="3618" y="13652"/>
                  </a:lnTo>
                  <a:cubicBezTo>
                    <a:pt x="3821" y="13652"/>
                    <a:pt x="3995" y="13478"/>
                    <a:pt x="3995" y="13263"/>
                  </a:cubicBezTo>
                  <a:lnTo>
                    <a:pt x="3995" y="8878"/>
                  </a:lnTo>
                  <a:cubicBezTo>
                    <a:pt x="3995" y="8743"/>
                    <a:pt x="4117" y="8636"/>
                    <a:pt x="4251" y="8636"/>
                  </a:cubicBezTo>
                  <a:cubicBezTo>
                    <a:pt x="4386" y="8636"/>
                    <a:pt x="4506" y="8743"/>
                    <a:pt x="4506" y="8878"/>
                  </a:cubicBezTo>
                  <a:lnTo>
                    <a:pt x="4506" y="13263"/>
                  </a:lnTo>
                  <a:cubicBezTo>
                    <a:pt x="4506" y="13478"/>
                    <a:pt x="4668" y="13652"/>
                    <a:pt x="4883" y="13652"/>
                  </a:cubicBezTo>
                  <a:lnTo>
                    <a:pt x="5623" y="13652"/>
                  </a:lnTo>
                  <a:cubicBezTo>
                    <a:pt x="5838" y="13652"/>
                    <a:pt x="6000" y="13478"/>
                    <a:pt x="6000" y="13263"/>
                  </a:cubicBezTo>
                  <a:cubicBezTo>
                    <a:pt x="6013" y="12348"/>
                    <a:pt x="6000" y="6900"/>
                    <a:pt x="6000" y="6120"/>
                  </a:cubicBezTo>
                  <a:lnTo>
                    <a:pt x="6000" y="6120"/>
                  </a:lnTo>
                  <a:lnTo>
                    <a:pt x="7049" y="8367"/>
                  </a:lnTo>
                  <a:cubicBezTo>
                    <a:pt x="7178" y="8658"/>
                    <a:pt x="7451" y="8799"/>
                    <a:pt x="7724" y="8799"/>
                  </a:cubicBezTo>
                  <a:cubicBezTo>
                    <a:pt x="8019" y="8799"/>
                    <a:pt x="8315" y="8634"/>
                    <a:pt x="8434" y="8313"/>
                  </a:cubicBezTo>
                  <a:cubicBezTo>
                    <a:pt x="8501" y="8125"/>
                    <a:pt x="8487" y="7922"/>
                    <a:pt x="8407" y="7734"/>
                  </a:cubicBezTo>
                  <a:lnTo>
                    <a:pt x="6712" y="4063"/>
                  </a:lnTo>
                  <a:cubicBezTo>
                    <a:pt x="6538" y="3686"/>
                    <a:pt x="6174" y="3444"/>
                    <a:pt x="5758" y="3444"/>
                  </a:cubicBezTo>
                  <a:lnTo>
                    <a:pt x="5004" y="3444"/>
                  </a:lnTo>
                  <a:lnTo>
                    <a:pt x="5004" y="3202"/>
                  </a:lnTo>
                  <a:cubicBezTo>
                    <a:pt x="5300" y="2960"/>
                    <a:pt x="5501" y="2596"/>
                    <a:pt x="5501" y="2193"/>
                  </a:cubicBezTo>
                  <a:lnTo>
                    <a:pt x="5501" y="1884"/>
                  </a:lnTo>
                  <a:cubicBezTo>
                    <a:pt x="5731" y="1816"/>
                    <a:pt x="5905" y="1601"/>
                    <a:pt x="5905" y="1359"/>
                  </a:cubicBezTo>
                  <a:cubicBezTo>
                    <a:pt x="5905" y="606"/>
                    <a:pt x="5300" y="1"/>
                    <a:pt x="4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5384;p116">
            <a:extLst>
              <a:ext uri="{FF2B5EF4-FFF2-40B4-BE49-F238E27FC236}">
                <a16:creationId xmlns:a16="http://schemas.microsoft.com/office/drawing/2014/main" id="{833BB7B5-1DEE-69F2-970F-433E15104DC7}"/>
              </a:ext>
            </a:extLst>
          </p:cNvPr>
          <p:cNvGrpSpPr/>
          <p:nvPr/>
        </p:nvGrpSpPr>
        <p:grpSpPr>
          <a:xfrm>
            <a:off x="4445228" y="1815106"/>
            <a:ext cx="381010" cy="380988"/>
            <a:chOff x="5397680" y="4043472"/>
            <a:chExt cx="393037" cy="393014"/>
          </a:xfrm>
        </p:grpSpPr>
        <p:sp>
          <p:nvSpPr>
            <p:cNvPr id="42" name="Google Shape;5385;p116">
              <a:extLst>
                <a:ext uri="{FF2B5EF4-FFF2-40B4-BE49-F238E27FC236}">
                  <a16:creationId xmlns:a16="http://schemas.microsoft.com/office/drawing/2014/main" id="{1C02DFAE-86A0-7B52-E819-33721D1E62AF}"/>
                </a:ext>
              </a:extLst>
            </p:cNvPr>
            <p:cNvSpPr/>
            <p:nvPr/>
          </p:nvSpPr>
          <p:spPr>
            <a:xfrm>
              <a:off x="5468939" y="4049344"/>
              <a:ext cx="250198" cy="227057"/>
            </a:xfrm>
            <a:custGeom>
              <a:avLst/>
              <a:gdLst/>
              <a:ahLst/>
              <a:cxnLst/>
              <a:rect l="l" t="t" r="r" b="b"/>
              <a:pathLst>
                <a:path w="10909" h="9900" extrusionOk="0">
                  <a:moveTo>
                    <a:pt x="3282" y="0"/>
                  </a:moveTo>
                  <a:cubicBezTo>
                    <a:pt x="1440" y="0"/>
                    <a:pt x="0" y="1614"/>
                    <a:pt x="0" y="3672"/>
                  </a:cubicBezTo>
                  <a:cubicBezTo>
                    <a:pt x="0" y="4990"/>
                    <a:pt x="646" y="7532"/>
                    <a:pt x="4950" y="9778"/>
                  </a:cubicBezTo>
                  <a:cubicBezTo>
                    <a:pt x="5111" y="9859"/>
                    <a:pt x="5287" y="9900"/>
                    <a:pt x="5461" y="9900"/>
                  </a:cubicBezTo>
                  <a:cubicBezTo>
                    <a:pt x="5622" y="9900"/>
                    <a:pt x="5798" y="9859"/>
                    <a:pt x="5959" y="9778"/>
                  </a:cubicBezTo>
                  <a:cubicBezTo>
                    <a:pt x="10263" y="7532"/>
                    <a:pt x="10909" y="4990"/>
                    <a:pt x="10909" y="3672"/>
                  </a:cubicBezTo>
                  <a:cubicBezTo>
                    <a:pt x="10909" y="1614"/>
                    <a:pt x="9469" y="0"/>
                    <a:pt x="7640" y="0"/>
                  </a:cubicBezTo>
                  <a:cubicBezTo>
                    <a:pt x="6927" y="0"/>
                    <a:pt x="6309" y="202"/>
                    <a:pt x="5825" y="485"/>
                  </a:cubicBezTo>
                  <a:cubicBezTo>
                    <a:pt x="5710" y="552"/>
                    <a:pt x="5582" y="585"/>
                    <a:pt x="5454" y="585"/>
                  </a:cubicBezTo>
                  <a:cubicBezTo>
                    <a:pt x="5327" y="585"/>
                    <a:pt x="5199" y="552"/>
                    <a:pt x="5084" y="485"/>
                  </a:cubicBezTo>
                  <a:cubicBezTo>
                    <a:pt x="4600" y="202"/>
                    <a:pt x="3981" y="0"/>
                    <a:pt x="32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386;p116">
              <a:extLst>
                <a:ext uri="{FF2B5EF4-FFF2-40B4-BE49-F238E27FC236}">
                  <a16:creationId xmlns:a16="http://schemas.microsoft.com/office/drawing/2014/main" id="{D868367E-8E3C-3BA5-E94E-AD8686CC8E05}"/>
                </a:ext>
              </a:extLst>
            </p:cNvPr>
            <p:cNvSpPr/>
            <p:nvPr/>
          </p:nvSpPr>
          <p:spPr>
            <a:xfrm>
              <a:off x="5582444" y="4049344"/>
              <a:ext cx="136693" cy="227057"/>
            </a:xfrm>
            <a:custGeom>
              <a:avLst/>
              <a:gdLst/>
              <a:ahLst/>
              <a:cxnLst/>
              <a:rect l="l" t="t" r="r" b="b"/>
              <a:pathLst>
                <a:path w="5960" h="9900" extrusionOk="0">
                  <a:moveTo>
                    <a:pt x="2691" y="0"/>
                  </a:moveTo>
                  <a:cubicBezTo>
                    <a:pt x="2502" y="0"/>
                    <a:pt x="2328" y="13"/>
                    <a:pt x="2167" y="40"/>
                  </a:cubicBezTo>
                  <a:cubicBezTo>
                    <a:pt x="3767" y="296"/>
                    <a:pt x="4950" y="1803"/>
                    <a:pt x="4950" y="3672"/>
                  </a:cubicBezTo>
                  <a:cubicBezTo>
                    <a:pt x="4950" y="4990"/>
                    <a:pt x="4319" y="7532"/>
                    <a:pt x="1" y="9778"/>
                  </a:cubicBezTo>
                  <a:cubicBezTo>
                    <a:pt x="162" y="9859"/>
                    <a:pt x="338" y="9900"/>
                    <a:pt x="512" y="9900"/>
                  </a:cubicBezTo>
                  <a:cubicBezTo>
                    <a:pt x="673" y="9900"/>
                    <a:pt x="849" y="9859"/>
                    <a:pt x="1010" y="9778"/>
                  </a:cubicBezTo>
                  <a:cubicBezTo>
                    <a:pt x="5314" y="7532"/>
                    <a:pt x="5960" y="4990"/>
                    <a:pt x="5960" y="3672"/>
                  </a:cubicBezTo>
                  <a:cubicBezTo>
                    <a:pt x="5960" y="1614"/>
                    <a:pt x="4520" y="0"/>
                    <a:pt x="26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387;p116">
              <a:extLst>
                <a:ext uri="{FF2B5EF4-FFF2-40B4-BE49-F238E27FC236}">
                  <a16:creationId xmlns:a16="http://schemas.microsoft.com/office/drawing/2014/main" id="{A2021414-6379-25EA-EB04-FE600DCE07E1}"/>
                </a:ext>
              </a:extLst>
            </p:cNvPr>
            <p:cNvSpPr/>
            <p:nvPr/>
          </p:nvSpPr>
          <p:spPr>
            <a:xfrm>
              <a:off x="5487447" y="4049344"/>
              <a:ext cx="213181" cy="28394"/>
            </a:xfrm>
            <a:custGeom>
              <a:avLst/>
              <a:gdLst/>
              <a:ahLst/>
              <a:cxnLst/>
              <a:rect l="l" t="t" r="r" b="b"/>
              <a:pathLst>
                <a:path w="9295" h="1238" extrusionOk="0">
                  <a:moveTo>
                    <a:pt x="2475" y="0"/>
                  </a:moveTo>
                  <a:cubicBezTo>
                    <a:pt x="1480" y="0"/>
                    <a:pt x="592" y="485"/>
                    <a:pt x="0" y="1238"/>
                  </a:cubicBezTo>
                  <a:lnTo>
                    <a:pt x="9295" y="1238"/>
                  </a:lnTo>
                  <a:cubicBezTo>
                    <a:pt x="8703" y="485"/>
                    <a:pt x="7828" y="0"/>
                    <a:pt x="6833" y="0"/>
                  </a:cubicBezTo>
                  <a:cubicBezTo>
                    <a:pt x="6120" y="0"/>
                    <a:pt x="5502" y="202"/>
                    <a:pt x="5018" y="485"/>
                  </a:cubicBezTo>
                  <a:cubicBezTo>
                    <a:pt x="4903" y="552"/>
                    <a:pt x="4775" y="585"/>
                    <a:pt x="4647" y="585"/>
                  </a:cubicBezTo>
                  <a:cubicBezTo>
                    <a:pt x="4520" y="585"/>
                    <a:pt x="4392" y="552"/>
                    <a:pt x="4277" y="485"/>
                  </a:cubicBezTo>
                  <a:cubicBezTo>
                    <a:pt x="3793" y="202"/>
                    <a:pt x="3174" y="0"/>
                    <a:pt x="2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388;p116">
              <a:extLst>
                <a:ext uri="{FF2B5EF4-FFF2-40B4-BE49-F238E27FC236}">
                  <a16:creationId xmlns:a16="http://schemas.microsoft.com/office/drawing/2014/main" id="{A25A9E18-D4F1-A1BA-4475-9246419D3309}"/>
                </a:ext>
              </a:extLst>
            </p:cNvPr>
            <p:cNvSpPr/>
            <p:nvPr/>
          </p:nvSpPr>
          <p:spPr>
            <a:xfrm>
              <a:off x="5469879" y="4077714"/>
              <a:ext cx="248317" cy="42590"/>
            </a:xfrm>
            <a:custGeom>
              <a:avLst/>
              <a:gdLst/>
              <a:ahLst/>
              <a:cxnLst/>
              <a:rect l="l" t="t" r="r" b="b"/>
              <a:pathLst>
                <a:path w="10827" h="1857" extrusionOk="0">
                  <a:moveTo>
                    <a:pt x="766" y="1"/>
                  </a:moveTo>
                  <a:cubicBezTo>
                    <a:pt x="363" y="512"/>
                    <a:pt x="94" y="1143"/>
                    <a:pt x="0" y="1857"/>
                  </a:cubicBezTo>
                  <a:lnTo>
                    <a:pt x="10827" y="1857"/>
                  </a:lnTo>
                  <a:cubicBezTo>
                    <a:pt x="10733" y="1143"/>
                    <a:pt x="10464" y="512"/>
                    <a:pt x="100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389;p116">
              <a:extLst>
                <a:ext uri="{FF2B5EF4-FFF2-40B4-BE49-F238E27FC236}">
                  <a16:creationId xmlns:a16="http://schemas.microsoft.com/office/drawing/2014/main" id="{B9F45A86-459E-BD05-8345-975BE659DA5E}"/>
                </a:ext>
              </a:extLst>
            </p:cNvPr>
            <p:cNvSpPr/>
            <p:nvPr/>
          </p:nvSpPr>
          <p:spPr>
            <a:xfrm>
              <a:off x="5677785" y="4077714"/>
              <a:ext cx="40411" cy="42590"/>
            </a:xfrm>
            <a:custGeom>
              <a:avLst/>
              <a:gdLst/>
              <a:ahLst/>
              <a:cxnLst/>
              <a:rect l="l" t="t" r="r" b="b"/>
              <a:pathLst>
                <a:path w="1762" h="1857" extrusionOk="0">
                  <a:moveTo>
                    <a:pt x="0" y="1"/>
                  </a:moveTo>
                  <a:cubicBezTo>
                    <a:pt x="390" y="512"/>
                    <a:pt x="659" y="1143"/>
                    <a:pt x="754" y="1857"/>
                  </a:cubicBezTo>
                  <a:lnTo>
                    <a:pt x="1762" y="1857"/>
                  </a:lnTo>
                  <a:cubicBezTo>
                    <a:pt x="1668" y="1143"/>
                    <a:pt x="1399" y="512"/>
                    <a:pt x="9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390;p116">
              <a:extLst>
                <a:ext uri="{FF2B5EF4-FFF2-40B4-BE49-F238E27FC236}">
                  <a16:creationId xmlns:a16="http://schemas.microsoft.com/office/drawing/2014/main" id="{D1B4B121-418D-CDDB-A64F-1A2E7A7E2792}"/>
                </a:ext>
              </a:extLst>
            </p:cNvPr>
            <p:cNvSpPr/>
            <p:nvPr/>
          </p:nvSpPr>
          <p:spPr>
            <a:xfrm>
              <a:off x="5468939" y="4120281"/>
              <a:ext cx="250198" cy="42590"/>
            </a:xfrm>
            <a:custGeom>
              <a:avLst/>
              <a:gdLst/>
              <a:ahLst/>
              <a:cxnLst/>
              <a:rect l="l" t="t" r="r" b="b"/>
              <a:pathLst>
                <a:path w="10909" h="1857" extrusionOk="0">
                  <a:moveTo>
                    <a:pt x="41" y="1"/>
                  </a:moveTo>
                  <a:cubicBezTo>
                    <a:pt x="14" y="189"/>
                    <a:pt x="0" y="377"/>
                    <a:pt x="0" y="579"/>
                  </a:cubicBezTo>
                  <a:cubicBezTo>
                    <a:pt x="0" y="928"/>
                    <a:pt x="54" y="1359"/>
                    <a:pt x="202" y="1857"/>
                  </a:cubicBezTo>
                  <a:lnTo>
                    <a:pt x="10720" y="1857"/>
                  </a:lnTo>
                  <a:cubicBezTo>
                    <a:pt x="10868" y="1359"/>
                    <a:pt x="10909" y="928"/>
                    <a:pt x="10909" y="579"/>
                  </a:cubicBezTo>
                  <a:cubicBezTo>
                    <a:pt x="10909" y="377"/>
                    <a:pt x="10895" y="189"/>
                    <a:pt x="108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391;p116">
              <a:extLst>
                <a:ext uri="{FF2B5EF4-FFF2-40B4-BE49-F238E27FC236}">
                  <a16:creationId xmlns:a16="http://schemas.microsoft.com/office/drawing/2014/main" id="{73E3D4E7-7C9C-571B-4EBA-E25D071102F2}"/>
                </a:ext>
              </a:extLst>
            </p:cNvPr>
            <p:cNvSpPr/>
            <p:nvPr/>
          </p:nvSpPr>
          <p:spPr>
            <a:xfrm>
              <a:off x="5691661" y="4120281"/>
              <a:ext cx="27476" cy="42590"/>
            </a:xfrm>
            <a:custGeom>
              <a:avLst/>
              <a:gdLst/>
              <a:ahLst/>
              <a:cxnLst/>
              <a:rect l="l" t="t" r="r" b="b"/>
              <a:pathLst>
                <a:path w="1198" h="1857" extrusionOk="0">
                  <a:moveTo>
                    <a:pt x="149" y="1"/>
                  </a:moveTo>
                  <a:cubicBezTo>
                    <a:pt x="175" y="189"/>
                    <a:pt x="188" y="377"/>
                    <a:pt x="188" y="579"/>
                  </a:cubicBezTo>
                  <a:cubicBezTo>
                    <a:pt x="188" y="928"/>
                    <a:pt x="149" y="1359"/>
                    <a:pt x="0" y="1857"/>
                  </a:cubicBezTo>
                  <a:lnTo>
                    <a:pt x="1009" y="1857"/>
                  </a:lnTo>
                  <a:cubicBezTo>
                    <a:pt x="1157" y="1359"/>
                    <a:pt x="1198" y="928"/>
                    <a:pt x="1198" y="579"/>
                  </a:cubicBezTo>
                  <a:cubicBezTo>
                    <a:pt x="1198" y="377"/>
                    <a:pt x="1184" y="189"/>
                    <a:pt x="11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392;p116">
              <a:extLst>
                <a:ext uri="{FF2B5EF4-FFF2-40B4-BE49-F238E27FC236}">
                  <a16:creationId xmlns:a16="http://schemas.microsoft.com/office/drawing/2014/main" id="{6F199A95-45F7-2CDC-D914-91ADF44B62EA}"/>
                </a:ext>
              </a:extLst>
            </p:cNvPr>
            <p:cNvSpPr/>
            <p:nvPr/>
          </p:nvSpPr>
          <p:spPr>
            <a:xfrm>
              <a:off x="5473572" y="4162849"/>
              <a:ext cx="241253" cy="42613"/>
            </a:xfrm>
            <a:custGeom>
              <a:avLst/>
              <a:gdLst/>
              <a:ahLst/>
              <a:cxnLst/>
              <a:rect l="l" t="t" r="r" b="b"/>
              <a:pathLst>
                <a:path w="10519" h="1858" extrusionOk="0">
                  <a:moveTo>
                    <a:pt x="0" y="1"/>
                  </a:moveTo>
                  <a:cubicBezTo>
                    <a:pt x="162" y="566"/>
                    <a:pt x="458" y="1197"/>
                    <a:pt x="969" y="1857"/>
                  </a:cubicBezTo>
                  <a:lnTo>
                    <a:pt x="9536" y="1857"/>
                  </a:lnTo>
                  <a:cubicBezTo>
                    <a:pt x="10047" y="1197"/>
                    <a:pt x="10343" y="566"/>
                    <a:pt x="105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393;p116">
              <a:extLst>
                <a:ext uri="{FF2B5EF4-FFF2-40B4-BE49-F238E27FC236}">
                  <a16:creationId xmlns:a16="http://schemas.microsoft.com/office/drawing/2014/main" id="{EBC28387-D256-6015-CDD2-52849E3E5606}"/>
                </a:ext>
              </a:extLst>
            </p:cNvPr>
            <p:cNvSpPr/>
            <p:nvPr/>
          </p:nvSpPr>
          <p:spPr>
            <a:xfrm>
              <a:off x="5669437" y="4162849"/>
              <a:ext cx="45388" cy="42613"/>
            </a:xfrm>
            <a:custGeom>
              <a:avLst/>
              <a:gdLst/>
              <a:ahLst/>
              <a:cxnLst/>
              <a:rect l="l" t="t" r="r" b="b"/>
              <a:pathLst>
                <a:path w="1979" h="1858" extrusionOk="0">
                  <a:moveTo>
                    <a:pt x="969" y="1"/>
                  </a:moveTo>
                  <a:cubicBezTo>
                    <a:pt x="808" y="566"/>
                    <a:pt x="499" y="1197"/>
                    <a:pt x="1" y="1857"/>
                  </a:cubicBezTo>
                  <a:lnTo>
                    <a:pt x="996" y="1857"/>
                  </a:lnTo>
                  <a:cubicBezTo>
                    <a:pt x="1507" y="1197"/>
                    <a:pt x="1803" y="566"/>
                    <a:pt x="19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394;p116">
              <a:extLst>
                <a:ext uri="{FF2B5EF4-FFF2-40B4-BE49-F238E27FC236}">
                  <a16:creationId xmlns:a16="http://schemas.microsoft.com/office/drawing/2014/main" id="{6D21E08A-7282-F4A9-7C75-3CB524B8190C}"/>
                </a:ext>
              </a:extLst>
            </p:cNvPr>
            <p:cNvSpPr/>
            <p:nvPr/>
          </p:nvSpPr>
          <p:spPr>
            <a:xfrm>
              <a:off x="5495773" y="4205439"/>
              <a:ext cx="196507" cy="42590"/>
            </a:xfrm>
            <a:custGeom>
              <a:avLst/>
              <a:gdLst/>
              <a:ahLst/>
              <a:cxnLst/>
              <a:rect l="l" t="t" r="r" b="b"/>
              <a:pathLst>
                <a:path w="8568" h="1857" extrusionOk="0">
                  <a:moveTo>
                    <a:pt x="1" y="0"/>
                  </a:moveTo>
                  <a:cubicBezTo>
                    <a:pt x="458" y="605"/>
                    <a:pt x="1090" y="1237"/>
                    <a:pt x="1965" y="1856"/>
                  </a:cubicBezTo>
                  <a:lnTo>
                    <a:pt x="6604" y="1856"/>
                  </a:lnTo>
                  <a:cubicBezTo>
                    <a:pt x="7479" y="1237"/>
                    <a:pt x="8111" y="605"/>
                    <a:pt x="85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395;p116">
              <a:extLst>
                <a:ext uri="{FF2B5EF4-FFF2-40B4-BE49-F238E27FC236}">
                  <a16:creationId xmlns:a16="http://schemas.microsoft.com/office/drawing/2014/main" id="{A3E7B74B-569E-97B4-B517-F2858E2EE33B}"/>
                </a:ext>
              </a:extLst>
            </p:cNvPr>
            <p:cNvSpPr/>
            <p:nvPr/>
          </p:nvSpPr>
          <p:spPr>
            <a:xfrm>
              <a:off x="5624392" y="4205439"/>
              <a:ext cx="67888" cy="42590"/>
            </a:xfrm>
            <a:custGeom>
              <a:avLst/>
              <a:gdLst/>
              <a:ahLst/>
              <a:cxnLst/>
              <a:rect l="l" t="t" r="r" b="b"/>
              <a:pathLst>
                <a:path w="2960" h="1857" extrusionOk="0">
                  <a:moveTo>
                    <a:pt x="1965" y="0"/>
                  </a:moveTo>
                  <a:cubicBezTo>
                    <a:pt x="1494" y="605"/>
                    <a:pt x="862" y="1237"/>
                    <a:pt x="1" y="1856"/>
                  </a:cubicBezTo>
                  <a:lnTo>
                    <a:pt x="996" y="1856"/>
                  </a:lnTo>
                  <a:cubicBezTo>
                    <a:pt x="1871" y="1237"/>
                    <a:pt x="2503" y="605"/>
                    <a:pt x="2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96;p116">
              <a:extLst>
                <a:ext uri="{FF2B5EF4-FFF2-40B4-BE49-F238E27FC236}">
                  <a16:creationId xmlns:a16="http://schemas.microsoft.com/office/drawing/2014/main" id="{A8742AA7-D104-AC74-F631-26602DBF9140}"/>
                </a:ext>
              </a:extLst>
            </p:cNvPr>
            <p:cNvSpPr/>
            <p:nvPr/>
          </p:nvSpPr>
          <p:spPr>
            <a:xfrm>
              <a:off x="5403230" y="4137574"/>
              <a:ext cx="169696" cy="293063"/>
            </a:xfrm>
            <a:custGeom>
              <a:avLst/>
              <a:gdLst/>
              <a:ahLst/>
              <a:cxnLst/>
              <a:rect l="l" t="t" r="r" b="b"/>
              <a:pathLst>
                <a:path w="7399" h="12778" extrusionOk="0">
                  <a:moveTo>
                    <a:pt x="821" y="0"/>
                  </a:moveTo>
                  <a:cubicBezTo>
                    <a:pt x="363" y="0"/>
                    <a:pt x="1" y="377"/>
                    <a:pt x="14" y="834"/>
                  </a:cubicBezTo>
                  <a:lnTo>
                    <a:pt x="68" y="4075"/>
                  </a:lnTo>
                  <a:cubicBezTo>
                    <a:pt x="81" y="4398"/>
                    <a:pt x="148" y="4708"/>
                    <a:pt x="283" y="5003"/>
                  </a:cubicBezTo>
                  <a:lnTo>
                    <a:pt x="2556" y="10168"/>
                  </a:lnTo>
                  <a:cubicBezTo>
                    <a:pt x="2623" y="10303"/>
                    <a:pt x="2650" y="10450"/>
                    <a:pt x="2650" y="10599"/>
                  </a:cubicBezTo>
                  <a:lnTo>
                    <a:pt x="2623" y="12778"/>
                  </a:lnTo>
                  <a:lnTo>
                    <a:pt x="6538" y="12778"/>
                  </a:lnTo>
                  <a:lnTo>
                    <a:pt x="6577" y="10369"/>
                  </a:lnTo>
                  <a:cubicBezTo>
                    <a:pt x="6577" y="10369"/>
                    <a:pt x="7398" y="8527"/>
                    <a:pt x="6484" y="6738"/>
                  </a:cubicBezTo>
                  <a:lnTo>
                    <a:pt x="4936" y="4694"/>
                  </a:lnTo>
                  <a:cubicBezTo>
                    <a:pt x="4762" y="4465"/>
                    <a:pt x="4655" y="4182"/>
                    <a:pt x="4614" y="3887"/>
                  </a:cubicBezTo>
                  <a:lnTo>
                    <a:pt x="4359" y="1991"/>
                  </a:lnTo>
                  <a:cubicBezTo>
                    <a:pt x="4299" y="1600"/>
                    <a:pt x="3959" y="1314"/>
                    <a:pt x="3577" y="1314"/>
                  </a:cubicBezTo>
                  <a:cubicBezTo>
                    <a:pt x="3524" y="1314"/>
                    <a:pt x="3471" y="1320"/>
                    <a:pt x="3417" y="1331"/>
                  </a:cubicBezTo>
                  <a:cubicBezTo>
                    <a:pt x="3027" y="1412"/>
                    <a:pt x="2772" y="1761"/>
                    <a:pt x="2798" y="2152"/>
                  </a:cubicBezTo>
                  <a:lnTo>
                    <a:pt x="2973" y="4600"/>
                  </a:lnTo>
                  <a:lnTo>
                    <a:pt x="3430" y="6429"/>
                  </a:lnTo>
                  <a:cubicBezTo>
                    <a:pt x="3439" y="6455"/>
                    <a:pt x="3425" y="6470"/>
                    <a:pt x="3407" y="6470"/>
                  </a:cubicBezTo>
                  <a:cubicBezTo>
                    <a:pt x="3397" y="6470"/>
                    <a:pt x="3386" y="6466"/>
                    <a:pt x="3376" y="6456"/>
                  </a:cubicBezTo>
                  <a:lnTo>
                    <a:pt x="1884" y="4156"/>
                  </a:lnTo>
                  <a:cubicBezTo>
                    <a:pt x="1803" y="4035"/>
                    <a:pt x="1749" y="3887"/>
                    <a:pt x="1749" y="3739"/>
                  </a:cubicBezTo>
                  <a:lnTo>
                    <a:pt x="1642" y="780"/>
                  </a:lnTo>
                  <a:cubicBezTo>
                    <a:pt x="1628" y="350"/>
                    <a:pt x="1265" y="0"/>
                    <a:pt x="821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397;p116">
              <a:extLst>
                <a:ext uri="{FF2B5EF4-FFF2-40B4-BE49-F238E27FC236}">
                  <a16:creationId xmlns:a16="http://schemas.microsoft.com/office/drawing/2014/main" id="{F369FAD0-42E0-5AEC-519D-0B5ABD54D98E}"/>
                </a:ext>
              </a:extLst>
            </p:cNvPr>
            <p:cNvSpPr/>
            <p:nvPr/>
          </p:nvSpPr>
          <p:spPr>
            <a:xfrm>
              <a:off x="5410638" y="4137574"/>
              <a:ext cx="67888" cy="147954"/>
            </a:xfrm>
            <a:custGeom>
              <a:avLst/>
              <a:gdLst/>
              <a:ahLst/>
              <a:cxnLst/>
              <a:rect l="l" t="t" r="r" b="b"/>
              <a:pathLst>
                <a:path w="2960" h="6451" extrusionOk="0">
                  <a:moveTo>
                    <a:pt x="498" y="0"/>
                  </a:moveTo>
                  <a:cubicBezTo>
                    <a:pt x="309" y="0"/>
                    <a:pt x="135" y="67"/>
                    <a:pt x="1" y="174"/>
                  </a:cubicBezTo>
                  <a:cubicBezTo>
                    <a:pt x="189" y="309"/>
                    <a:pt x="296" y="538"/>
                    <a:pt x="309" y="780"/>
                  </a:cubicBezTo>
                  <a:lnTo>
                    <a:pt x="417" y="3739"/>
                  </a:lnTo>
                  <a:cubicBezTo>
                    <a:pt x="431" y="3887"/>
                    <a:pt x="471" y="4035"/>
                    <a:pt x="565" y="4156"/>
                  </a:cubicBezTo>
                  <a:lnTo>
                    <a:pt x="1870" y="6133"/>
                  </a:lnTo>
                  <a:cubicBezTo>
                    <a:pt x="2043" y="6379"/>
                    <a:pt x="2260" y="6451"/>
                    <a:pt x="2455" y="6451"/>
                  </a:cubicBezTo>
                  <a:cubicBezTo>
                    <a:pt x="2729" y="6451"/>
                    <a:pt x="2960" y="6308"/>
                    <a:pt x="2960" y="6308"/>
                  </a:cubicBezTo>
                  <a:lnTo>
                    <a:pt x="1561" y="4156"/>
                  </a:lnTo>
                  <a:cubicBezTo>
                    <a:pt x="1480" y="4035"/>
                    <a:pt x="1426" y="3887"/>
                    <a:pt x="1426" y="3739"/>
                  </a:cubicBezTo>
                  <a:lnTo>
                    <a:pt x="1319" y="780"/>
                  </a:lnTo>
                  <a:cubicBezTo>
                    <a:pt x="1305" y="350"/>
                    <a:pt x="942" y="0"/>
                    <a:pt x="498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398;p116">
              <a:extLst>
                <a:ext uri="{FF2B5EF4-FFF2-40B4-BE49-F238E27FC236}">
                  <a16:creationId xmlns:a16="http://schemas.microsoft.com/office/drawing/2014/main" id="{B176950D-F4BE-CA1C-7E04-0CCC820FCCE9}"/>
                </a:ext>
              </a:extLst>
            </p:cNvPr>
            <p:cNvSpPr/>
            <p:nvPr/>
          </p:nvSpPr>
          <p:spPr>
            <a:xfrm>
              <a:off x="5473870" y="4167711"/>
              <a:ext cx="99056" cy="262927"/>
            </a:xfrm>
            <a:custGeom>
              <a:avLst/>
              <a:gdLst/>
              <a:ahLst/>
              <a:cxnLst/>
              <a:rect l="l" t="t" r="r" b="b"/>
              <a:pathLst>
                <a:path w="4319" h="11464" extrusionOk="0">
                  <a:moveTo>
                    <a:pt x="497" y="0"/>
                  </a:moveTo>
                  <a:cubicBezTo>
                    <a:pt x="444" y="0"/>
                    <a:pt x="391" y="6"/>
                    <a:pt x="337" y="17"/>
                  </a:cubicBezTo>
                  <a:cubicBezTo>
                    <a:pt x="203" y="44"/>
                    <a:pt x="95" y="112"/>
                    <a:pt x="0" y="178"/>
                  </a:cubicBezTo>
                  <a:cubicBezTo>
                    <a:pt x="135" y="300"/>
                    <a:pt x="242" y="474"/>
                    <a:pt x="269" y="677"/>
                  </a:cubicBezTo>
                  <a:lnTo>
                    <a:pt x="525" y="2573"/>
                  </a:lnTo>
                  <a:cubicBezTo>
                    <a:pt x="565" y="2868"/>
                    <a:pt x="687" y="3151"/>
                    <a:pt x="861" y="3380"/>
                  </a:cubicBezTo>
                  <a:lnTo>
                    <a:pt x="2394" y="5424"/>
                  </a:lnTo>
                  <a:cubicBezTo>
                    <a:pt x="3323" y="7213"/>
                    <a:pt x="2502" y="9055"/>
                    <a:pt x="2502" y="9055"/>
                  </a:cubicBezTo>
                  <a:lnTo>
                    <a:pt x="2462" y="11464"/>
                  </a:lnTo>
                  <a:lnTo>
                    <a:pt x="3458" y="11464"/>
                  </a:lnTo>
                  <a:lnTo>
                    <a:pt x="3497" y="9055"/>
                  </a:lnTo>
                  <a:cubicBezTo>
                    <a:pt x="3497" y="9055"/>
                    <a:pt x="4318" y="7213"/>
                    <a:pt x="3404" y="5424"/>
                  </a:cubicBezTo>
                  <a:lnTo>
                    <a:pt x="1856" y="3380"/>
                  </a:lnTo>
                  <a:cubicBezTo>
                    <a:pt x="1682" y="3151"/>
                    <a:pt x="1575" y="2868"/>
                    <a:pt x="1534" y="2573"/>
                  </a:cubicBezTo>
                  <a:lnTo>
                    <a:pt x="1279" y="677"/>
                  </a:lnTo>
                  <a:cubicBezTo>
                    <a:pt x="1219" y="286"/>
                    <a:pt x="879" y="0"/>
                    <a:pt x="497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399;p116">
              <a:extLst>
                <a:ext uri="{FF2B5EF4-FFF2-40B4-BE49-F238E27FC236}">
                  <a16:creationId xmlns:a16="http://schemas.microsoft.com/office/drawing/2014/main" id="{92208299-7F16-B30B-2E3C-60F93A875C38}"/>
                </a:ext>
              </a:extLst>
            </p:cNvPr>
            <p:cNvSpPr/>
            <p:nvPr/>
          </p:nvSpPr>
          <p:spPr>
            <a:xfrm>
              <a:off x="5615149" y="4137574"/>
              <a:ext cx="169696" cy="293063"/>
            </a:xfrm>
            <a:custGeom>
              <a:avLst/>
              <a:gdLst/>
              <a:ahLst/>
              <a:cxnLst/>
              <a:rect l="l" t="t" r="r" b="b"/>
              <a:pathLst>
                <a:path w="7399" h="12778" extrusionOk="0">
                  <a:moveTo>
                    <a:pt x="6578" y="0"/>
                  </a:moveTo>
                  <a:cubicBezTo>
                    <a:pt x="6134" y="0"/>
                    <a:pt x="5784" y="350"/>
                    <a:pt x="5757" y="780"/>
                  </a:cubicBezTo>
                  <a:lnTo>
                    <a:pt x="5650" y="3739"/>
                  </a:lnTo>
                  <a:cubicBezTo>
                    <a:pt x="5650" y="3887"/>
                    <a:pt x="5596" y="4035"/>
                    <a:pt x="5515" y="4156"/>
                  </a:cubicBezTo>
                  <a:lnTo>
                    <a:pt x="4023" y="6456"/>
                  </a:lnTo>
                  <a:cubicBezTo>
                    <a:pt x="4018" y="6466"/>
                    <a:pt x="4008" y="6470"/>
                    <a:pt x="3998" y="6470"/>
                  </a:cubicBezTo>
                  <a:cubicBezTo>
                    <a:pt x="3979" y="6470"/>
                    <a:pt x="3960" y="6455"/>
                    <a:pt x="3969" y="6429"/>
                  </a:cubicBezTo>
                  <a:lnTo>
                    <a:pt x="4426" y="4600"/>
                  </a:lnTo>
                  <a:lnTo>
                    <a:pt x="4600" y="2152"/>
                  </a:lnTo>
                  <a:cubicBezTo>
                    <a:pt x="4627" y="1761"/>
                    <a:pt x="4372" y="1412"/>
                    <a:pt x="3996" y="1331"/>
                  </a:cubicBezTo>
                  <a:cubicBezTo>
                    <a:pt x="3940" y="1320"/>
                    <a:pt x="3885" y="1314"/>
                    <a:pt x="3831" y="1314"/>
                  </a:cubicBezTo>
                  <a:cubicBezTo>
                    <a:pt x="3440" y="1314"/>
                    <a:pt x="3101" y="1600"/>
                    <a:pt x="3054" y="1991"/>
                  </a:cubicBezTo>
                  <a:lnTo>
                    <a:pt x="2798" y="3887"/>
                  </a:lnTo>
                  <a:cubicBezTo>
                    <a:pt x="2758" y="4182"/>
                    <a:pt x="2637" y="4465"/>
                    <a:pt x="2462" y="4694"/>
                  </a:cubicBezTo>
                  <a:lnTo>
                    <a:pt x="915" y="6738"/>
                  </a:lnTo>
                  <a:cubicBezTo>
                    <a:pt x="0" y="8527"/>
                    <a:pt x="821" y="10369"/>
                    <a:pt x="821" y="10369"/>
                  </a:cubicBezTo>
                  <a:lnTo>
                    <a:pt x="861" y="12778"/>
                  </a:lnTo>
                  <a:lnTo>
                    <a:pt x="4776" y="12778"/>
                  </a:lnTo>
                  <a:lnTo>
                    <a:pt x="4762" y="10599"/>
                  </a:lnTo>
                  <a:cubicBezTo>
                    <a:pt x="4749" y="10450"/>
                    <a:pt x="4789" y="10303"/>
                    <a:pt x="4843" y="10168"/>
                  </a:cubicBezTo>
                  <a:lnTo>
                    <a:pt x="7129" y="5003"/>
                  </a:lnTo>
                  <a:cubicBezTo>
                    <a:pt x="7251" y="4708"/>
                    <a:pt x="7317" y="4398"/>
                    <a:pt x="7331" y="4075"/>
                  </a:cubicBezTo>
                  <a:lnTo>
                    <a:pt x="7385" y="834"/>
                  </a:lnTo>
                  <a:cubicBezTo>
                    <a:pt x="7398" y="377"/>
                    <a:pt x="7035" y="0"/>
                    <a:pt x="6578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400;p116">
              <a:extLst>
                <a:ext uri="{FF2B5EF4-FFF2-40B4-BE49-F238E27FC236}">
                  <a16:creationId xmlns:a16="http://schemas.microsoft.com/office/drawing/2014/main" id="{E8CDEF7F-6397-6A4B-C891-CA63BCCA2048}"/>
                </a:ext>
              </a:extLst>
            </p:cNvPr>
            <p:cNvSpPr/>
            <p:nvPr/>
          </p:nvSpPr>
          <p:spPr>
            <a:xfrm>
              <a:off x="5701224" y="4137574"/>
              <a:ext cx="83621" cy="293063"/>
            </a:xfrm>
            <a:custGeom>
              <a:avLst/>
              <a:gdLst/>
              <a:ahLst/>
              <a:cxnLst/>
              <a:rect l="l" t="t" r="r" b="b"/>
              <a:pathLst>
                <a:path w="3646" h="12778" extrusionOk="0">
                  <a:moveTo>
                    <a:pt x="2825" y="0"/>
                  </a:moveTo>
                  <a:cubicBezTo>
                    <a:pt x="2637" y="0"/>
                    <a:pt x="2461" y="67"/>
                    <a:pt x="2327" y="174"/>
                  </a:cubicBezTo>
                  <a:cubicBezTo>
                    <a:pt x="2515" y="323"/>
                    <a:pt x="2637" y="565"/>
                    <a:pt x="2637" y="834"/>
                  </a:cubicBezTo>
                  <a:lnTo>
                    <a:pt x="2569" y="4075"/>
                  </a:lnTo>
                  <a:cubicBezTo>
                    <a:pt x="2569" y="4398"/>
                    <a:pt x="2502" y="4708"/>
                    <a:pt x="2368" y="5003"/>
                  </a:cubicBezTo>
                  <a:lnTo>
                    <a:pt x="81" y="10168"/>
                  </a:lnTo>
                  <a:cubicBezTo>
                    <a:pt x="27" y="10303"/>
                    <a:pt x="1" y="10450"/>
                    <a:pt x="1" y="10599"/>
                  </a:cubicBezTo>
                  <a:lnTo>
                    <a:pt x="13" y="12778"/>
                  </a:lnTo>
                  <a:lnTo>
                    <a:pt x="1023" y="12778"/>
                  </a:lnTo>
                  <a:lnTo>
                    <a:pt x="1009" y="10599"/>
                  </a:lnTo>
                  <a:cubicBezTo>
                    <a:pt x="996" y="10450"/>
                    <a:pt x="1036" y="10303"/>
                    <a:pt x="1090" y="10168"/>
                  </a:cubicBezTo>
                  <a:lnTo>
                    <a:pt x="3376" y="5003"/>
                  </a:lnTo>
                  <a:cubicBezTo>
                    <a:pt x="3498" y="4708"/>
                    <a:pt x="3564" y="4398"/>
                    <a:pt x="3578" y="4075"/>
                  </a:cubicBezTo>
                  <a:lnTo>
                    <a:pt x="3632" y="834"/>
                  </a:lnTo>
                  <a:cubicBezTo>
                    <a:pt x="3645" y="377"/>
                    <a:pt x="3282" y="0"/>
                    <a:pt x="2825" y="0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401;p116">
              <a:extLst>
                <a:ext uri="{FF2B5EF4-FFF2-40B4-BE49-F238E27FC236}">
                  <a16:creationId xmlns:a16="http://schemas.microsoft.com/office/drawing/2014/main" id="{52B40E9F-1AD5-156B-CC2C-CD9AFC50B800}"/>
                </a:ext>
              </a:extLst>
            </p:cNvPr>
            <p:cNvSpPr/>
            <p:nvPr/>
          </p:nvSpPr>
          <p:spPr>
            <a:xfrm>
              <a:off x="5689803" y="4167665"/>
              <a:ext cx="31490" cy="111831"/>
            </a:xfrm>
            <a:custGeom>
              <a:avLst/>
              <a:gdLst/>
              <a:ahLst/>
              <a:cxnLst/>
              <a:rect l="l" t="t" r="r" b="b"/>
              <a:pathLst>
                <a:path w="1373" h="4876" extrusionOk="0">
                  <a:moveTo>
                    <a:pt x="567" y="1"/>
                  </a:moveTo>
                  <a:cubicBezTo>
                    <a:pt x="377" y="1"/>
                    <a:pt x="202" y="67"/>
                    <a:pt x="68" y="180"/>
                  </a:cubicBezTo>
                  <a:cubicBezTo>
                    <a:pt x="256" y="342"/>
                    <a:pt x="364" y="584"/>
                    <a:pt x="350" y="840"/>
                  </a:cubicBezTo>
                  <a:lnTo>
                    <a:pt x="162" y="3288"/>
                  </a:lnTo>
                  <a:cubicBezTo>
                    <a:pt x="162" y="3288"/>
                    <a:pt x="0" y="4000"/>
                    <a:pt x="176" y="4391"/>
                  </a:cubicBezTo>
                  <a:cubicBezTo>
                    <a:pt x="296" y="4687"/>
                    <a:pt x="606" y="4821"/>
                    <a:pt x="780" y="4875"/>
                  </a:cubicBezTo>
                  <a:lnTo>
                    <a:pt x="1171" y="3288"/>
                  </a:lnTo>
                  <a:lnTo>
                    <a:pt x="1345" y="840"/>
                  </a:lnTo>
                  <a:cubicBezTo>
                    <a:pt x="1372" y="449"/>
                    <a:pt x="1117" y="100"/>
                    <a:pt x="741" y="19"/>
                  </a:cubicBezTo>
                  <a:cubicBezTo>
                    <a:pt x="682" y="7"/>
                    <a:pt x="623" y="1"/>
                    <a:pt x="567" y="1"/>
                  </a:cubicBezTo>
                  <a:close/>
                </a:path>
              </a:pathLst>
            </a:custGeom>
            <a:solidFill>
              <a:srgbClr val="FFD0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402;p116">
              <a:extLst>
                <a:ext uri="{FF2B5EF4-FFF2-40B4-BE49-F238E27FC236}">
                  <a16:creationId xmlns:a16="http://schemas.microsoft.com/office/drawing/2014/main" id="{79CF36B8-9D2D-CAE2-BCF6-61CD72361B76}"/>
                </a:ext>
              </a:extLst>
            </p:cNvPr>
            <p:cNvSpPr/>
            <p:nvPr/>
          </p:nvSpPr>
          <p:spPr>
            <a:xfrm>
              <a:off x="5397680" y="4043472"/>
              <a:ext cx="393037" cy="393014"/>
            </a:xfrm>
            <a:custGeom>
              <a:avLst/>
              <a:gdLst/>
              <a:ahLst/>
              <a:cxnLst/>
              <a:rect l="l" t="t" r="r" b="b"/>
              <a:pathLst>
                <a:path w="17137" h="17136" extrusionOk="0">
                  <a:moveTo>
                    <a:pt x="10697" y="517"/>
                  </a:moveTo>
                  <a:cubicBezTo>
                    <a:pt x="11408" y="517"/>
                    <a:pt x="12108" y="752"/>
                    <a:pt x="12630" y="1252"/>
                  </a:cubicBezTo>
                  <a:lnTo>
                    <a:pt x="4493" y="1252"/>
                  </a:lnTo>
                  <a:cubicBezTo>
                    <a:pt x="5015" y="752"/>
                    <a:pt x="5719" y="517"/>
                    <a:pt x="6431" y="517"/>
                  </a:cubicBezTo>
                  <a:cubicBezTo>
                    <a:pt x="7003" y="517"/>
                    <a:pt x="7579" y="668"/>
                    <a:pt x="8071" y="956"/>
                  </a:cubicBezTo>
                  <a:cubicBezTo>
                    <a:pt x="8225" y="1043"/>
                    <a:pt x="8393" y="1086"/>
                    <a:pt x="8561" y="1086"/>
                  </a:cubicBezTo>
                  <a:cubicBezTo>
                    <a:pt x="8730" y="1086"/>
                    <a:pt x="8898" y="1043"/>
                    <a:pt x="9052" y="956"/>
                  </a:cubicBezTo>
                  <a:cubicBezTo>
                    <a:pt x="9550" y="668"/>
                    <a:pt x="10127" y="517"/>
                    <a:pt x="10697" y="517"/>
                  </a:cubicBezTo>
                  <a:close/>
                  <a:moveTo>
                    <a:pt x="13087" y="1749"/>
                  </a:moveTo>
                  <a:cubicBezTo>
                    <a:pt x="13370" y="2139"/>
                    <a:pt x="13571" y="2597"/>
                    <a:pt x="13679" y="3108"/>
                  </a:cubicBezTo>
                  <a:lnTo>
                    <a:pt x="6416" y="3108"/>
                  </a:lnTo>
                  <a:cubicBezTo>
                    <a:pt x="6281" y="3108"/>
                    <a:pt x="6161" y="3215"/>
                    <a:pt x="6161" y="3350"/>
                  </a:cubicBezTo>
                  <a:cubicBezTo>
                    <a:pt x="6161" y="3497"/>
                    <a:pt x="6281" y="3605"/>
                    <a:pt x="6416" y="3605"/>
                  </a:cubicBezTo>
                  <a:lnTo>
                    <a:pt x="13747" y="3605"/>
                  </a:lnTo>
                  <a:cubicBezTo>
                    <a:pt x="13786" y="4062"/>
                    <a:pt x="13747" y="4507"/>
                    <a:pt x="13625" y="4964"/>
                  </a:cubicBezTo>
                  <a:lnTo>
                    <a:pt x="3498" y="4964"/>
                  </a:lnTo>
                  <a:cubicBezTo>
                    <a:pt x="3376" y="4507"/>
                    <a:pt x="3336" y="4062"/>
                    <a:pt x="3376" y="3605"/>
                  </a:cubicBezTo>
                  <a:lnTo>
                    <a:pt x="5219" y="3605"/>
                  </a:lnTo>
                  <a:cubicBezTo>
                    <a:pt x="5354" y="3605"/>
                    <a:pt x="5474" y="3497"/>
                    <a:pt x="5474" y="3350"/>
                  </a:cubicBezTo>
                  <a:cubicBezTo>
                    <a:pt x="5474" y="3215"/>
                    <a:pt x="5354" y="3108"/>
                    <a:pt x="5219" y="3108"/>
                  </a:cubicBezTo>
                  <a:lnTo>
                    <a:pt x="3444" y="3108"/>
                  </a:lnTo>
                  <a:cubicBezTo>
                    <a:pt x="3552" y="2597"/>
                    <a:pt x="3767" y="2139"/>
                    <a:pt x="4036" y="1749"/>
                  </a:cubicBezTo>
                  <a:close/>
                  <a:moveTo>
                    <a:pt x="12590" y="5461"/>
                  </a:moveTo>
                  <a:cubicBezTo>
                    <a:pt x="12429" y="5622"/>
                    <a:pt x="12307" y="5838"/>
                    <a:pt x="12280" y="6067"/>
                  </a:cubicBezTo>
                  <a:lnTo>
                    <a:pt x="12186" y="6820"/>
                  </a:lnTo>
                  <a:lnTo>
                    <a:pt x="4950" y="6820"/>
                  </a:lnTo>
                  <a:lnTo>
                    <a:pt x="4843" y="6067"/>
                  </a:lnTo>
                  <a:cubicBezTo>
                    <a:pt x="4816" y="5838"/>
                    <a:pt x="4708" y="5622"/>
                    <a:pt x="4533" y="5461"/>
                  </a:cubicBezTo>
                  <a:close/>
                  <a:moveTo>
                    <a:pt x="12119" y="7317"/>
                  </a:moveTo>
                  <a:lnTo>
                    <a:pt x="12079" y="7573"/>
                  </a:lnTo>
                  <a:cubicBezTo>
                    <a:pt x="11715" y="7950"/>
                    <a:pt x="11285" y="8312"/>
                    <a:pt x="10801" y="8676"/>
                  </a:cubicBezTo>
                  <a:lnTo>
                    <a:pt x="6322" y="8676"/>
                  </a:lnTo>
                  <a:cubicBezTo>
                    <a:pt x="5838" y="8312"/>
                    <a:pt x="5421" y="7950"/>
                    <a:pt x="5044" y="7573"/>
                  </a:cubicBezTo>
                  <a:lnTo>
                    <a:pt x="5017" y="7317"/>
                  </a:lnTo>
                  <a:close/>
                  <a:moveTo>
                    <a:pt x="10061" y="9173"/>
                  </a:moveTo>
                  <a:cubicBezTo>
                    <a:pt x="9712" y="9388"/>
                    <a:pt x="9348" y="9604"/>
                    <a:pt x="8944" y="9819"/>
                  </a:cubicBezTo>
                  <a:cubicBezTo>
                    <a:pt x="8833" y="9878"/>
                    <a:pt x="8706" y="9908"/>
                    <a:pt x="8577" y="9908"/>
                  </a:cubicBezTo>
                  <a:cubicBezTo>
                    <a:pt x="8441" y="9908"/>
                    <a:pt x="8302" y="9875"/>
                    <a:pt x="8178" y="9806"/>
                  </a:cubicBezTo>
                  <a:cubicBezTo>
                    <a:pt x="7788" y="9604"/>
                    <a:pt x="7411" y="9388"/>
                    <a:pt x="7061" y="9173"/>
                  </a:cubicBezTo>
                  <a:close/>
                  <a:moveTo>
                    <a:pt x="1061" y="4351"/>
                  </a:moveTo>
                  <a:cubicBezTo>
                    <a:pt x="1345" y="4351"/>
                    <a:pt x="1619" y="4564"/>
                    <a:pt x="1628" y="4896"/>
                  </a:cubicBezTo>
                  <a:lnTo>
                    <a:pt x="1735" y="7842"/>
                  </a:lnTo>
                  <a:cubicBezTo>
                    <a:pt x="1749" y="8043"/>
                    <a:pt x="1816" y="8232"/>
                    <a:pt x="1924" y="8407"/>
                  </a:cubicBezTo>
                  <a:lnTo>
                    <a:pt x="3403" y="10694"/>
                  </a:lnTo>
                  <a:cubicBezTo>
                    <a:pt x="3463" y="10786"/>
                    <a:pt x="3552" y="10826"/>
                    <a:pt x="3640" y="10826"/>
                  </a:cubicBezTo>
                  <a:cubicBezTo>
                    <a:pt x="3806" y="10826"/>
                    <a:pt x="3967" y="10681"/>
                    <a:pt x="3914" y="10478"/>
                  </a:cubicBezTo>
                  <a:lnTo>
                    <a:pt x="3471" y="8662"/>
                  </a:lnTo>
                  <a:lnTo>
                    <a:pt x="3295" y="6241"/>
                  </a:lnTo>
                  <a:cubicBezTo>
                    <a:pt x="3266" y="5915"/>
                    <a:pt x="3535" y="5668"/>
                    <a:pt x="3824" y="5668"/>
                  </a:cubicBezTo>
                  <a:cubicBezTo>
                    <a:pt x="3928" y="5668"/>
                    <a:pt x="4034" y="5700"/>
                    <a:pt x="4129" y="5771"/>
                  </a:cubicBezTo>
                  <a:cubicBezTo>
                    <a:pt x="4251" y="5852"/>
                    <a:pt x="4332" y="5986"/>
                    <a:pt x="4345" y="6133"/>
                  </a:cubicBezTo>
                  <a:lnTo>
                    <a:pt x="4601" y="8030"/>
                  </a:lnTo>
                  <a:cubicBezTo>
                    <a:pt x="4654" y="8366"/>
                    <a:pt x="4775" y="8676"/>
                    <a:pt x="4990" y="8958"/>
                  </a:cubicBezTo>
                  <a:lnTo>
                    <a:pt x="6511" y="10975"/>
                  </a:lnTo>
                  <a:cubicBezTo>
                    <a:pt x="7344" y="12630"/>
                    <a:pt x="6604" y="14352"/>
                    <a:pt x="6591" y="14379"/>
                  </a:cubicBezTo>
                  <a:cubicBezTo>
                    <a:pt x="6577" y="14406"/>
                    <a:pt x="6577" y="14433"/>
                    <a:pt x="6577" y="14472"/>
                  </a:cubicBezTo>
                  <a:lnTo>
                    <a:pt x="6537" y="16624"/>
                  </a:lnTo>
                  <a:lnTo>
                    <a:pt x="3121" y="16624"/>
                  </a:lnTo>
                  <a:lnTo>
                    <a:pt x="3134" y="14702"/>
                  </a:lnTo>
                  <a:cubicBezTo>
                    <a:pt x="3134" y="14513"/>
                    <a:pt x="3107" y="14338"/>
                    <a:pt x="3026" y="14177"/>
                  </a:cubicBezTo>
                  <a:lnTo>
                    <a:pt x="754" y="9012"/>
                  </a:lnTo>
                  <a:cubicBezTo>
                    <a:pt x="632" y="8743"/>
                    <a:pt x="579" y="8461"/>
                    <a:pt x="566" y="8178"/>
                  </a:cubicBezTo>
                  <a:lnTo>
                    <a:pt x="498" y="4923"/>
                  </a:lnTo>
                  <a:cubicBezTo>
                    <a:pt x="498" y="4776"/>
                    <a:pt x="552" y="4627"/>
                    <a:pt x="659" y="4519"/>
                  </a:cubicBezTo>
                  <a:cubicBezTo>
                    <a:pt x="775" y="4404"/>
                    <a:pt x="919" y="4351"/>
                    <a:pt x="1061" y="4351"/>
                  </a:cubicBezTo>
                  <a:close/>
                  <a:moveTo>
                    <a:pt x="6425" y="0"/>
                  </a:moveTo>
                  <a:cubicBezTo>
                    <a:pt x="3976" y="0"/>
                    <a:pt x="2161" y="2655"/>
                    <a:pt x="3121" y="5448"/>
                  </a:cubicBezTo>
                  <a:cubicBezTo>
                    <a:pt x="2892" y="5649"/>
                    <a:pt x="2771" y="5959"/>
                    <a:pt x="2784" y="6282"/>
                  </a:cubicBezTo>
                  <a:lnTo>
                    <a:pt x="2973" y="8716"/>
                  </a:lnTo>
                  <a:lnTo>
                    <a:pt x="2973" y="8757"/>
                  </a:lnTo>
                  <a:lnTo>
                    <a:pt x="3121" y="9335"/>
                  </a:lnTo>
                  <a:lnTo>
                    <a:pt x="2341" y="8124"/>
                  </a:lnTo>
                  <a:cubicBezTo>
                    <a:pt x="2273" y="8043"/>
                    <a:pt x="2246" y="7936"/>
                    <a:pt x="2246" y="7828"/>
                  </a:cubicBezTo>
                  <a:lnTo>
                    <a:pt x="2126" y="4869"/>
                  </a:lnTo>
                  <a:cubicBezTo>
                    <a:pt x="2116" y="4256"/>
                    <a:pt x="1588" y="3855"/>
                    <a:pt x="1050" y="3855"/>
                  </a:cubicBezTo>
                  <a:cubicBezTo>
                    <a:pt x="786" y="3855"/>
                    <a:pt x="518" y="3952"/>
                    <a:pt x="310" y="4170"/>
                  </a:cubicBezTo>
                  <a:cubicBezTo>
                    <a:pt x="108" y="4372"/>
                    <a:pt x="1" y="4641"/>
                    <a:pt x="1" y="4937"/>
                  </a:cubicBezTo>
                  <a:lnTo>
                    <a:pt x="67" y="8178"/>
                  </a:lnTo>
                  <a:cubicBezTo>
                    <a:pt x="67" y="8542"/>
                    <a:pt x="148" y="8877"/>
                    <a:pt x="297" y="9214"/>
                  </a:cubicBezTo>
                  <a:lnTo>
                    <a:pt x="2569" y="14379"/>
                  </a:lnTo>
                  <a:cubicBezTo>
                    <a:pt x="2610" y="14472"/>
                    <a:pt x="2637" y="14580"/>
                    <a:pt x="2637" y="14688"/>
                  </a:cubicBezTo>
                  <a:lnTo>
                    <a:pt x="2623" y="16881"/>
                  </a:lnTo>
                  <a:cubicBezTo>
                    <a:pt x="2610" y="16947"/>
                    <a:pt x="2637" y="17015"/>
                    <a:pt x="2691" y="17055"/>
                  </a:cubicBezTo>
                  <a:cubicBezTo>
                    <a:pt x="2731" y="17109"/>
                    <a:pt x="2798" y="17136"/>
                    <a:pt x="2865" y="17136"/>
                  </a:cubicBezTo>
                  <a:lnTo>
                    <a:pt x="6780" y="17136"/>
                  </a:lnTo>
                  <a:cubicBezTo>
                    <a:pt x="6914" y="17136"/>
                    <a:pt x="7035" y="17015"/>
                    <a:pt x="7035" y="16881"/>
                  </a:cubicBezTo>
                  <a:lnTo>
                    <a:pt x="7075" y="14526"/>
                  </a:lnTo>
                  <a:cubicBezTo>
                    <a:pt x="7210" y="14230"/>
                    <a:pt x="7842" y="12388"/>
                    <a:pt x="6927" y="10694"/>
                  </a:cubicBezTo>
                  <a:cubicBezTo>
                    <a:pt x="6887" y="10626"/>
                    <a:pt x="5232" y="8474"/>
                    <a:pt x="5273" y="8474"/>
                  </a:cubicBezTo>
                  <a:lnTo>
                    <a:pt x="5273" y="8474"/>
                  </a:lnTo>
                  <a:cubicBezTo>
                    <a:pt x="6012" y="9119"/>
                    <a:pt x="6900" y="9711"/>
                    <a:pt x="7949" y="10263"/>
                  </a:cubicBezTo>
                  <a:cubicBezTo>
                    <a:pt x="8137" y="10357"/>
                    <a:pt x="8353" y="10411"/>
                    <a:pt x="8568" y="10411"/>
                  </a:cubicBezTo>
                  <a:cubicBezTo>
                    <a:pt x="8783" y="10411"/>
                    <a:pt x="8985" y="10357"/>
                    <a:pt x="9187" y="10263"/>
                  </a:cubicBezTo>
                  <a:cubicBezTo>
                    <a:pt x="10223" y="9711"/>
                    <a:pt x="11123" y="9119"/>
                    <a:pt x="11850" y="8474"/>
                  </a:cubicBezTo>
                  <a:cubicBezTo>
                    <a:pt x="11850" y="8474"/>
                    <a:pt x="11850" y="8474"/>
                    <a:pt x="11850" y="8474"/>
                  </a:cubicBezTo>
                  <a:lnTo>
                    <a:pt x="11850" y="8474"/>
                  </a:lnTo>
                  <a:cubicBezTo>
                    <a:pt x="11894" y="8474"/>
                    <a:pt x="10236" y="10640"/>
                    <a:pt x="10209" y="10694"/>
                  </a:cubicBezTo>
                  <a:cubicBezTo>
                    <a:pt x="9281" y="12388"/>
                    <a:pt x="9913" y="14230"/>
                    <a:pt x="10047" y="14526"/>
                  </a:cubicBezTo>
                  <a:lnTo>
                    <a:pt x="10101" y="16881"/>
                  </a:lnTo>
                  <a:cubicBezTo>
                    <a:pt x="10101" y="17015"/>
                    <a:pt x="10209" y="17136"/>
                    <a:pt x="10343" y="17136"/>
                  </a:cubicBezTo>
                  <a:lnTo>
                    <a:pt x="14258" y="17136"/>
                  </a:lnTo>
                  <a:cubicBezTo>
                    <a:pt x="14392" y="17136"/>
                    <a:pt x="14513" y="17015"/>
                    <a:pt x="14513" y="16881"/>
                  </a:cubicBezTo>
                  <a:lnTo>
                    <a:pt x="14486" y="14702"/>
                  </a:lnTo>
                  <a:cubicBezTo>
                    <a:pt x="14486" y="14580"/>
                    <a:pt x="14513" y="14472"/>
                    <a:pt x="14554" y="14379"/>
                  </a:cubicBezTo>
                  <a:lnTo>
                    <a:pt x="14970" y="13450"/>
                  </a:lnTo>
                  <a:cubicBezTo>
                    <a:pt x="15049" y="13250"/>
                    <a:pt x="14890" y="13101"/>
                    <a:pt x="14728" y="13101"/>
                  </a:cubicBezTo>
                  <a:cubicBezTo>
                    <a:pt x="14641" y="13101"/>
                    <a:pt x="14552" y="13145"/>
                    <a:pt x="14500" y="13249"/>
                  </a:cubicBezTo>
                  <a:lnTo>
                    <a:pt x="14096" y="14177"/>
                  </a:lnTo>
                  <a:cubicBezTo>
                    <a:pt x="14029" y="14338"/>
                    <a:pt x="13989" y="14513"/>
                    <a:pt x="13989" y="14702"/>
                  </a:cubicBezTo>
                  <a:lnTo>
                    <a:pt x="14002" y="16624"/>
                  </a:lnTo>
                  <a:lnTo>
                    <a:pt x="10585" y="16624"/>
                  </a:lnTo>
                  <a:lnTo>
                    <a:pt x="10558" y="14472"/>
                  </a:lnTo>
                  <a:cubicBezTo>
                    <a:pt x="10546" y="14325"/>
                    <a:pt x="9751" y="12738"/>
                    <a:pt x="10612" y="10975"/>
                  </a:cubicBezTo>
                  <a:lnTo>
                    <a:pt x="12146" y="8958"/>
                  </a:lnTo>
                  <a:cubicBezTo>
                    <a:pt x="12348" y="8676"/>
                    <a:pt x="12482" y="8366"/>
                    <a:pt x="12522" y="8030"/>
                  </a:cubicBezTo>
                  <a:lnTo>
                    <a:pt x="12778" y="6133"/>
                  </a:lnTo>
                  <a:cubicBezTo>
                    <a:pt x="12813" y="5863"/>
                    <a:pt x="13056" y="5664"/>
                    <a:pt x="13314" y="5664"/>
                  </a:cubicBezTo>
                  <a:cubicBezTo>
                    <a:pt x="13351" y="5664"/>
                    <a:pt x="13387" y="5668"/>
                    <a:pt x="13424" y="5676"/>
                  </a:cubicBezTo>
                  <a:cubicBezTo>
                    <a:pt x="13679" y="5744"/>
                    <a:pt x="13854" y="5972"/>
                    <a:pt x="13840" y="6241"/>
                  </a:cubicBezTo>
                  <a:lnTo>
                    <a:pt x="13652" y="8662"/>
                  </a:lnTo>
                  <a:lnTo>
                    <a:pt x="13209" y="10478"/>
                  </a:lnTo>
                  <a:cubicBezTo>
                    <a:pt x="13168" y="10613"/>
                    <a:pt x="13248" y="10747"/>
                    <a:pt x="13370" y="10801"/>
                  </a:cubicBezTo>
                  <a:cubicBezTo>
                    <a:pt x="13405" y="10817"/>
                    <a:pt x="13443" y="10824"/>
                    <a:pt x="13480" y="10824"/>
                  </a:cubicBezTo>
                  <a:cubicBezTo>
                    <a:pt x="13571" y="10824"/>
                    <a:pt x="13663" y="10779"/>
                    <a:pt x="13720" y="10694"/>
                  </a:cubicBezTo>
                  <a:lnTo>
                    <a:pt x="15212" y="8407"/>
                  </a:lnTo>
                  <a:cubicBezTo>
                    <a:pt x="15320" y="8232"/>
                    <a:pt x="15374" y="8043"/>
                    <a:pt x="15388" y="7842"/>
                  </a:cubicBezTo>
                  <a:lnTo>
                    <a:pt x="15495" y="4896"/>
                  </a:lnTo>
                  <a:cubicBezTo>
                    <a:pt x="15504" y="4564"/>
                    <a:pt x="15783" y="4351"/>
                    <a:pt x="16068" y="4351"/>
                  </a:cubicBezTo>
                  <a:cubicBezTo>
                    <a:pt x="16209" y="4351"/>
                    <a:pt x="16352" y="4404"/>
                    <a:pt x="16464" y="4519"/>
                  </a:cubicBezTo>
                  <a:cubicBezTo>
                    <a:pt x="16571" y="4627"/>
                    <a:pt x="16625" y="4776"/>
                    <a:pt x="16625" y="4923"/>
                  </a:cubicBezTo>
                  <a:lnTo>
                    <a:pt x="16557" y="8178"/>
                  </a:lnTo>
                  <a:cubicBezTo>
                    <a:pt x="16557" y="8461"/>
                    <a:pt x="16491" y="8743"/>
                    <a:pt x="16383" y="9012"/>
                  </a:cubicBezTo>
                  <a:lnTo>
                    <a:pt x="14970" y="12173"/>
                  </a:lnTo>
                  <a:cubicBezTo>
                    <a:pt x="14892" y="12373"/>
                    <a:pt x="15051" y="12529"/>
                    <a:pt x="15213" y="12529"/>
                  </a:cubicBezTo>
                  <a:cubicBezTo>
                    <a:pt x="15301" y="12529"/>
                    <a:pt x="15389" y="12483"/>
                    <a:pt x="15441" y="12374"/>
                  </a:cubicBezTo>
                  <a:lnTo>
                    <a:pt x="16840" y="9214"/>
                  </a:lnTo>
                  <a:cubicBezTo>
                    <a:pt x="16975" y="8877"/>
                    <a:pt x="17055" y="8542"/>
                    <a:pt x="17055" y="8178"/>
                  </a:cubicBezTo>
                  <a:lnTo>
                    <a:pt x="17122" y="4937"/>
                  </a:lnTo>
                  <a:cubicBezTo>
                    <a:pt x="17136" y="4641"/>
                    <a:pt x="17029" y="4372"/>
                    <a:pt x="16826" y="4170"/>
                  </a:cubicBezTo>
                  <a:cubicBezTo>
                    <a:pt x="16613" y="3952"/>
                    <a:pt x="16344" y="3855"/>
                    <a:pt x="16079" y="3855"/>
                  </a:cubicBezTo>
                  <a:cubicBezTo>
                    <a:pt x="15540" y="3855"/>
                    <a:pt x="15015" y="4256"/>
                    <a:pt x="14997" y="4869"/>
                  </a:cubicBezTo>
                  <a:lnTo>
                    <a:pt x="14889" y="7828"/>
                  </a:lnTo>
                  <a:cubicBezTo>
                    <a:pt x="14876" y="7936"/>
                    <a:pt x="14850" y="8043"/>
                    <a:pt x="14782" y="8124"/>
                  </a:cubicBezTo>
                  <a:lnTo>
                    <a:pt x="14002" y="9335"/>
                  </a:lnTo>
                  <a:lnTo>
                    <a:pt x="14150" y="8757"/>
                  </a:lnTo>
                  <a:lnTo>
                    <a:pt x="14150" y="8716"/>
                  </a:lnTo>
                  <a:lnTo>
                    <a:pt x="14338" y="6282"/>
                  </a:lnTo>
                  <a:cubicBezTo>
                    <a:pt x="14365" y="5959"/>
                    <a:pt x="14231" y="5649"/>
                    <a:pt x="14002" y="5448"/>
                  </a:cubicBezTo>
                  <a:cubicBezTo>
                    <a:pt x="14972" y="2655"/>
                    <a:pt x="13151" y="0"/>
                    <a:pt x="10705" y="0"/>
                  </a:cubicBezTo>
                  <a:cubicBezTo>
                    <a:pt x="10101" y="0"/>
                    <a:pt x="9458" y="163"/>
                    <a:pt x="8810" y="525"/>
                  </a:cubicBezTo>
                  <a:cubicBezTo>
                    <a:pt x="8729" y="566"/>
                    <a:pt x="8645" y="586"/>
                    <a:pt x="8563" y="586"/>
                  </a:cubicBezTo>
                  <a:cubicBezTo>
                    <a:pt x="8481" y="586"/>
                    <a:pt x="8400" y="566"/>
                    <a:pt x="8326" y="525"/>
                  </a:cubicBezTo>
                  <a:cubicBezTo>
                    <a:pt x="7675" y="163"/>
                    <a:pt x="7031" y="0"/>
                    <a:pt x="64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6439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5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5" grpId="0" animBg="1"/>
      <p:bldP spid="6546" grpId="0" animBg="1"/>
      <p:bldP spid="6547" grpId="0" build="p"/>
      <p:bldP spid="6548" grpId="0" build="p" animBg="1"/>
      <p:bldP spid="6549" grpId="0" build="p"/>
      <p:bldP spid="6550" grpId="0" animBg="1"/>
      <p:bldP spid="6551" grpId="0" animBg="1"/>
      <p:bldP spid="6552" grpId="0" build="p"/>
      <p:bldP spid="6553" grpId="0" build="p" animBg="1"/>
      <p:bldP spid="6554" grpId="0" build="p"/>
      <p:bldP spid="3" grpId="0" animBg="1"/>
      <p:bldP spid="4" grpId="0" animBg="1"/>
      <p:bldP spid="5" grpId="0"/>
      <p:bldP spid="6" grpId="0" animBg="1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4"/>
          <p:cNvSpPr txBox="1">
            <a:spLocks noGrp="1"/>
          </p:cNvSpPr>
          <p:nvPr>
            <p:ph type="title"/>
          </p:nvPr>
        </p:nvSpPr>
        <p:spPr>
          <a:xfrm>
            <a:off x="2691188" y="2760900"/>
            <a:ext cx="3761574" cy="703500"/>
          </a:xfrm>
          <a:prstGeom prst="rect">
            <a:avLst/>
          </a:prstGeom>
          <a:solidFill>
            <a:srgbClr val="4646E0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the Future</a:t>
            </a:r>
            <a:endParaRPr dirty="0"/>
          </a:p>
        </p:txBody>
      </p:sp>
      <p:sp>
        <p:nvSpPr>
          <p:cNvPr id="711" name="Google Shape;711;p54"/>
          <p:cNvSpPr txBox="1">
            <a:spLocks noGrp="1"/>
          </p:cNvSpPr>
          <p:nvPr>
            <p:ph type="title" idx="2"/>
          </p:nvPr>
        </p:nvSpPr>
        <p:spPr>
          <a:xfrm>
            <a:off x="2883725" y="1025650"/>
            <a:ext cx="3376500" cy="15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712" name="Google Shape;712;p54"/>
          <p:cNvSpPr txBox="1">
            <a:spLocks noGrp="1"/>
          </p:cNvSpPr>
          <p:nvPr>
            <p:ph type="subTitle" idx="1"/>
          </p:nvPr>
        </p:nvSpPr>
        <p:spPr>
          <a:xfrm>
            <a:off x="3132950" y="3650750"/>
            <a:ext cx="28815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63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Bibliography</a:t>
            </a:r>
            <a:endParaRPr dirty="0"/>
          </a:p>
        </p:txBody>
      </p:sp>
      <p:sp>
        <p:nvSpPr>
          <p:cNvPr id="760" name="Google Shape;760;p57"/>
          <p:cNvSpPr txBox="1">
            <a:spLocks noGrp="1"/>
          </p:cNvSpPr>
          <p:nvPr>
            <p:ph type="body" idx="1"/>
          </p:nvPr>
        </p:nvSpPr>
        <p:spPr>
          <a:xfrm>
            <a:off x="720000" y="1279175"/>
            <a:ext cx="7704000" cy="328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</a:rPr>
              <a:t>James, S. E., Herman, J. L., Rankin, S., </a:t>
            </a:r>
            <a:r>
              <a:rPr lang="en-US" dirty="0" err="1">
                <a:solidFill>
                  <a:schemeClr val="lt1"/>
                </a:solidFill>
              </a:rPr>
              <a:t>Keisling</a:t>
            </a:r>
            <a:r>
              <a:rPr lang="en-US" dirty="0">
                <a:solidFill>
                  <a:schemeClr val="lt1"/>
                </a:solidFill>
              </a:rPr>
              <a:t>, M., </a:t>
            </a:r>
            <a:r>
              <a:rPr lang="en-US" dirty="0" err="1">
                <a:solidFill>
                  <a:schemeClr val="lt1"/>
                </a:solidFill>
              </a:rPr>
              <a:t>Mottet</a:t>
            </a:r>
            <a:r>
              <a:rPr lang="en-US" dirty="0">
                <a:solidFill>
                  <a:schemeClr val="lt1"/>
                </a:solidFill>
              </a:rPr>
              <a:t>, L., &amp; Anafi, M. (2016). The Report of the 2015 U.S. Transgender Survey. Washington, DC: National Center for Transgender Equality. </a:t>
            </a:r>
            <a:r>
              <a:rPr lang="en-US" dirty="0">
                <a:solidFill>
                  <a:schemeClr val="lt1"/>
                </a:solidFill>
                <a:hlinkClick r:id="rId3"/>
              </a:rPr>
              <a:t>https://transequality.org/sites/default/files/docs/usts/USTS-Full-Report-Dec17.pdf</a:t>
            </a: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</a:rPr>
              <a:t>Reed, E. (2023, 19 5). May Anti-Trans Legislative Risk Map. Erin in the Morning. </a:t>
            </a:r>
            <a:r>
              <a:rPr lang="en-US" dirty="0">
                <a:solidFill>
                  <a:schemeClr val="lt1"/>
                </a:solidFill>
                <a:hlinkClick r:id="rId4"/>
              </a:rPr>
              <a:t>https://www.erininthemorning.com/p/may-anti-trans-legislative-risk-map</a:t>
            </a:r>
            <a:r>
              <a:rPr lang="en-US" dirty="0">
                <a:solidFill>
                  <a:schemeClr val="lt1"/>
                </a:solidFill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</a:rPr>
              <a:t>PIT and HIC Data Since 2007. (2023). HUD Exchange.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hlinkClick r:id="rId5"/>
              </a:rPr>
              <a:t>https://www.hudexchange.info/resource/3031/pit-and-hic-data-since-2007/</a:t>
            </a:r>
            <a:r>
              <a:rPr lang="en-US" dirty="0">
                <a:solidFill>
                  <a:schemeClr val="l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3594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0" name="Google Shape;3750;p114"/>
          <p:cNvGrpSpPr/>
          <p:nvPr/>
        </p:nvGrpSpPr>
        <p:grpSpPr>
          <a:xfrm flipH="1">
            <a:off x="-907" y="845800"/>
            <a:ext cx="4666845" cy="804900"/>
            <a:chOff x="963726" y="1581150"/>
            <a:chExt cx="8180272" cy="804900"/>
          </a:xfrm>
        </p:grpSpPr>
        <p:sp>
          <p:nvSpPr>
            <p:cNvPr id="3751" name="Google Shape;3751;p114"/>
            <p:cNvSpPr/>
            <p:nvPr/>
          </p:nvSpPr>
          <p:spPr>
            <a:xfrm>
              <a:off x="963726" y="1581150"/>
              <a:ext cx="6913200" cy="8049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114"/>
            <p:cNvSpPr/>
            <p:nvPr/>
          </p:nvSpPr>
          <p:spPr>
            <a:xfrm>
              <a:off x="7876850" y="1581150"/>
              <a:ext cx="253500" cy="804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114"/>
            <p:cNvSpPr/>
            <p:nvPr/>
          </p:nvSpPr>
          <p:spPr>
            <a:xfrm>
              <a:off x="8130206" y="1581150"/>
              <a:ext cx="253500" cy="804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114"/>
            <p:cNvSpPr/>
            <p:nvPr/>
          </p:nvSpPr>
          <p:spPr>
            <a:xfrm>
              <a:off x="8383724" y="1581150"/>
              <a:ext cx="253500" cy="8049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114"/>
            <p:cNvSpPr/>
            <p:nvPr/>
          </p:nvSpPr>
          <p:spPr>
            <a:xfrm>
              <a:off x="8637092" y="1581150"/>
              <a:ext cx="253500" cy="8049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114"/>
            <p:cNvSpPr/>
            <p:nvPr/>
          </p:nvSpPr>
          <p:spPr>
            <a:xfrm>
              <a:off x="8890498" y="1581150"/>
              <a:ext cx="253500" cy="804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7" name="Google Shape;3757;p114"/>
          <p:cNvSpPr txBox="1">
            <a:spLocks noGrp="1"/>
          </p:cNvSpPr>
          <p:nvPr>
            <p:ph type="subTitle" idx="1"/>
          </p:nvPr>
        </p:nvSpPr>
        <p:spPr>
          <a:xfrm>
            <a:off x="143661" y="2336000"/>
            <a:ext cx="5214339" cy="87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zenithrowankile@gmail.com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https://www.linkedin.com/in/zenith-kile-01073725a/</a:t>
            </a:r>
            <a:endParaRPr dirty="0"/>
          </a:p>
        </p:txBody>
      </p:sp>
      <p:sp>
        <p:nvSpPr>
          <p:cNvPr id="3758" name="Google Shape;3758;p114"/>
          <p:cNvSpPr txBox="1">
            <a:spLocks noGrp="1"/>
          </p:cNvSpPr>
          <p:nvPr>
            <p:ph type="subTitle" idx="2"/>
          </p:nvPr>
        </p:nvSpPr>
        <p:spPr>
          <a:xfrm>
            <a:off x="872400" y="1809300"/>
            <a:ext cx="4485600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3759" name="Google Shape;3759;p114"/>
          <p:cNvSpPr txBox="1">
            <a:spLocks noGrp="1"/>
          </p:cNvSpPr>
          <p:nvPr>
            <p:ph type="ctrTitle"/>
          </p:nvPr>
        </p:nvSpPr>
        <p:spPr>
          <a:xfrm>
            <a:off x="872425" y="768600"/>
            <a:ext cx="4211700" cy="9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760" name="Google Shape;3760;p114"/>
          <p:cNvSpPr txBox="1"/>
          <p:nvPr/>
        </p:nvSpPr>
        <p:spPr>
          <a:xfrm>
            <a:off x="872406" y="4338600"/>
            <a:ext cx="38520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lt1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GBT+ Inclusive Company Profile XL by Slidesgo">
  <a:themeElements>
    <a:clrScheme name="Simple Light">
      <a:dk1>
        <a:srgbClr val="000000"/>
      </a:dk1>
      <a:lt1>
        <a:srgbClr val="FFFFFF"/>
      </a:lt1>
      <a:dk2>
        <a:srgbClr val="EC1E1E"/>
      </a:dk2>
      <a:lt2>
        <a:srgbClr val="EE841A"/>
      </a:lt2>
      <a:accent1>
        <a:srgbClr val="FFD966"/>
      </a:accent1>
      <a:accent2>
        <a:srgbClr val="13A35F"/>
      </a:accent2>
      <a:accent3>
        <a:srgbClr val="4646E0"/>
      </a:accent3>
      <a:accent4>
        <a:srgbClr val="A32CBB"/>
      </a:accent4>
      <a:accent5>
        <a:srgbClr val="000000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942</Words>
  <Application>Microsoft Office PowerPoint</Application>
  <PresentationFormat>On-screen Show (16:9)</PresentationFormat>
  <Paragraphs>233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Gothic A1</vt:lpstr>
      <vt:lpstr>Poppins ExtraBold</vt:lpstr>
      <vt:lpstr>Arial</vt:lpstr>
      <vt:lpstr>Roboto Condensed Light</vt:lpstr>
      <vt:lpstr>LGBT+ Inclusive Company Profile XL by Slidesgo</vt:lpstr>
      <vt:lpstr>HOMELESSNESS IN THE  TRANS COMMUNITY</vt:lpstr>
      <vt:lpstr>Introduction</vt:lpstr>
      <vt:lpstr>The LGBT Community</vt:lpstr>
      <vt:lpstr>The LGBT Community</vt:lpstr>
      <vt:lpstr>The LGBT Community</vt:lpstr>
      <vt:lpstr>530</vt:lpstr>
      <vt:lpstr>Legislative Map</vt:lpstr>
      <vt:lpstr>How does this relate?</vt:lpstr>
      <vt:lpstr>PowerPoint Presentation</vt:lpstr>
      <vt:lpstr>PowerPoint Presentation</vt:lpstr>
      <vt:lpstr>Methods</vt:lpstr>
      <vt:lpstr>Two Categories</vt:lpstr>
      <vt:lpstr>Statistical Analysis</vt:lpstr>
      <vt:lpstr>Results</vt:lpstr>
      <vt:lpstr>Anti-Trans Results</vt:lpstr>
      <vt:lpstr>Pro-Trans Results</vt:lpstr>
      <vt:lpstr>T-Test Results</vt:lpstr>
      <vt:lpstr>NOT SUPPORTED</vt:lpstr>
      <vt:lpstr>New Hypotheses</vt:lpstr>
      <vt:lpstr>New Experiement </vt:lpstr>
      <vt:lpstr>Statistical Analysis</vt:lpstr>
      <vt:lpstr>New Hypothesis 1 Results</vt:lpstr>
      <vt:lpstr>New Hypothesis 2 Results</vt:lpstr>
      <vt:lpstr>New Hypothesis 3 Results</vt:lpstr>
      <vt:lpstr>Possible Errors</vt:lpstr>
      <vt:lpstr>For the Future</vt:lpstr>
      <vt:lpstr>Bibliography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HOMELESSNESS IN THE  TRANS COMMUNITY</dc:title>
  <cp:lastModifiedBy>Margaret Kile</cp:lastModifiedBy>
  <cp:revision>3</cp:revision>
  <dcterms:modified xsi:type="dcterms:W3CDTF">2023-06-19T01:52:06Z</dcterms:modified>
</cp:coreProperties>
</file>